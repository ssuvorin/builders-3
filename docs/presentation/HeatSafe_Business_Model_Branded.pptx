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bf7a7306bd449d" /><Relationship Type="http://schemas.openxmlformats.org/officeDocument/2006/relationships/extended-properties" Target="/docProps/app.xml" Id="R4fa7b12f34884926" /><Relationship Type="http://schemas.openxmlformats.org/officeDocument/2006/relationships/officeDocument" Target="/ppt/presentation.xml" Id="Ra2fbf258e5654c85" /></Relationships>
</file>

<file path=ppt/presentation.xml><?xml version="1.0" encoding="utf-8"?>
<p:presentation xmlns:p="http://schemas.openxmlformats.org/presentationml/2006/main">
  <p:sldMasterIdLst>
    <p:sldMasterId xmlns:r="http://schemas.openxmlformats.org/officeDocument/2006/relationships" id="2147483648" r:id="R0e1cc3e41a2841f7"/>
  </p:sldMasterIdLst>
  <p:notesMasterIdLst>
    <p:notesMasterId xmlns:r="http://schemas.openxmlformats.org/officeDocument/2006/relationships" r:id="R8e44e8b83ca244b0"/>
  </p:notesMasterIdLst>
  <p:sldIdLst>
    <p:sldId xmlns:r="http://schemas.openxmlformats.org/officeDocument/2006/relationships" id="256" r:id="R719d54c6866141c3"/>
    <p:sldId xmlns:r="http://schemas.openxmlformats.org/officeDocument/2006/relationships" id="257" r:id="Rbb82b2ee085b40dd"/>
    <p:sldId xmlns:r="http://schemas.openxmlformats.org/officeDocument/2006/relationships" id="258" r:id="Rffedaf1897c84f6f"/>
    <p:sldId xmlns:r="http://schemas.openxmlformats.org/officeDocument/2006/relationships" id="259" r:id="Rcb37fe0cb017440d"/>
    <p:sldId xmlns:r="http://schemas.openxmlformats.org/officeDocument/2006/relationships" id="260" r:id="R99eaa94818b64dd3"/>
    <p:sldId xmlns:r="http://schemas.openxmlformats.org/officeDocument/2006/relationships" id="261" r:id="R42ed0fb167984064"/>
    <p:sldId xmlns:r="http://schemas.openxmlformats.org/officeDocument/2006/relationships" id="262" r:id="R5dac546906744804"/>
    <p:sldId xmlns:r="http://schemas.openxmlformats.org/officeDocument/2006/relationships" id="263" r:id="R5047864856364956"/>
    <p:sldId xmlns:r="http://schemas.openxmlformats.org/officeDocument/2006/relationships" id="264" r:id="R8be979b88c99401a"/>
    <p:sldId xmlns:r="http://schemas.openxmlformats.org/officeDocument/2006/relationships" id="265" r:id="R0ed93765464045d7"/>
    <p:sldId xmlns:r="http://schemas.openxmlformats.org/officeDocument/2006/relationships" id="266" r:id="R9d8ec12aac5743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5c3f37006bd474f" /><Relationship Type="http://schemas.openxmlformats.org/officeDocument/2006/relationships/slideMaster" Target="/ppt/slideMasters/slideMaster1.xml" Id="R0e1cc3e41a2841f7" /><Relationship Type="http://schemas.openxmlformats.org/officeDocument/2006/relationships/notesMaster" Target="/ppt/notesMasters/notesMaster1.xml" Id="R8e44e8b83ca244b0" /><Relationship Type="http://schemas.openxmlformats.org/officeDocument/2006/relationships/presProps" Target="/ppt/presProps.xml" Id="Ra7ba45a00d204084" /><Relationship Type="http://schemas.openxmlformats.org/officeDocument/2006/relationships/viewProps" Target="/ppt/viewProps.xml" Id="R6b6bb9ce764a438e" /><Relationship Type="http://schemas.openxmlformats.org/officeDocument/2006/relationships/tableStyles" Target="/ppt/tableStyles.xml" Id="R503209f0a7e64e0d" /><Relationship Type="http://schemas.openxmlformats.org/officeDocument/2006/relationships/slide" Target="/ppt/slides/slide1.xml" Id="R719d54c6866141c3" /><Relationship Type="http://schemas.openxmlformats.org/officeDocument/2006/relationships/slide" Target="/ppt/slides/slide2.xml" Id="Rbb82b2ee085b40dd" /><Relationship Type="http://schemas.openxmlformats.org/officeDocument/2006/relationships/slide" Target="/ppt/slides/slide3.xml" Id="Rffedaf1897c84f6f" /><Relationship Type="http://schemas.openxmlformats.org/officeDocument/2006/relationships/slide" Target="/ppt/slides/slide4.xml" Id="Rcb37fe0cb017440d" /><Relationship Type="http://schemas.openxmlformats.org/officeDocument/2006/relationships/slide" Target="/ppt/slides/slide5.xml" Id="R99eaa94818b64dd3" /><Relationship Type="http://schemas.openxmlformats.org/officeDocument/2006/relationships/slide" Target="/ppt/slides/slide6.xml" Id="R42ed0fb167984064" /><Relationship Type="http://schemas.openxmlformats.org/officeDocument/2006/relationships/slide" Target="/ppt/slides/slide7.xml" Id="R5dac546906744804" /><Relationship Type="http://schemas.openxmlformats.org/officeDocument/2006/relationships/slide" Target="/ppt/slides/slide8.xml" Id="R5047864856364956" /><Relationship Type="http://schemas.openxmlformats.org/officeDocument/2006/relationships/slide" Target="/ppt/slides/slide9.xml" Id="R8be979b88c99401a" /><Relationship Type="http://schemas.openxmlformats.org/officeDocument/2006/relationships/slide" Target="/ppt/slides/slide10.xml" Id="R0ed93765464045d7" /><Relationship Type="http://schemas.openxmlformats.org/officeDocument/2006/relationships/slide" Target="/ppt/slides/slide11.xml" Id="R9d8ec12aac57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2b4db1fc140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6B7280"/>
      </a:dk2>
      <a:lt2>
        <a:srgbClr val="E1E4EA"/>
      </a:lt2>
      <a:accent1>
        <a:srgbClr val="3B82F6"/>
      </a:accent1>
      <a:accent2>
        <a:srgbClr val="F59E0B"/>
      </a:accent2>
      <a:accent3>
        <a:srgbClr val="9CA3AF"/>
      </a:accent3>
      <a:accent4>
        <a:srgbClr val="F59E0B"/>
      </a:accent4>
      <a:accent5>
        <a:srgbClr val="0EA5E9"/>
      </a:accent5>
      <a:accent6>
        <a:srgbClr val="10B981"/>
      </a:accent6>
      <a:hlink>
        <a:srgbClr val="2570EB"/>
      </a:hlink>
      <a:folHlink>
        <a:srgbClr val="6366F1"/>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Segoe UI"/>
        <a:font script="Hebr" typeface="Segoe U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egoe UI"/>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680a08d39e4990" /><Relationship Type="http://schemas.openxmlformats.org/officeDocument/2006/relationships/notesMaster" Target="/ppt/notesMasters/notesMaster1.xml" Id="R50e5c1bfa0e04e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c921f3cba84aaf" /><Relationship Type="http://schemas.openxmlformats.org/officeDocument/2006/relationships/notesMaster" Target="/ppt/notesMasters/notesMaster1.xml" Id="R1533a7fdcf1346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9d784fe4d14519" /><Relationship Type="http://schemas.openxmlformats.org/officeDocument/2006/relationships/notesMaster" Target="/ppt/notesMasters/notesMaster1.xml" Id="R344f311db23041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198652ef4044b4" /><Relationship Type="http://schemas.openxmlformats.org/officeDocument/2006/relationships/notesMaster" Target="/ppt/notesMasters/notesMaster1.xml" Id="R919876bebcc146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7dbcd1f74d4966" /><Relationship Type="http://schemas.openxmlformats.org/officeDocument/2006/relationships/notesMaster" Target="/ppt/notesMasters/notesMaster1.xml" Id="R88a3fff987fa43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a2c42360984447" /><Relationship Type="http://schemas.openxmlformats.org/officeDocument/2006/relationships/notesMaster" Target="/ppt/notesMasters/notesMaster1.xml" Id="Re15a297d3f2340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7a28087e064953" /><Relationship Type="http://schemas.openxmlformats.org/officeDocument/2006/relationships/notesMaster" Target="/ppt/notesMasters/notesMaster1.xml" Id="Re110825b920f45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47e66a8916481e" /><Relationship Type="http://schemas.openxmlformats.org/officeDocument/2006/relationships/notesMaster" Target="/ppt/notesMasters/notesMaster1.xml" Id="R2b14e6e81c0b43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b6cfd9294a41b5" /><Relationship Type="http://schemas.openxmlformats.org/officeDocument/2006/relationships/notesMaster" Target="/ppt/notesMasters/notesMaster1.xml" Id="R8a0af980f2b946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468a4038864034" /><Relationship Type="http://schemas.openxmlformats.org/officeDocument/2006/relationships/notesMaster" Target="/ppt/notesMasters/notesMaster1.xml" Id="Rb1470983f9d1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38ff0fd7a44282" /><Relationship Type="http://schemas.openxmlformats.org/officeDocument/2006/relationships/notesMaster" Target="/ppt/notesMasters/notesMaster1.xml" Id="R9157f20c547945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HeatSafe Technologies and the product. The company builds voice-first operational safety copilots for frontline teams. The key distinction is that HeatSafe combines company rules, live site conditions and verified external guidance. It does not replace the supervisor.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industry problem is not a lack of information. It is access, interpretation and timing. Research found 5.5 hours per week spent searching for project information, while bad data contributes to poor decisions and rework. HeatSafe focuses on the frontline moment when a worker or supervisor needs the correct answer immediately.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UAE, outdoor work is regulated during the hottest months. Conditions also vary during the day, especially wind, gusts, humidity and temperature. HeatSafe connects live conditions with the relevant company or regulatory rule, then presents the prescribed action and asks for supervisor confirmation.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1 is about timing and conditions. Use Case 2 is about procedure. They can happen in one continuous conversation, which makes the demo feel natural and proves the product is useful at the point of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trust architecture. The model does not simply read documents and improvise. It applies a source hierarchy, verifies the evidence and produces a structured response. The strongest guardrail is refusal: when HeatSafe cannot verify the answer, it says so clearly and escalates.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ElevenLabs is the interface. Context.dev is the live external knowledge layer. Devin is the engineering partner that builds and tests the product. A dedicated weather API remains the best production source for structured wind and temperature data. This separation makes the architecture credible.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HeatSafe Technologies and the product. The company builds voice-first operational safety copilots for frontline teams. The key distinction is that HeatSafe combines company rules, live site conditions and verified external guidance. It does not replace the supervisor.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is deliberately narrow. Meridian has three fake SOPs, including a wind threshold that is stricter than the general web guidance. The strongest moment is when HeatSafe states that it is following Meridian’s rule. The second strongest moment is refusal.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commercial model is per worker, but with a site minimum. The minimum avoids small, unprofitable contracts. The pilot is paid and narrow. Onboarding is a separate fee because the company documentation, rules and integrations create real implementation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model, not a forecast. At 500 workers and AED 35 per worker, Meridian generates AED 17,500 in monthly revenue. With 10 voice minutes per worker, current vendor pricing and modest infrastructure, platform gross margin is approximately 83 percent. The customer ROI model only assumes 10 minutes saved per day.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specific ask. HeatSafe does not need a broad enterprise rollout first. It needs one site, one HSE sponsor and two measurable use cases. The pilot should validate accuracy, speed, adoption and time saved before the product expands into more sites and sectors.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83397bda8441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f2deaf496f423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468B78F-B2B9-471C-9B2C-6635963D8199}"/>
              </a:ext>
            </a:extLst>
          </p:cNvPr>
          <p:cNvSpPr>
            <a:spLocks xmlns:a="http://schemas.openxmlformats.org/drawingml/2006/main" noGrp="1"/>
          </p:cNvSpPr>
          <p:nvPr/>
        </p:nvSpPr>
        <p:spPr>
          <a:xfrm xmlns:a="http://schemas.openxmlformats.org/drawingml/2006/main">
            <a:off x="0" y="6510528"/>
            <a:ext cx="12191695" cy="347472"/>
          </a:xfrm>
          <a:prstGeom xmlns:a="http://schemas.openxmlformats.org/drawingml/2006/main" prst="rect">
            <a:avLst/>
          </a:prstGeom>
          <a:solidFill xmlns:a="http://schemas.openxmlformats.org/drawingml/2006/main">
            <a:srgbClr val="F4F4F5"/>
          </a:solidFill>
          <a:ln xmlns:a="http://schemas.openxmlformats.org/drawingml/2006/main" w="12700">
            <a:solidFill>
              <a:srgbClr val="F4F4F5"/>
            </a:solidFill>
            <a:prstDash val="solid"/>
          </a:ln>
        </p:spPr>
      </p:sp>
      <p:sp>
        <p:nvSpPr>
          <p:cNvPr id="25" name="Slide Number Placeholder 0">
            <a:extLst xmlns:a="http://schemas.openxmlformats.org/drawingml/2006/main">
              <a:ext uri="{FF2B5EF4-FFF2-40B4-BE49-F238E27FC236}">
                <a16:creationId xmlns:a16="http://schemas.microsoft.com/office/drawing/2014/main" id="{25A8CFA6-8E95-4449-9DE8-5B02CB757160}"/>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1002</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f7da0d2dbc425f" /><Relationship Type="http://schemas.openxmlformats.org/officeDocument/2006/relationships/slideLayout" Target="/ppt/slideLayouts/slideLayout1.xml" Id="R01f2a62e01c644ff" /><Relationship Type="http://schemas.openxmlformats.org/officeDocument/2006/relationships/slideLayout" Target="/ppt/slideLayouts/slideLayout2.xml" Id="R12aceb6f5ca741e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5898973E-2B83-4D8E-92F7-56326B7A2D35}"/>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f2a62e01c644ff"/>
    <p:sldLayoutId xmlns:r="http://schemas.openxmlformats.org/officeDocument/2006/relationships" id="2147483650" r:id="R12aceb6f5ca741e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6B7280"/>
      </a:dk2>
      <a:lt2>
        <a:srgbClr val="E1E4EA"/>
      </a:lt2>
      <a:accent1>
        <a:srgbClr val="3B82F6"/>
      </a:accent1>
      <a:accent2>
        <a:srgbClr val="F59E0B"/>
      </a:accent2>
      <a:accent3>
        <a:srgbClr val="9CA3AF"/>
      </a:accent3>
      <a:accent4>
        <a:srgbClr val="F59E0B"/>
      </a:accent4>
      <a:accent5>
        <a:srgbClr val="0EA5E9"/>
      </a:accent5>
      <a:accent6>
        <a:srgbClr val="10B981"/>
      </a:accent6>
      <a:hlink>
        <a:srgbClr val="2570EB"/>
      </a:hlink>
      <a:folHlink>
        <a:srgbClr val="6366F1"/>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Segoe UI"/>
        <a:font script="Hebr" typeface="Segoe U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egoe UI"/>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d2f1e102a6f4c10" /><Relationship Type="http://schemas.openxmlformats.org/officeDocument/2006/relationships/image" Target="/ppt/media/image.png" Id="R2408e2b2e6d244a7" /><Relationship Type="http://schemas.openxmlformats.org/officeDocument/2006/relationships/image" Target="/ppt/media/image2.png" Id="R4c69c7d38b534b9c" /><Relationship Type="http://schemas.openxmlformats.org/officeDocument/2006/relationships/notesSlide" Target="/ppt/notesSlides/notesSlide1.xml" Id="Reabad1dc390b4e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ee57153ad944057" /><Relationship Type="http://schemas.openxmlformats.org/officeDocument/2006/relationships/image" Target="/ppt/media/image3.png" Id="R5852414c836a49f3" /><Relationship Type="http://schemas.openxmlformats.org/officeDocument/2006/relationships/notesSlide" Target="/ppt/notesSlides/notesSlide2.xml" Id="R2fb3e7d1945b47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a6a40a7920c4981" /><Relationship Type="http://schemas.openxmlformats.org/officeDocument/2006/relationships/image" Target="/ppt/media/image4.png" Id="Rd42ed7b575724854" /><Relationship Type="http://schemas.openxmlformats.org/officeDocument/2006/relationships/notesSlide" Target="/ppt/notesSlides/notesSlide3.xml" Id="R3ae5727d6f8c49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cd813dbb6424142" /><Relationship Type="http://schemas.openxmlformats.org/officeDocument/2006/relationships/image" Target="/ppt/media/image5.png" Id="R2456f2d3022341d0" /><Relationship Type="http://schemas.openxmlformats.org/officeDocument/2006/relationships/notesSlide" Target="/ppt/notesSlides/notesSlide4.xml" Id="Ra769e507472746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f90720c7c244a9f" /><Relationship Type="http://schemas.openxmlformats.org/officeDocument/2006/relationships/image" Target="/ppt/media/image6.png" Id="Ra4f99cf92c254ab3" /><Relationship Type="http://schemas.openxmlformats.org/officeDocument/2006/relationships/notesSlide" Target="/ppt/notesSlides/notesSlide5.xml" Id="R72ad6ca3fa9540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def0bf2659f4704" /><Relationship Type="http://schemas.openxmlformats.org/officeDocument/2006/relationships/image" Target="/ppt/media/image7.png" Id="R1e8fa77d18094964" /><Relationship Type="http://schemas.openxmlformats.org/officeDocument/2006/relationships/notesSlide" Target="/ppt/notesSlides/notesSlide6.xml" Id="R84da8ea2c77f48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31fc04fcf034b73" /><Relationship Type="http://schemas.openxmlformats.org/officeDocument/2006/relationships/image" Target="/ppt/media/image8.png" Id="Reed667eb4ded423f" /><Relationship Type="http://schemas.openxmlformats.org/officeDocument/2006/relationships/notesSlide" Target="/ppt/notesSlides/notesSlide7.xml" Id="Rf1700616962a4e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0184d6ea13a48a5" /><Relationship Type="http://schemas.openxmlformats.org/officeDocument/2006/relationships/image" Target="/ppt/media/image9.png" Id="Re77ad30bb2e649ce" /><Relationship Type="http://schemas.openxmlformats.org/officeDocument/2006/relationships/notesSlide" Target="/ppt/notesSlides/notesSlide8.xml" Id="R9f60f24bf82547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11439813ece45b7" /><Relationship Type="http://schemas.openxmlformats.org/officeDocument/2006/relationships/image" Target="/ppt/media/image10.png" Id="Re54811eedcbb446e" /><Relationship Type="http://schemas.openxmlformats.org/officeDocument/2006/relationships/notesSlide" Target="/ppt/notesSlides/notesSlide9.xml" Id="R5ab5c310fd5f46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fa15597ccd54c62" /><Relationship Type="http://schemas.openxmlformats.org/officeDocument/2006/relationships/image" Target="/ppt/media/image11.png" Id="Rbf60002f31f44018" /><Relationship Type="http://schemas.openxmlformats.org/officeDocument/2006/relationships/notesSlide" Target="/ppt/notesSlides/notesSlide10.xml" Id="R2ec1a178150a4d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3e69b18e46c4eac" /><Relationship Type="http://schemas.openxmlformats.org/officeDocument/2006/relationships/image" Target="/ppt/media/image12.png" Id="R49d180984c234359" /><Relationship Type="http://schemas.openxmlformats.org/officeDocument/2006/relationships/notesSlide" Target="/ppt/notesSlides/notesSlide11.xml" Id="Red8442a7f8de43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2408e2b2e6d244a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66E6EB3-244E-49E5-9AAE-E554DA8A6ED6}"/>
              </a:ext>
            </a:extLst>
          </p:cNvPr>
          <p:cNvSpPr>
            <a:spLocks xmlns:a="http://schemas.openxmlformats.org/drawingml/2006/main" noGrp="1"/>
          </p:cNvSpPr>
          <p:nvPr/>
        </p:nvSpPr>
        <p:spPr>
          <a:xfrm xmlns:a="http://schemas.openxmlformats.org/drawingml/2006/main">
            <a:off x="0" y="0"/>
            <a:ext cx="6629400" cy="6858000"/>
          </a:xfrm>
          <a:prstGeom xmlns:a="http://schemas.openxmlformats.org/drawingml/2006/main" prst="rect">
            <a:avLst/>
          </a:prstGeom>
          <a:solidFill xmlns:a="http://schemas.openxmlformats.org/drawingml/2006/main">
            <a:srgbClr val="FFFFFF">
              <a:alpha val="96000"/>
            </a:srgbClr>
          </a:solidFill>
          <a:ln xmlns:a="http://schemas.openxmlformats.org/drawingml/2006/main" w="12700">
            <a:solidFill>
              <a:srgbClr val="1C1C1C">
                <a:alpha val="0"/>
              </a:srgbClr>
            </a:solidFill>
            <a:prstDash val="solid"/>
          </a:ln>
        </p:spPr>
      </p:sp>
      <p:sp>
        <p:nvSpPr>
          <p:cNvPr id="4" name="Shape 1">
            <a:extLst xmlns:a="http://schemas.openxmlformats.org/drawingml/2006/main">
              <a:ext uri="{FF2B5EF4-FFF2-40B4-BE49-F238E27FC236}">
                <a16:creationId xmlns:a16="http://schemas.microsoft.com/office/drawing/2014/main" id="{329585D3-8C2A-4DB4-9AAD-C3EB4965DDC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alpha val="12000"/>
            </a:srgbClr>
          </a:solidFill>
          <a:ln xmlns:a="http://schemas.openxmlformats.org/drawingml/2006/main" w="12700">
            <a:solidFill>
              <a:srgbClr val="FFFFFF">
                <a:alpha val="0"/>
              </a:srgbClr>
            </a:solidFill>
            <a:prstDash val="solid"/>
          </a:ln>
        </p:spPr>
      </p:sp>
      <p:sp>
        <p:nvSpPr>
          <p:cNvPr id="10" name="Shape 7">
            <a:extLst xmlns:a="http://schemas.openxmlformats.org/drawingml/2006/main">
              <a:ext uri="{FF2B5EF4-FFF2-40B4-BE49-F238E27FC236}">
                <a16:creationId xmlns:a16="http://schemas.microsoft.com/office/drawing/2014/main" id="{A98A54D4-E20F-4F38-988E-70ED434D3601}"/>
              </a:ext>
            </a:extLst>
          </p:cNvPr>
          <p:cNvSpPr>
            <a:spLocks xmlns:a="http://schemas.openxmlformats.org/drawingml/2006/main" noGrp="1"/>
          </p:cNvSpPr>
          <p:nvPr/>
        </p:nvSpPr>
        <p:spPr>
          <a:xfrm xmlns:a="http://schemas.openxmlformats.org/drawingml/2006/main">
            <a:off x="612648" y="1207008"/>
            <a:ext cx="4434840" cy="256032"/>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11" name="Text 8">
            <a:extLst xmlns:a="http://schemas.openxmlformats.org/drawingml/2006/main">
              <a:ext uri="{FF2B5EF4-FFF2-40B4-BE49-F238E27FC236}">
                <a16:creationId xmlns:a16="http://schemas.microsoft.com/office/drawing/2014/main" id="{619C5EA2-A697-4E13-9EB7-F79F763085B8}"/>
              </a:ext>
            </a:extLst>
          </p:cNvPr>
          <p:cNvSpPr>
            <a:spLocks xmlns:a="http://schemas.openxmlformats.org/drawingml/2006/main" noGrp="1"/>
          </p:cNvSpPr>
          <p:nvPr/>
        </p:nvSpPr>
        <p:spPr>
          <a:xfrm xmlns:a="http://schemas.openxmlformats.org/drawingml/2006/main">
            <a:off x="612648" y="1216152"/>
            <a:ext cx="4434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40" b="1">
                <a:solidFill>
                  <a:srgbClr val="1C1C1C"/>
                </a:solidFill>
                <a:latin typeface="Segoe UI"/>
                <a:ea typeface="Segoe UI"/>
                <a:cs typeface="Segoe UI"/>
              </a:rPr>
              <a:t>UAE-FIRST  |  B2B SAAS  |  VOICE + LIVE CONTEXT + COMPANY SOPS</a:t>
            </a:r>
            <a:endParaRPr sz="840"/>
          </a:p>
        </p:txBody>
      </p:sp>
      <p:sp>
        <p:nvSpPr>
          <p:cNvPr id="12" name="Text 9">
            <a:extLst xmlns:a="http://schemas.openxmlformats.org/drawingml/2006/main">
              <a:ext uri="{FF2B5EF4-FFF2-40B4-BE49-F238E27FC236}">
                <a16:creationId xmlns:a16="http://schemas.microsoft.com/office/drawing/2014/main" id="{DD81A14A-9252-4608-89DB-CC44F166B4CD}"/>
              </a:ext>
            </a:extLst>
          </p:cNvPr>
          <p:cNvSpPr>
            <a:spLocks xmlns:a="http://schemas.openxmlformats.org/drawingml/2006/main" noGrp="1"/>
          </p:cNvSpPr>
          <p:nvPr/>
        </p:nvSpPr>
        <p:spPr>
          <a:xfrm xmlns:a="http://schemas.openxmlformats.org/drawingml/2006/main">
            <a:off x="612648" y="1664208"/>
            <a:ext cx="512064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400" b="1">
                <a:solidFill>
                  <a:srgbClr val="1C1C1C"/>
                </a:solidFill>
                <a:latin typeface="Segoe UI"/>
                <a:ea typeface="Segoe UI"/>
                <a:cs typeface="Segoe UI"/>
              </a:rPr>
              <a:t>HeatSafe</a:t>
            </a:r>
            <a:endParaRPr sz="3400"/>
          </a:p>
          <a:p xmlns:a="http://schemas.openxmlformats.org/drawingml/2006/main">
            <a:pPr marL="0" indent="0">
              <a:buNone/>
            </a:pPr>
            <a:r>
              <a:rPr sz="3400" b="1">
                <a:solidFill>
                  <a:srgbClr val="1C1C1C"/>
                </a:solidFill>
                <a:latin typeface="Segoe UI"/>
                <a:ea typeface="Segoe UI"/>
                <a:cs typeface="Segoe UI"/>
              </a:rPr>
              <a:t>Voice Copilot</a:t>
            </a:r>
            <a:endParaRPr sz="3400"/>
          </a:p>
        </p:txBody>
      </p:sp>
      <p:sp>
        <p:nvSpPr>
          <p:cNvPr id="13" name="Text 10">
            <a:extLst xmlns:a="http://schemas.openxmlformats.org/drawingml/2006/main">
              <a:ext uri="{FF2B5EF4-FFF2-40B4-BE49-F238E27FC236}">
                <a16:creationId xmlns:a16="http://schemas.microsoft.com/office/drawing/2014/main" id="{BE004478-FE9F-4270-ADE7-0A6B09CD8DBA}"/>
              </a:ext>
            </a:extLst>
          </p:cNvPr>
          <p:cNvSpPr>
            <a:spLocks xmlns:a="http://schemas.openxmlformats.org/drawingml/2006/main" noGrp="1"/>
          </p:cNvSpPr>
          <p:nvPr/>
        </p:nvSpPr>
        <p:spPr>
          <a:xfrm xmlns:a="http://schemas.openxmlformats.org/drawingml/2006/main">
            <a:off x="640080" y="3255264"/>
            <a:ext cx="50749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a:solidFill>
                  <a:srgbClr val="374151"/>
                </a:solidFill>
                <a:latin typeface="Segoe UI"/>
                <a:ea typeface="Segoe UI"/>
                <a:cs typeface="Segoe UI"/>
              </a:rPr>
              <a:t>Hands-free operational safety intelligence for construction teams.</a:t>
            </a:r>
            <a:endParaRPr sz="1700"/>
          </a:p>
        </p:txBody>
      </p:sp>
      <p:sp>
        <p:nvSpPr>
          <p:cNvPr id="14" name="Shape 11">
            <a:extLst xmlns:a="http://schemas.openxmlformats.org/drawingml/2006/main">
              <a:ext uri="{FF2B5EF4-FFF2-40B4-BE49-F238E27FC236}">
                <a16:creationId xmlns:a16="http://schemas.microsoft.com/office/drawing/2014/main" id="{36CE42B3-0E62-4A18-8ADC-F93ECAC397E6}"/>
              </a:ext>
            </a:extLst>
          </p:cNvPr>
          <p:cNvSpPr>
            <a:spLocks xmlns:a="http://schemas.openxmlformats.org/drawingml/2006/main" noGrp="1"/>
          </p:cNvSpPr>
          <p:nvPr/>
        </p:nvSpPr>
        <p:spPr>
          <a:xfrm xmlns:a="http://schemas.openxmlformats.org/drawingml/2006/main">
            <a:off x="640080" y="4059936"/>
            <a:ext cx="685800" cy="0"/>
          </a:xfrm>
          <a:prstGeom xmlns:a="http://schemas.openxmlformats.org/drawingml/2006/main" prst="line">
            <a:avLst/>
          </a:prstGeom>
          <a:noFill xmlns:a="http://schemas.openxmlformats.org/drawingml/2006/main"/>
          <a:ln xmlns:a="http://schemas.openxmlformats.org/drawingml/2006/main" w="50800">
            <a:solidFill>
              <a:srgbClr val="F59E0B"/>
            </a:solidFill>
            <a:prstDash val="solid"/>
          </a:ln>
        </p:spPr>
      </p:sp>
      <p:sp>
        <p:nvSpPr>
          <p:cNvPr id="15" name="Text 12">
            <a:extLst xmlns:a="http://schemas.openxmlformats.org/drawingml/2006/main">
              <a:ext uri="{FF2B5EF4-FFF2-40B4-BE49-F238E27FC236}">
                <a16:creationId xmlns:a16="http://schemas.microsoft.com/office/drawing/2014/main" id="{55DBA05A-17C1-4873-AE3D-4AE57BED4409}"/>
              </a:ext>
            </a:extLst>
          </p:cNvPr>
          <p:cNvSpPr>
            <a:spLocks xmlns:a="http://schemas.openxmlformats.org/drawingml/2006/main" noGrp="1"/>
          </p:cNvSpPr>
          <p:nvPr/>
        </p:nvSpPr>
        <p:spPr>
          <a:xfrm xmlns:a="http://schemas.openxmlformats.org/drawingml/2006/main">
            <a:off x="640080" y="4224528"/>
            <a:ext cx="5029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Business model, technology architecture and Meridian Construction demo</a:t>
            </a:r>
            <a:endParaRPr sz="1250"/>
          </a:p>
        </p:txBody>
      </p:sp>
      <p:sp>
        <p:nvSpPr>
          <p:cNvPr id="16" name="Text 13">
            <a:extLst xmlns:a="http://schemas.openxmlformats.org/drawingml/2006/main">
              <a:ext uri="{FF2B5EF4-FFF2-40B4-BE49-F238E27FC236}">
                <a16:creationId xmlns:a16="http://schemas.microsoft.com/office/drawing/2014/main" id="{33F2A55F-9475-47AD-824C-75A336105251}"/>
              </a:ext>
            </a:extLst>
          </p:cNvPr>
          <p:cNvSpPr>
            <a:spLocks xmlns:a="http://schemas.openxmlformats.org/drawingml/2006/main" noGrp="1"/>
          </p:cNvSpPr>
          <p:nvPr/>
        </p:nvSpPr>
        <p:spPr>
          <a:xfrm xmlns:a="http://schemas.openxmlformats.org/drawingml/2006/main">
            <a:off x="640080" y="4983480"/>
            <a:ext cx="5029200" cy="868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buNone/>
            </a:pPr>
            <a:r>
              <a:rPr sz="1400" i="1">
                <a:solidFill>
                  <a:srgbClr val="1C1C1C"/>
                </a:solidFill>
                <a:latin typeface="Segoe UI"/>
                <a:ea typeface="Segoe UI"/>
                <a:cs typeface="Segoe UI"/>
              </a:rPr>
              <a:t>Weather apps tell you the conditions. HeatSafe tells you what they mean for this team, this task, this location and this moment.</a:t>
            </a:r>
            <a:endParaRPr sz="1400"/>
          </a:p>
        </p:txBody>
      </p:sp>
      <p:sp>
        <p:nvSpPr>
          <p:cNvPr id="17" name="Text 14">
            <a:extLst xmlns:a="http://schemas.openxmlformats.org/drawingml/2006/main">
              <a:ext uri="{FF2B5EF4-FFF2-40B4-BE49-F238E27FC236}">
                <a16:creationId xmlns:a16="http://schemas.microsoft.com/office/drawing/2014/main" id="{893C5DE3-A4BA-4693-992D-5BB1254D29FE}"/>
              </a:ext>
            </a:extLst>
          </p:cNvPr>
          <p:cNvSpPr>
            <a:spLocks xmlns:a="http://schemas.openxmlformats.org/drawingml/2006/main" noGrp="1"/>
          </p:cNvSpPr>
          <p:nvPr/>
        </p:nvSpPr>
        <p:spPr>
          <a:xfrm xmlns:a="http://schemas.openxmlformats.org/drawingml/2006/main">
            <a:off x="640080" y="6144768"/>
            <a:ext cx="1828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6B7280"/>
                </a:solidFill>
                <a:latin typeface="Segoe UI"/>
                <a:ea typeface="Segoe UI"/>
                <a:cs typeface="Segoe UI"/>
              </a:rPr>
              <a:t>August 2026</a:t>
            </a:r>
            <a:endParaRPr sz="950"/>
          </a:p>
        </p:txBody>
      </p:sp>
      <p:sp>
        <p:nvSpPr>
          <p:cNvPr id="25" name="Slide Number Placeholder 0">
            <a:extLst xmlns:a="http://schemas.openxmlformats.org/drawingml/2006/main">
              <a:ext uri="{FF2B5EF4-FFF2-40B4-BE49-F238E27FC236}">
                <a16:creationId xmlns:a16="http://schemas.microsoft.com/office/drawing/2014/main" id="{4B10DAF7-0AB1-477B-A429-228FAD707CD7}"/>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1</a:t>
            </a:fld>
            <a:endParaRP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c69c7d38b534b9c"/>
          <a:stretch xmlns:a="http://schemas.openxmlformats.org/drawingml/2006/main"/>
        </p:blipFill>
        <p:spPr>
          <a:xfrm xmlns:a="http://schemas.openxmlformats.org/drawingml/2006/main">
            <a:off x="609600" y="400554"/>
            <a:ext cx="2476500" cy="379992"/>
          </a:xfrm>
          <a:prstGeom xmlns:a="http://schemas.openxmlformats.org/drawingml/2006/main" prst="rect">
            <a:avLst/>
          </a:prstGeom>
        </p:spPr>
      </p:pic>
    </p:spTree>
    <p:extLst>
      <p:ext uri="{BB962C8B-B14F-4D97-AF65-F5344CB8AC3E}">
        <p14:creationId xmlns:p14="http://schemas.microsoft.com/office/powerpoint/2010/main" val="19329937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0D41A0C2-91B6-466D-AD3C-A0A0B719B684}"/>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Construction teams lose time before they lose control</a:t>
            </a:r>
            <a:endParaRPr sz="2700"/>
          </a:p>
        </p:txBody>
      </p:sp>
      <p:sp>
        <p:nvSpPr>
          <p:cNvPr id="8" name="Text 6">
            <a:extLst xmlns:a="http://schemas.openxmlformats.org/drawingml/2006/main">
              <a:ext uri="{FF2B5EF4-FFF2-40B4-BE49-F238E27FC236}">
                <a16:creationId xmlns:a16="http://schemas.microsoft.com/office/drawing/2014/main" id="{13EF11BC-C219-48C9-BCE2-0502DDFBE52D}"/>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The information exists, but it is fragmented, delayed and difficult to use at the point of work.</a:t>
            </a:r>
            <a:endParaRPr sz="1250"/>
          </a:p>
        </p:txBody>
      </p:sp>
      <p:sp>
        <p:nvSpPr>
          <p:cNvPr id="9" name="Shape 7">
            <a:extLst xmlns:a="http://schemas.openxmlformats.org/drawingml/2006/main">
              <a:ext uri="{FF2B5EF4-FFF2-40B4-BE49-F238E27FC236}">
                <a16:creationId xmlns:a16="http://schemas.microsoft.com/office/drawing/2014/main" id="{1F38B3C2-6835-458C-A9A1-7F1AF2A33656}"/>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456B8D64-C1E8-4730-9993-5313970A90D6}"/>
              </a:ext>
            </a:extLst>
          </p:cNvPr>
          <p:cNvSpPr>
            <a:spLocks xmlns:a="http://schemas.openxmlformats.org/drawingml/2006/main" noGrp="1"/>
          </p:cNvSpPr>
          <p:nvPr/>
        </p:nvSpPr>
        <p:spPr>
          <a:xfrm xmlns:a="http://schemas.openxmlformats.org/drawingml/2006/main">
            <a:off x="457200" y="1901952"/>
            <a:ext cx="3264408" cy="1417320"/>
          </a:xfrm>
          <a:prstGeom xmlns:a="http://schemas.openxmlformats.org/drawingml/2006/main" prst="roundRect">
            <a:avLst>
              <a:gd name="adj" fmla="val 7742"/>
            </a:avLst>
          </a:prstGeom>
          <a:solidFill xmlns:a="http://schemas.openxmlformats.org/drawingml/2006/main">
            <a:srgbClr val="F7F9FB"/>
          </a:solidFill>
          <a:ln xmlns:a="http://schemas.openxmlformats.org/drawingml/2006/main" w="10160">
            <a:solidFill>
              <a:srgbClr val="E1E4EA"/>
            </a:solidFill>
            <a:prstDash val="solid"/>
          </a:ln>
        </p:spPr>
      </p:sp>
      <p:sp>
        <p:nvSpPr>
          <p:cNvPr id="11" name="Shape 9">
            <a:extLst xmlns:a="http://schemas.openxmlformats.org/drawingml/2006/main">
              <a:ext uri="{FF2B5EF4-FFF2-40B4-BE49-F238E27FC236}">
                <a16:creationId xmlns:a16="http://schemas.microsoft.com/office/drawing/2014/main" id="{6D17C1CA-82BA-4003-AE87-19B74BFCE959}"/>
              </a:ext>
            </a:extLst>
          </p:cNvPr>
          <p:cNvSpPr>
            <a:spLocks xmlns:a="http://schemas.openxmlformats.org/drawingml/2006/main" noGrp="1"/>
          </p:cNvSpPr>
          <p:nvPr/>
        </p:nvSpPr>
        <p:spPr>
          <a:xfrm xmlns:a="http://schemas.openxmlformats.org/drawingml/2006/main">
            <a:off x="457200" y="1901952"/>
            <a:ext cx="73152" cy="1417320"/>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12" name="Text 10">
            <a:extLst xmlns:a="http://schemas.openxmlformats.org/drawingml/2006/main">
              <a:ext uri="{FF2B5EF4-FFF2-40B4-BE49-F238E27FC236}">
                <a16:creationId xmlns:a16="http://schemas.microsoft.com/office/drawing/2014/main" id="{6170BC2A-835A-43F7-8FBC-339452A8BEB8}"/>
              </a:ext>
            </a:extLst>
          </p:cNvPr>
          <p:cNvSpPr>
            <a:spLocks xmlns:a="http://schemas.openxmlformats.org/drawingml/2006/main" noGrp="1"/>
          </p:cNvSpPr>
          <p:nvPr/>
        </p:nvSpPr>
        <p:spPr>
          <a:xfrm xmlns:a="http://schemas.openxmlformats.org/drawingml/2006/main">
            <a:off x="713232" y="2130552"/>
            <a:ext cx="15087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59E0B"/>
                </a:solidFill>
                <a:latin typeface="Segoe UI"/>
                <a:ea typeface="Segoe UI"/>
                <a:cs typeface="Segoe UI"/>
              </a:rPr>
              <a:t>5.5 hrs</a:t>
            </a:r>
            <a:endParaRPr sz="2800"/>
          </a:p>
        </p:txBody>
      </p:sp>
      <p:sp>
        <p:nvSpPr>
          <p:cNvPr id="13" name="Text 11">
            <a:extLst xmlns:a="http://schemas.openxmlformats.org/drawingml/2006/main">
              <a:ext uri="{FF2B5EF4-FFF2-40B4-BE49-F238E27FC236}">
                <a16:creationId xmlns:a16="http://schemas.microsoft.com/office/drawing/2014/main" id="{D589B3B5-1B39-4E46-A215-EFE60BC6FC95}"/>
              </a:ext>
            </a:extLst>
          </p:cNvPr>
          <p:cNvSpPr>
            <a:spLocks xmlns:a="http://schemas.openxmlformats.org/drawingml/2006/main" noGrp="1"/>
          </p:cNvSpPr>
          <p:nvPr/>
        </p:nvSpPr>
        <p:spPr>
          <a:xfrm xmlns:a="http://schemas.openxmlformats.org/drawingml/2006/main">
            <a:off x="2011680" y="2112264"/>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C1C1C"/>
                </a:solidFill>
                <a:latin typeface="Segoe UI"/>
                <a:ea typeface="Segoe UI"/>
                <a:cs typeface="Segoe UI"/>
              </a:rPr>
              <a:t>per week searching for</a:t>
            </a:r>
            <a:endParaRPr sz="1200"/>
          </a:p>
          <a:p xmlns:a="http://schemas.openxmlformats.org/drawingml/2006/main">
            <a:pPr marL="0" indent="0">
              <a:buNone/>
            </a:pPr>
            <a:r>
              <a:rPr sz="1200" b="1">
                <a:solidFill>
                  <a:srgbClr val="1C1C1C"/>
                </a:solidFill>
                <a:latin typeface="Segoe UI"/>
                <a:ea typeface="Segoe UI"/>
                <a:cs typeface="Segoe UI"/>
              </a:rPr>
              <a:t>project data</a:t>
            </a:r>
            <a:endParaRPr sz="1200"/>
          </a:p>
        </p:txBody>
      </p:sp>
      <p:sp>
        <p:nvSpPr>
          <p:cNvPr id="14" name="Shape 12">
            <a:extLst xmlns:a="http://schemas.openxmlformats.org/drawingml/2006/main">
              <a:ext uri="{FF2B5EF4-FFF2-40B4-BE49-F238E27FC236}">
                <a16:creationId xmlns:a16="http://schemas.microsoft.com/office/drawing/2014/main" id="{AEFBA45F-62F7-4C3E-B377-8B7D1E1CCC6A}"/>
              </a:ext>
            </a:extLst>
          </p:cNvPr>
          <p:cNvSpPr>
            <a:spLocks xmlns:a="http://schemas.openxmlformats.org/drawingml/2006/main" noGrp="1"/>
          </p:cNvSpPr>
          <p:nvPr/>
        </p:nvSpPr>
        <p:spPr>
          <a:xfrm xmlns:a="http://schemas.openxmlformats.org/drawingml/2006/main">
            <a:off x="4005072" y="1901952"/>
            <a:ext cx="3264408" cy="1417320"/>
          </a:xfrm>
          <a:prstGeom xmlns:a="http://schemas.openxmlformats.org/drawingml/2006/main" prst="roundRect">
            <a:avLst>
              <a:gd name="adj" fmla="val 7742"/>
            </a:avLst>
          </a:prstGeom>
          <a:solidFill xmlns:a="http://schemas.openxmlformats.org/drawingml/2006/main">
            <a:srgbClr val="F7F9FB"/>
          </a:solidFill>
          <a:ln xmlns:a="http://schemas.openxmlformats.org/drawingml/2006/main" w="10160">
            <a:solidFill>
              <a:srgbClr val="E1E4EA"/>
            </a:solidFill>
            <a:prstDash val="solid"/>
          </a:ln>
        </p:spPr>
      </p:sp>
      <p:sp>
        <p:nvSpPr>
          <p:cNvPr id="15" name="Shape 13">
            <a:extLst xmlns:a="http://schemas.openxmlformats.org/drawingml/2006/main">
              <a:ext uri="{FF2B5EF4-FFF2-40B4-BE49-F238E27FC236}">
                <a16:creationId xmlns:a16="http://schemas.microsoft.com/office/drawing/2014/main" id="{ECA6ACB5-1969-4F27-9B4E-6E33B8704D83}"/>
              </a:ext>
            </a:extLst>
          </p:cNvPr>
          <p:cNvSpPr>
            <a:spLocks xmlns:a="http://schemas.openxmlformats.org/drawingml/2006/main" noGrp="1"/>
          </p:cNvSpPr>
          <p:nvPr/>
        </p:nvSpPr>
        <p:spPr>
          <a:xfrm xmlns:a="http://schemas.openxmlformats.org/drawingml/2006/main">
            <a:off x="4005072" y="1901952"/>
            <a:ext cx="73152" cy="1417320"/>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16" name="Text 14">
            <a:extLst xmlns:a="http://schemas.openxmlformats.org/drawingml/2006/main">
              <a:ext uri="{FF2B5EF4-FFF2-40B4-BE49-F238E27FC236}">
                <a16:creationId xmlns:a16="http://schemas.microsoft.com/office/drawing/2014/main" id="{869F2ACF-A3FB-4C9B-81CE-A8ACF12359D0}"/>
              </a:ext>
            </a:extLst>
          </p:cNvPr>
          <p:cNvSpPr>
            <a:spLocks xmlns:a="http://schemas.openxmlformats.org/drawingml/2006/main" noGrp="1"/>
          </p:cNvSpPr>
          <p:nvPr/>
        </p:nvSpPr>
        <p:spPr>
          <a:xfrm xmlns:a="http://schemas.openxmlformats.org/drawingml/2006/main">
            <a:off x="4261104" y="2130552"/>
            <a:ext cx="15087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3B82F6"/>
                </a:solidFill>
                <a:latin typeface="Segoe UI"/>
                <a:ea typeface="Segoe UI"/>
                <a:cs typeface="Segoe UI"/>
              </a:rPr>
              <a:t>41%</a:t>
            </a:r>
            <a:endParaRPr sz="2800"/>
          </a:p>
        </p:txBody>
      </p:sp>
      <p:sp>
        <p:nvSpPr>
          <p:cNvPr id="17" name="Text 15">
            <a:extLst xmlns:a="http://schemas.openxmlformats.org/drawingml/2006/main">
              <a:ext uri="{FF2B5EF4-FFF2-40B4-BE49-F238E27FC236}">
                <a16:creationId xmlns:a16="http://schemas.microsoft.com/office/drawing/2014/main" id="{9DEE1720-1542-459A-B04D-281E6CBC9148}"/>
              </a:ext>
            </a:extLst>
          </p:cNvPr>
          <p:cNvSpPr>
            <a:spLocks xmlns:a="http://schemas.openxmlformats.org/drawingml/2006/main" noGrp="1"/>
          </p:cNvSpPr>
          <p:nvPr/>
        </p:nvSpPr>
        <p:spPr>
          <a:xfrm xmlns:a="http://schemas.openxmlformats.org/drawingml/2006/main">
            <a:off x="5559552" y="2112264"/>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C1C1C"/>
                </a:solidFill>
                <a:latin typeface="Segoe UI"/>
                <a:ea typeface="Segoe UI"/>
                <a:cs typeface="Segoe UI"/>
              </a:rPr>
              <a:t>of decisions affected by</a:t>
            </a:r>
            <a:endParaRPr sz="1200"/>
          </a:p>
          <a:p xmlns:a="http://schemas.openxmlformats.org/drawingml/2006/main">
            <a:pPr marL="0" indent="0">
              <a:buNone/>
            </a:pPr>
            <a:r>
              <a:rPr sz="1200" b="1">
                <a:solidFill>
                  <a:srgbClr val="1C1C1C"/>
                </a:solidFill>
                <a:latin typeface="Segoe UI"/>
                <a:ea typeface="Segoe UI"/>
                <a:cs typeface="Segoe UI"/>
              </a:rPr>
              <a:t>bad project data</a:t>
            </a:r>
            <a:endParaRPr sz="1200"/>
          </a:p>
        </p:txBody>
      </p:sp>
      <p:sp>
        <p:nvSpPr>
          <p:cNvPr id="18" name="Shape 16">
            <a:extLst xmlns:a="http://schemas.openxmlformats.org/drawingml/2006/main">
              <a:ext uri="{FF2B5EF4-FFF2-40B4-BE49-F238E27FC236}">
                <a16:creationId xmlns:a16="http://schemas.microsoft.com/office/drawing/2014/main" id="{82CEA3A3-7A20-4622-BC0F-CBA08E8E5986}"/>
              </a:ext>
            </a:extLst>
          </p:cNvPr>
          <p:cNvSpPr>
            <a:spLocks xmlns:a="http://schemas.openxmlformats.org/drawingml/2006/main" noGrp="1"/>
          </p:cNvSpPr>
          <p:nvPr/>
        </p:nvSpPr>
        <p:spPr>
          <a:xfrm xmlns:a="http://schemas.openxmlformats.org/drawingml/2006/main">
            <a:off x="7552944" y="1901952"/>
            <a:ext cx="3264408" cy="1417320"/>
          </a:xfrm>
          <a:prstGeom xmlns:a="http://schemas.openxmlformats.org/drawingml/2006/main" prst="roundRect">
            <a:avLst>
              <a:gd name="adj" fmla="val 7742"/>
            </a:avLst>
          </a:prstGeom>
          <a:solidFill xmlns:a="http://schemas.openxmlformats.org/drawingml/2006/main">
            <a:srgbClr val="F7F9FB"/>
          </a:solidFill>
          <a:ln xmlns:a="http://schemas.openxmlformats.org/drawingml/2006/main" w="10160">
            <a:solidFill>
              <a:srgbClr val="E1E4EA"/>
            </a:solidFill>
            <a:prstDash val="solid"/>
          </a:ln>
        </p:spPr>
      </p:sp>
      <p:sp>
        <p:nvSpPr>
          <p:cNvPr id="19" name="Shape 17">
            <a:extLst xmlns:a="http://schemas.openxmlformats.org/drawingml/2006/main">
              <a:ext uri="{FF2B5EF4-FFF2-40B4-BE49-F238E27FC236}">
                <a16:creationId xmlns:a16="http://schemas.microsoft.com/office/drawing/2014/main" id="{E08650B1-766D-4D2F-9E1B-21412ECB5F0B}"/>
              </a:ext>
            </a:extLst>
          </p:cNvPr>
          <p:cNvSpPr>
            <a:spLocks xmlns:a="http://schemas.openxmlformats.org/drawingml/2006/main" noGrp="1"/>
          </p:cNvSpPr>
          <p:nvPr/>
        </p:nvSpPr>
        <p:spPr>
          <a:xfrm xmlns:a="http://schemas.openxmlformats.org/drawingml/2006/main">
            <a:off x="7552944" y="1901952"/>
            <a:ext cx="73152" cy="1417320"/>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20" name="Text 18">
            <a:extLst xmlns:a="http://schemas.openxmlformats.org/drawingml/2006/main">
              <a:ext uri="{FF2B5EF4-FFF2-40B4-BE49-F238E27FC236}">
                <a16:creationId xmlns:a16="http://schemas.microsoft.com/office/drawing/2014/main" id="{99356242-2E5B-491D-829E-51A6D75B272C}"/>
              </a:ext>
            </a:extLst>
          </p:cNvPr>
          <p:cNvSpPr>
            <a:spLocks xmlns:a="http://schemas.openxmlformats.org/drawingml/2006/main" noGrp="1"/>
          </p:cNvSpPr>
          <p:nvPr/>
        </p:nvSpPr>
        <p:spPr>
          <a:xfrm xmlns:a="http://schemas.openxmlformats.org/drawingml/2006/main">
            <a:off x="7808976" y="2130552"/>
            <a:ext cx="15087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59E0B"/>
                </a:solidFill>
                <a:latin typeface="Segoe UI"/>
                <a:ea typeface="Segoe UI"/>
                <a:cs typeface="Segoe UI"/>
              </a:rPr>
              <a:t>$88.7B</a:t>
            </a:r>
            <a:endParaRPr sz="2800"/>
          </a:p>
        </p:txBody>
      </p:sp>
      <p:sp>
        <p:nvSpPr>
          <p:cNvPr id="21" name="Text 19">
            <a:extLst xmlns:a="http://schemas.openxmlformats.org/drawingml/2006/main">
              <a:ext uri="{FF2B5EF4-FFF2-40B4-BE49-F238E27FC236}">
                <a16:creationId xmlns:a16="http://schemas.microsoft.com/office/drawing/2014/main" id="{EB2E2E26-95F7-487E-BEAF-B77E951AA5CC}"/>
              </a:ext>
            </a:extLst>
          </p:cNvPr>
          <p:cNvSpPr>
            <a:spLocks xmlns:a="http://schemas.openxmlformats.org/drawingml/2006/main" noGrp="1"/>
          </p:cNvSpPr>
          <p:nvPr/>
        </p:nvSpPr>
        <p:spPr>
          <a:xfrm xmlns:a="http://schemas.openxmlformats.org/drawingml/2006/main">
            <a:off x="9107424" y="2112264"/>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C1C1C"/>
                </a:solidFill>
                <a:latin typeface="Segoe UI"/>
                <a:ea typeface="Segoe UI"/>
                <a:cs typeface="Segoe UI"/>
              </a:rPr>
              <a:t>rework linked to bad data</a:t>
            </a:r>
            <a:endParaRPr sz="1200"/>
          </a:p>
          <a:p xmlns:a="http://schemas.openxmlformats.org/drawingml/2006/main">
            <a:pPr marL="0" indent="0">
              <a:buNone/>
            </a:pPr>
            <a:r>
              <a:rPr sz="1200" b="1">
                <a:solidFill>
                  <a:srgbClr val="1C1C1C"/>
                </a:solidFill>
                <a:latin typeface="Segoe UI"/>
                <a:ea typeface="Segoe UI"/>
                <a:cs typeface="Segoe UI"/>
              </a:rPr>
              <a:t>globally in 2020</a:t>
            </a:r>
            <a:endParaRPr sz="1200"/>
          </a:p>
        </p:txBody>
      </p:sp>
      <p:sp>
        <p:nvSpPr>
          <p:cNvPr id="22" name="Shape 20">
            <a:extLst xmlns:a="http://schemas.openxmlformats.org/drawingml/2006/main">
              <a:ext uri="{FF2B5EF4-FFF2-40B4-BE49-F238E27FC236}">
                <a16:creationId xmlns:a16="http://schemas.microsoft.com/office/drawing/2014/main" id="{EB818DE7-6826-40B5-86B1-E9D70C948137}"/>
              </a:ext>
            </a:extLst>
          </p:cNvPr>
          <p:cNvSpPr>
            <a:spLocks xmlns:a="http://schemas.openxmlformats.org/drawingml/2006/main" noGrp="1"/>
          </p:cNvSpPr>
          <p:nvPr/>
        </p:nvSpPr>
        <p:spPr>
          <a:xfrm xmlns:a="http://schemas.openxmlformats.org/drawingml/2006/main">
            <a:off x="457200" y="3621024"/>
            <a:ext cx="11201400" cy="2331720"/>
          </a:xfrm>
          <a:prstGeom xmlns:a="http://schemas.openxmlformats.org/drawingml/2006/main" prst="roundRect">
            <a:avLst>
              <a:gd name="adj" fmla="val 4706"/>
            </a:avLst>
          </a:prstGeom>
          <a:solidFill xmlns:a="http://schemas.openxmlformats.org/drawingml/2006/main">
            <a:srgbClr val="F4F4F5"/>
          </a:solidFill>
          <a:ln xmlns:a="http://schemas.openxmlformats.org/drawingml/2006/main" w="10160">
            <a:solidFill>
              <a:srgbClr val="E1E4EA"/>
            </a:solidFill>
            <a:prstDash val="solid"/>
          </a:ln>
        </p:spPr>
      </p:sp>
      <p:sp>
        <p:nvSpPr>
          <p:cNvPr id="23" name="Text 21">
            <a:extLst xmlns:a="http://schemas.openxmlformats.org/drawingml/2006/main">
              <a:ext uri="{FF2B5EF4-FFF2-40B4-BE49-F238E27FC236}">
                <a16:creationId xmlns:a16="http://schemas.microsoft.com/office/drawing/2014/main" id="{907392C8-26AA-45DC-9503-82B0CBE93BEA}"/>
              </a:ext>
            </a:extLst>
          </p:cNvPr>
          <p:cNvSpPr>
            <a:spLocks xmlns:a="http://schemas.openxmlformats.org/drawingml/2006/main" noGrp="1"/>
          </p:cNvSpPr>
          <p:nvPr/>
        </p:nvSpPr>
        <p:spPr>
          <a:xfrm xmlns:a="http://schemas.openxmlformats.org/drawingml/2006/main">
            <a:off x="731520" y="3886200"/>
            <a:ext cx="23774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C1C1C"/>
                </a:solidFill>
                <a:latin typeface="Segoe UI"/>
                <a:ea typeface="Segoe UI"/>
                <a:cs typeface="Segoe UI"/>
              </a:rPr>
              <a:t>A 40-hour construction week</a:t>
            </a:r>
            <a:endParaRPr sz="1500"/>
          </a:p>
        </p:txBody>
      </p:sp>
      <p:sp>
        <p:nvSpPr>
          <p:cNvPr id="24" name="Shape 22">
            <a:extLst xmlns:a="http://schemas.openxmlformats.org/drawingml/2006/main">
              <a:ext uri="{FF2B5EF4-FFF2-40B4-BE49-F238E27FC236}">
                <a16:creationId xmlns:a16="http://schemas.microsoft.com/office/drawing/2014/main" id="{7CD99671-8342-4A8E-827B-C4C22BEA9B7B}"/>
              </a:ext>
            </a:extLst>
          </p:cNvPr>
          <p:cNvSpPr>
            <a:spLocks xmlns:a="http://schemas.openxmlformats.org/drawingml/2006/main" noGrp="1"/>
          </p:cNvSpPr>
          <p:nvPr/>
        </p:nvSpPr>
        <p:spPr>
          <a:xfrm xmlns:a="http://schemas.openxmlformats.org/drawingml/2006/main">
            <a:off x="731520" y="4434840"/>
            <a:ext cx="1376744" cy="502920"/>
          </a:xfrm>
          <a:prstGeom xmlns:a="http://schemas.openxmlformats.org/drawingml/2006/main" prst="rect">
            <a:avLst/>
          </a:prstGeom>
          <a:solidFill xmlns:a="http://schemas.openxmlformats.org/drawingml/2006/main">
            <a:srgbClr val="F59E0B"/>
          </a:solidFill>
          <a:ln xmlns:a="http://schemas.openxmlformats.org/drawingml/2006/main" w="12700">
            <a:solidFill>
              <a:srgbClr val="1C1C1C">
                <a:alpha val="0"/>
              </a:srgbClr>
            </a:solidFill>
            <a:prstDash val="solid"/>
          </a:ln>
        </p:spPr>
      </p:sp>
      <p:sp>
        <p:nvSpPr>
          <p:cNvPr id="25" name="Text 23">
            <a:extLst xmlns:a="http://schemas.openxmlformats.org/drawingml/2006/main">
              <a:ext uri="{FF2B5EF4-FFF2-40B4-BE49-F238E27FC236}">
                <a16:creationId xmlns:a16="http://schemas.microsoft.com/office/drawing/2014/main" id="{6E85F2F6-11EB-432E-A93B-7AA1084A4237}"/>
              </a:ext>
            </a:extLst>
          </p:cNvPr>
          <p:cNvSpPr>
            <a:spLocks xmlns:a="http://schemas.openxmlformats.org/drawingml/2006/main" noGrp="1"/>
          </p:cNvSpPr>
          <p:nvPr/>
        </p:nvSpPr>
        <p:spPr>
          <a:xfrm xmlns:a="http://schemas.openxmlformats.org/drawingml/2006/main">
            <a:off x="731520" y="4544568"/>
            <a:ext cx="137674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C1C1C"/>
                </a:solidFill>
                <a:latin typeface="Segoe UI"/>
                <a:ea typeface="Segoe UI"/>
                <a:cs typeface="Segoe UI"/>
              </a:rPr>
              <a:t>5.5h</a:t>
            </a:r>
            <a:endParaRPr sz="1000"/>
          </a:p>
        </p:txBody>
      </p:sp>
      <p:sp>
        <p:nvSpPr>
          <p:cNvPr id="26" name="Shape 24">
            <a:extLst xmlns:a="http://schemas.openxmlformats.org/drawingml/2006/main">
              <a:ext uri="{FF2B5EF4-FFF2-40B4-BE49-F238E27FC236}">
                <a16:creationId xmlns:a16="http://schemas.microsoft.com/office/drawing/2014/main" id="{EA581D73-A219-4C9E-A073-B03B4DD007D3}"/>
              </a:ext>
            </a:extLst>
          </p:cNvPr>
          <p:cNvSpPr>
            <a:spLocks xmlns:a="http://schemas.openxmlformats.org/drawingml/2006/main" noGrp="1"/>
          </p:cNvSpPr>
          <p:nvPr/>
        </p:nvSpPr>
        <p:spPr>
          <a:xfrm xmlns:a="http://schemas.openxmlformats.org/drawingml/2006/main">
            <a:off x="2108264" y="4434840"/>
            <a:ext cx="1176490" cy="502920"/>
          </a:xfrm>
          <a:prstGeom xmlns:a="http://schemas.openxmlformats.org/drawingml/2006/main" prst="rect">
            <a:avLst/>
          </a:prstGeom>
          <a:solidFill xmlns:a="http://schemas.openxmlformats.org/drawingml/2006/main">
            <a:srgbClr val="3B82F6"/>
          </a:solidFill>
          <a:ln xmlns:a="http://schemas.openxmlformats.org/drawingml/2006/main" w="12700">
            <a:solidFill>
              <a:srgbClr val="1C1C1C">
                <a:alpha val="0"/>
              </a:srgbClr>
            </a:solidFill>
            <a:prstDash val="solid"/>
          </a:ln>
        </p:spPr>
      </p:sp>
      <p:sp>
        <p:nvSpPr>
          <p:cNvPr id="27" name="Text 25">
            <a:extLst xmlns:a="http://schemas.openxmlformats.org/drawingml/2006/main">
              <a:ext uri="{FF2B5EF4-FFF2-40B4-BE49-F238E27FC236}">
                <a16:creationId xmlns:a16="http://schemas.microsoft.com/office/drawing/2014/main" id="{4D3C0272-BDCE-4733-B98D-4F75B3F55020}"/>
              </a:ext>
            </a:extLst>
          </p:cNvPr>
          <p:cNvSpPr>
            <a:spLocks xmlns:a="http://schemas.openxmlformats.org/drawingml/2006/main" noGrp="1"/>
          </p:cNvSpPr>
          <p:nvPr/>
        </p:nvSpPr>
        <p:spPr>
          <a:xfrm xmlns:a="http://schemas.openxmlformats.org/drawingml/2006/main">
            <a:off x="2108264" y="4544568"/>
            <a:ext cx="117649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C1C1C"/>
                </a:solidFill>
                <a:latin typeface="Segoe UI"/>
                <a:ea typeface="Segoe UI"/>
                <a:cs typeface="Segoe UI"/>
              </a:rPr>
              <a:t>4.7h</a:t>
            </a:r>
            <a:endParaRPr sz="1000"/>
          </a:p>
        </p:txBody>
      </p:sp>
      <p:sp>
        <p:nvSpPr>
          <p:cNvPr id="28" name="Shape 26">
            <a:extLst xmlns:a="http://schemas.openxmlformats.org/drawingml/2006/main">
              <a:ext uri="{FF2B5EF4-FFF2-40B4-BE49-F238E27FC236}">
                <a16:creationId xmlns:a16="http://schemas.microsoft.com/office/drawing/2014/main" id="{A17739BC-6EE8-4AFA-912B-FEF7749E67F5}"/>
              </a:ext>
            </a:extLst>
          </p:cNvPr>
          <p:cNvSpPr>
            <a:spLocks xmlns:a="http://schemas.openxmlformats.org/drawingml/2006/main" noGrp="1"/>
          </p:cNvSpPr>
          <p:nvPr/>
        </p:nvSpPr>
        <p:spPr>
          <a:xfrm xmlns:a="http://schemas.openxmlformats.org/drawingml/2006/main">
            <a:off x="3284753" y="4434840"/>
            <a:ext cx="976236" cy="502920"/>
          </a:xfrm>
          <a:prstGeom xmlns:a="http://schemas.openxmlformats.org/drawingml/2006/main" prst="rect">
            <a:avLst/>
          </a:prstGeom>
          <a:solidFill xmlns:a="http://schemas.openxmlformats.org/drawingml/2006/main">
            <a:srgbClr val="EF4444"/>
          </a:solidFill>
          <a:ln xmlns:a="http://schemas.openxmlformats.org/drawingml/2006/main" w="12700">
            <a:solidFill>
              <a:srgbClr val="1C1C1C">
                <a:alpha val="0"/>
              </a:srgbClr>
            </a:solidFill>
            <a:prstDash val="solid"/>
          </a:ln>
        </p:spPr>
      </p:sp>
      <p:sp>
        <p:nvSpPr>
          <p:cNvPr id="29" name="Shape 27">
            <a:extLst xmlns:a="http://schemas.openxmlformats.org/drawingml/2006/main">
              <a:ext uri="{FF2B5EF4-FFF2-40B4-BE49-F238E27FC236}">
                <a16:creationId xmlns:a16="http://schemas.microsoft.com/office/drawing/2014/main" id="{E04C5F52-1F42-4BC5-A8AD-C7D2E625D570}"/>
              </a:ext>
            </a:extLst>
          </p:cNvPr>
          <p:cNvSpPr>
            <a:spLocks xmlns:a="http://schemas.openxmlformats.org/drawingml/2006/main" noGrp="1"/>
          </p:cNvSpPr>
          <p:nvPr/>
        </p:nvSpPr>
        <p:spPr>
          <a:xfrm xmlns:a="http://schemas.openxmlformats.org/drawingml/2006/main">
            <a:off x="4260990" y="4434840"/>
            <a:ext cx="6483210" cy="502920"/>
          </a:xfrm>
          <a:prstGeom xmlns:a="http://schemas.openxmlformats.org/drawingml/2006/main" prst="rect">
            <a:avLst/>
          </a:prstGeom>
          <a:solidFill xmlns:a="http://schemas.openxmlformats.org/drawingml/2006/main">
            <a:srgbClr val="C8CBD0"/>
          </a:solidFill>
          <a:ln xmlns:a="http://schemas.openxmlformats.org/drawingml/2006/main" w="12700">
            <a:solidFill>
              <a:srgbClr val="1C1C1C">
                <a:alpha val="0"/>
              </a:srgbClr>
            </a:solidFill>
            <a:prstDash val="solid"/>
          </a:ln>
        </p:spPr>
      </p:sp>
      <p:sp>
        <p:nvSpPr>
          <p:cNvPr id="30" name="Text 28">
            <a:extLst xmlns:a="http://schemas.openxmlformats.org/drawingml/2006/main">
              <a:ext uri="{FF2B5EF4-FFF2-40B4-BE49-F238E27FC236}">
                <a16:creationId xmlns:a16="http://schemas.microsoft.com/office/drawing/2014/main" id="{0DD191C9-749A-4AD4-8C19-530C01B7A6CA}"/>
              </a:ext>
            </a:extLst>
          </p:cNvPr>
          <p:cNvSpPr>
            <a:spLocks xmlns:a="http://schemas.openxmlformats.org/drawingml/2006/main" noGrp="1"/>
          </p:cNvSpPr>
          <p:nvPr/>
        </p:nvSpPr>
        <p:spPr>
          <a:xfrm xmlns:a="http://schemas.openxmlformats.org/drawingml/2006/main">
            <a:off x="4260990" y="4544568"/>
            <a:ext cx="648321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6B7280"/>
                </a:solidFill>
                <a:latin typeface="Segoe UI"/>
                <a:ea typeface="Segoe UI"/>
                <a:cs typeface="Segoe UI"/>
              </a:rPr>
              <a:t>25.9h</a:t>
            </a:r>
            <a:endParaRPr sz="1000"/>
          </a:p>
        </p:txBody>
      </p:sp>
      <p:sp>
        <p:nvSpPr>
          <p:cNvPr id="31" name="Shape 29">
            <a:extLst xmlns:a="http://schemas.openxmlformats.org/drawingml/2006/main">
              <a:ext uri="{FF2B5EF4-FFF2-40B4-BE49-F238E27FC236}">
                <a16:creationId xmlns:a16="http://schemas.microsoft.com/office/drawing/2014/main" id="{F8E22833-32B0-4588-B1C1-BB0CA00DBB13}"/>
              </a:ext>
            </a:extLst>
          </p:cNvPr>
          <p:cNvSpPr>
            <a:spLocks xmlns:a="http://schemas.openxmlformats.org/drawingml/2006/main" noGrp="1"/>
          </p:cNvSpPr>
          <p:nvPr/>
        </p:nvSpPr>
        <p:spPr>
          <a:xfrm xmlns:a="http://schemas.openxmlformats.org/drawingml/2006/main">
            <a:off x="749808" y="5230368"/>
            <a:ext cx="109728" cy="10972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32" name="Text 30">
            <a:extLst xmlns:a="http://schemas.openxmlformats.org/drawingml/2006/main">
              <a:ext uri="{FF2B5EF4-FFF2-40B4-BE49-F238E27FC236}">
                <a16:creationId xmlns:a16="http://schemas.microsoft.com/office/drawing/2014/main" id="{611E4731-168C-48B0-A39E-880311057A88}"/>
              </a:ext>
            </a:extLst>
          </p:cNvPr>
          <p:cNvSpPr>
            <a:spLocks xmlns:a="http://schemas.openxmlformats.org/drawingml/2006/main" noGrp="1"/>
          </p:cNvSpPr>
          <p:nvPr/>
        </p:nvSpPr>
        <p:spPr>
          <a:xfrm xmlns:a="http://schemas.openxmlformats.org/drawingml/2006/main">
            <a:off x="914400" y="5175504"/>
            <a:ext cx="20116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C1C1C"/>
                </a:solidFill>
                <a:latin typeface="Segoe UI"/>
                <a:ea typeface="Segoe UI"/>
                <a:cs typeface="Segoe UI"/>
              </a:rPr>
              <a:t>Search: 5.5h/week</a:t>
            </a:r>
            <a:endParaRPr sz="1000"/>
          </a:p>
        </p:txBody>
      </p:sp>
      <p:sp>
        <p:nvSpPr>
          <p:cNvPr id="33" name="Shape 31">
            <a:extLst xmlns:a="http://schemas.openxmlformats.org/drawingml/2006/main">
              <a:ext uri="{FF2B5EF4-FFF2-40B4-BE49-F238E27FC236}">
                <a16:creationId xmlns:a16="http://schemas.microsoft.com/office/drawing/2014/main" id="{2510B136-18E0-4B6F-B217-0DECAEF42C86}"/>
              </a:ext>
            </a:extLst>
          </p:cNvPr>
          <p:cNvSpPr>
            <a:spLocks xmlns:a="http://schemas.openxmlformats.org/drawingml/2006/main" noGrp="1"/>
          </p:cNvSpPr>
          <p:nvPr/>
        </p:nvSpPr>
        <p:spPr>
          <a:xfrm xmlns:a="http://schemas.openxmlformats.org/drawingml/2006/main">
            <a:off x="3310128" y="5230368"/>
            <a:ext cx="109728" cy="109728"/>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34" name="Text 32">
            <a:extLst xmlns:a="http://schemas.openxmlformats.org/drawingml/2006/main">
              <a:ext uri="{FF2B5EF4-FFF2-40B4-BE49-F238E27FC236}">
                <a16:creationId xmlns:a16="http://schemas.microsoft.com/office/drawing/2014/main" id="{D18894F8-47B3-42A4-8DF2-5392FDB66B21}"/>
              </a:ext>
            </a:extLst>
          </p:cNvPr>
          <p:cNvSpPr>
            <a:spLocks xmlns:a="http://schemas.openxmlformats.org/drawingml/2006/main" noGrp="1"/>
          </p:cNvSpPr>
          <p:nvPr/>
        </p:nvSpPr>
        <p:spPr>
          <a:xfrm xmlns:a="http://schemas.openxmlformats.org/drawingml/2006/main">
            <a:off x="3474720" y="5175504"/>
            <a:ext cx="20116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C1C1C"/>
                </a:solidFill>
                <a:latin typeface="Segoe UI"/>
                <a:ea typeface="Segoe UI"/>
                <a:cs typeface="Segoe UI"/>
              </a:rPr>
              <a:t>Conflict: 4.7h/week</a:t>
            </a:r>
            <a:endParaRPr sz="1000"/>
          </a:p>
        </p:txBody>
      </p:sp>
      <p:sp>
        <p:nvSpPr>
          <p:cNvPr id="35" name="Shape 33">
            <a:extLst xmlns:a="http://schemas.openxmlformats.org/drawingml/2006/main">
              <a:ext uri="{FF2B5EF4-FFF2-40B4-BE49-F238E27FC236}">
                <a16:creationId xmlns:a16="http://schemas.microsoft.com/office/drawing/2014/main" id="{E145CB69-C0F5-4C84-8237-09AD28DC1D9D}"/>
              </a:ext>
            </a:extLst>
          </p:cNvPr>
          <p:cNvSpPr>
            <a:spLocks xmlns:a="http://schemas.openxmlformats.org/drawingml/2006/main" noGrp="1"/>
          </p:cNvSpPr>
          <p:nvPr/>
        </p:nvSpPr>
        <p:spPr>
          <a:xfrm xmlns:a="http://schemas.openxmlformats.org/drawingml/2006/main">
            <a:off x="5870448" y="5230368"/>
            <a:ext cx="109728" cy="109728"/>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36" name="Text 34">
            <a:extLst xmlns:a="http://schemas.openxmlformats.org/drawingml/2006/main">
              <a:ext uri="{FF2B5EF4-FFF2-40B4-BE49-F238E27FC236}">
                <a16:creationId xmlns:a16="http://schemas.microsoft.com/office/drawing/2014/main" id="{BDAC1A52-671A-4AAD-8557-85707343FF85}"/>
              </a:ext>
            </a:extLst>
          </p:cNvPr>
          <p:cNvSpPr>
            <a:spLocks xmlns:a="http://schemas.openxmlformats.org/drawingml/2006/main" noGrp="1"/>
          </p:cNvSpPr>
          <p:nvPr/>
        </p:nvSpPr>
        <p:spPr>
          <a:xfrm xmlns:a="http://schemas.openxmlformats.org/drawingml/2006/main">
            <a:off x="6035040" y="5175504"/>
            <a:ext cx="20116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1C1C1C"/>
                </a:solidFill>
                <a:latin typeface="Segoe UI"/>
                <a:ea typeface="Segoe UI"/>
                <a:cs typeface="Segoe UI"/>
              </a:rPr>
              <a:t>Mistakes / rework: 3.9h/week</a:t>
            </a:r>
            <a:endParaRPr sz="1000"/>
          </a:p>
        </p:txBody>
      </p:sp>
      <p:sp>
        <p:nvSpPr>
          <p:cNvPr id="37" name="Text 35">
            <a:extLst xmlns:a="http://schemas.openxmlformats.org/drawingml/2006/main">
              <a:ext uri="{FF2B5EF4-FFF2-40B4-BE49-F238E27FC236}">
                <a16:creationId xmlns:a16="http://schemas.microsoft.com/office/drawing/2014/main" id="{2F59772D-AC8D-4BE8-BC66-7D3708BA925C}"/>
              </a:ext>
            </a:extLst>
          </p:cNvPr>
          <p:cNvSpPr>
            <a:spLocks xmlns:a="http://schemas.openxmlformats.org/drawingml/2006/main" noGrp="1"/>
          </p:cNvSpPr>
          <p:nvPr/>
        </p:nvSpPr>
        <p:spPr>
          <a:xfrm xmlns:a="http://schemas.openxmlformats.org/drawingml/2006/main">
            <a:off x="731520" y="5504688"/>
            <a:ext cx="10149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0">
                <a:solidFill>
                  <a:srgbClr val="6B7280"/>
                </a:solidFill>
                <a:latin typeface="Segoe UI"/>
                <a:ea typeface="Segoe UI"/>
                <a:cs typeface="Segoe UI"/>
              </a:rPr>
              <a:t>HeatSafe does not claim to recover all of this time. It targets a narrow, high-value moment: finding the correct rule and acting on it without stopping work to search through documents.</a:t>
            </a:r>
            <a:endParaRPr sz="1120"/>
          </a:p>
        </p:txBody>
      </p:sp>
      <p:sp>
        <p:nvSpPr>
          <p:cNvPr id="38" name="Text 36">
            <a:extLst xmlns:a="http://schemas.openxmlformats.org/drawingml/2006/main">
              <a:ext uri="{FF2B5EF4-FFF2-40B4-BE49-F238E27FC236}">
                <a16:creationId xmlns:a16="http://schemas.microsoft.com/office/drawing/2014/main" id="{D532E6BD-788C-4E50-94FB-C8492CE62741}"/>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39" name="Text 37">
            <a:extLst xmlns:a="http://schemas.openxmlformats.org/drawingml/2006/main">
              <a:ext uri="{FF2B5EF4-FFF2-40B4-BE49-F238E27FC236}">
                <a16:creationId xmlns:a16="http://schemas.microsoft.com/office/drawing/2014/main" id="{B3AF866B-EE9F-4402-AEF0-640B4F567F2A}"/>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Sources: PlanGrid/FMI, Construction Disconnected (2018); Autodesk/FMI, Harnessing the Data Advantage (2021).</a:t>
            </a:r>
            <a:endParaRPr sz="670"/>
          </a:p>
        </p:txBody>
      </p:sp>
      <p:sp>
        <p:nvSpPr>
          <p:cNvPr id="40" name="Slide Number Placeholder 0">
            <a:extLst xmlns:a="http://schemas.openxmlformats.org/drawingml/2006/main">
              <a:ext uri="{FF2B5EF4-FFF2-40B4-BE49-F238E27FC236}">
                <a16:creationId xmlns:a16="http://schemas.microsoft.com/office/drawing/2014/main" id="{B5C635B4-E764-407C-9D56-E074644A364E}"/>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2</a:t>
            </a:fld>
            <a:endParaRP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5852414c836a49f3"/>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19540302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25E0B784-A680-49B6-81E6-E4B4E9301B92}"/>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UAE worksites face changing conditions and explicit obligations</a:t>
            </a:r>
            <a:endParaRPr sz="2700"/>
          </a:p>
        </p:txBody>
      </p:sp>
      <p:sp>
        <p:nvSpPr>
          <p:cNvPr id="8" name="Text 6">
            <a:extLst xmlns:a="http://schemas.openxmlformats.org/drawingml/2006/main">
              <a:ext uri="{FF2B5EF4-FFF2-40B4-BE49-F238E27FC236}">
                <a16:creationId xmlns:a16="http://schemas.microsoft.com/office/drawing/2014/main" id="{BFCE460D-E17A-4DA7-9FEA-3FB32082F90B}"/>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Heat, wind and compliance are operational variables, not background information.</a:t>
            </a:r>
            <a:endParaRPr sz="1250"/>
          </a:p>
        </p:txBody>
      </p:sp>
      <p:sp>
        <p:nvSpPr>
          <p:cNvPr id="9" name="Shape 7">
            <a:extLst xmlns:a="http://schemas.openxmlformats.org/drawingml/2006/main">
              <a:ext uri="{FF2B5EF4-FFF2-40B4-BE49-F238E27FC236}">
                <a16:creationId xmlns:a16="http://schemas.microsoft.com/office/drawing/2014/main" id="{9114E3C0-60CE-468C-9F71-B61979546816}"/>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C6E09653-AF31-465A-9418-E936F5700F92}"/>
              </a:ext>
            </a:extLst>
          </p:cNvPr>
          <p:cNvSpPr>
            <a:spLocks xmlns:a="http://schemas.openxmlformats.org/drawingml/2006/main" noGrp="1"/>
          </p:cNvSpPr>
          <p:nvPr/>
        </p:nvSpPr>
        <p:spPr>
          <a:xfrm xmlns:a="http://schemas.openxmlformats.org/drawingml/2006/main">
            <a:off x="502920" y="1874520"/>
            <a:ext cx="2971800" cy="1143000"/>
          </a:xfrm>
          <a:prstGeom xmlns:a="http://schemas.openxmlformats.org/drawingml/2006/main" prst="roundRect">
            <a:avLst>
              <a:gd name="adj" fmla="val 9600"/>
            </a:avLst>
          </a:prstGeom>
          <a:solidFill xmlns:a="http://schemas.openxmlformats.org/drawingml/2006/main">
            <a:srgbClr val="F7F9FB"/>
          </a:solidFill>
          <a:ln xmlns:a="http://schemas.openxmlformats.org/drawingml/2006/main" w="10160">
            <a:solidFill>
              <a:srgbClr val="E1E4EA"/>
            </a:solidFill>
            <a:prstDash val="solid"/>
          </a:ln>
        </p:spPr>
      </p:sp>
      <p:sp>
        <p:nvSpPr>
          <p:cNvPr id="11" name="Text 9">
            <a:extLst xmlns:a="http://schemas.openxmlformats.org/drawingml/2006/main">
              <a:ext uri="{FF2B5EF4-FFF2-40B4-BE49-F238E27FC236}">
                <a16:creationId xmlns:a16="http://schemas.microsoft.com/office/drawing/2014/main" id="{C532D63D-CE93-4BBE-8799-C4F180637055}"/>
              </a:ext>
            </a:extLst>
          </p:cNvPr>
          <p:cNvSpPr>
            <a:spLocks xmlns:a="http://schemas.openxmlformats.org/drawingml/2006/main" noGrp="1"/>
          </p:cNvSpPr>
          <p:nvPr/>
        </p:nvSpPr>
        <p:spPr>
          <a:xfrm xmlns:a="http://schemas.openxmlformats.org/drawingml/2006/main">
            <a:off x="704088" y="2103120"/>
            <a:ext cx="2560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59E0B"/>
                </a:solidFill>
                <a:latin typeface="Segoe UI"/>
                <a:ea typeface="Segoe UI"/>
                <a:cs typeface="Segoe UI"/>
              </a:rPr>
              <a:t>12:30–15:00</a:t>
            </a:r>
            <a:endParaRPr sz="2100"/>
          </a:p>
        </p:txBody>
      </p:sp>
      <p:sp>
        <p:nvSpPr>
          <p:cNvPr id="12" name="Text 10">
            <a:extLst xmlns:a="http://schemas.openxmlformats.org/drawingml/2006/main">
              <a:ext uri="{FF2B5EF4-FFF2-40B4-BE49-F238E27FC236}">
                <a16:creationId xmlns:a16="http://schemas.microsoft.com/office/drawing/2014/main" id="{DA92A639-8BD6-4487-8DFA-965CA1003C27}"/>
              </a:ext>
            </a:extLst>
          </p:cNvPr>
          <p:cNvSpPr>
            <a:spLocks xmlns:a="http://schemas.openxmlformats.org/drawingml/2006/main" noGrp="1"/>
          </p:cNvSpPr>
          <p:nvPr/>
        </p:nvSpPr>
        <p:spPr>
          <a:xfrm xmlns:a="http://schemas.openxmlformats.org/drawingml/2006/main">
            <a:off x="667512" y="2532888"/>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1C1C1C"/>
                </a:solidFill>
                <a:latin typeface="Segoe UI"/>
                <a:ea typeface="Segoe UI"/>
                <a:cs typeface="Segoe UI"/>
              </a:rPr>
              <a:t>Daily outdoor work restriction</a:t>
            </a:r>
            <a:endParaRPr sz="1050"/>
          </a:p>
        </p:txBody>
      </p:sp>
      <p:sp>
        <p:nvSpPr>
          <p:cNvPr id="13" name="Shape 11">
            <a:extLst xmlns:a="http://schemas.openxmlformats.org/drawingml/2006/main">
              <a:ext uri="{FF2B5EF4-FFF2-40B4-BE49-F238E27FC236}">
                <a16:creationId xmlns:a16="http://schemas.microsoft.com/office/drawing/2014/main" id="{11AC4ED8-889C-4CF9-85A0-ECA91E67B698}"/>
              </a:ext>
            </a:extLst>
          </p:cNvPr>
          <p:cNvSpPr>
            <a:spLocks xmlns:a="http://schemas.openxmlformats.org/drawingml/2006/main" noGrp="1"/>
          </p:cNvSpPr>
          <p:nvPr/>
        </p:nvSpPr>
        <p:spPr>
          <a:xfrm xmlns:a="http://schemas.openxmlformats.org/drawingml/2006/main">
            <a:off x="3913632" y="1874520"/>
            <a:ext cx="2971800" cy="1143000"/>
          </a:xfrm>
          <a:prstGeom xmlns:a="http://schemas.openxmlformats.org/drawingml/2006/main" prst="roundRect">
            <a:avLst>
              <a:gd name="adj" fmla="val 9600"/>
            </a:avLst>
          </a:prstGeom>
          <a:solidFill xmlns:a="http://schemas.openxmlformats.org/drawingml/2006/main">
            <a:srgbClr val="F7F9FB"/>
          </a:solidFill>
          <a:ln xmlns:a="http://schemas.openxmlformats.org/drawingml/2006/main" w="10160">
            <a:solidFill>
              <a:srgbClr val="E1E4EA"/>
            </a:solidFill>
            <a:prstDash val="solid"/>
          </a:ln>
        </p:spPr>
      </p:sp>
      <p:sp>
        <p:nvSpPr>
          <p:cNvPr id="14" name="Text 12">
            <a:extLst xmlns:a="http://schemas.openxmlformats.org/drawingml/2006/main">
              <a:ext uri="{FF2B5EF4-FFF2-40B4-BE49-F238E27FC236}">
                <a16:creationId xmlns:a16="http://schemas.microsoft.com/office/drawing/2014/main" id="{87F1D066-DB5D-42CF-B064-7E7E5635CFB4}"/>
              </a:ext>
            </a:extLst>
          </p:cNvPr>
          <p:cNvSpPr>
            <a:spLocks xmlns:a="http://schemas.openxmlformats.org/drawingml/2006/main" noGrp="1"/>
          </p:cNvSpPr>
          <p:nvPr/>
        </p:nvSpPr>
        <p:spPr>
          <a:xfrm xmlns:a="http://schemas.openxmlformats.org/drawingml/2006/main">
            <a:off x="4114800" y="2103120"/>
            <a:ext cx="2560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3B82F6"/>
                </a:solidFill>
                <a:latin typeface="Segoe UI"/>
                <a:ea typeface="Segoe UI"/>
                <a:cs typeface="Segoe UI"/>
              </a:rPr>
              <a:t>15 Jun–15 Sep</a:t>
            </a:r>
            <a:endParaRPr sz="2100"/>
          </a:p>
        </p:txBody>
      </p:sp>
      <p:sp>
        <p:nvSpPr>
          <p:cNvPr id="15" name="Text 13">
            <a:extLst xmlns:a="http://schemas.openxmlformats.org/drawingml/2006/main">
              <a:ext uri="{FF2B5EF4-FFF2-40B4-BE49-F238E27FC236}">
                <a16:creationId xmlns:a16="http://schemas.microsoft.com/office/drawing/2014/main" id="{F93C45FA-2FB7-47F6-A74E-E9EB787C1FB3}"/>
              </a:ext>
            </a:extLst>
          </p:cNvPr>
          <p:cNvSpPr>
            <a:spLocks xmlns:a="http://schemas.openxmlformats.org/drawingml/2006/main" noGrp="1"/>
          </p:cNvSpPr>
          <p:nvPr/>
        </p:nvSpPr>
        <p:spPr>
          <a:xfrm xmlns:a="http://schemas.openxmlformats.org/drawingml/2006/main">
            <a:off x="4078224" y="2532888"/>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1C1C1C"/>
                </a:solidFill>
                <a:latin typeface="Segoe UI"/>
                <a:ea typeface="Segoe UI"/>
                <a:cs typeface="Segoe UI"/>
              </a:rPr>
              <a:t>Annual heat-stress policy period</a:t>
            </a:r>
            <a:endParaRPr sz="1050"/>
          </a:p>
        </p:txBody>
      </p:sp>
      <p:sp>
        <p:nvSpPr>
          <p:cNvPr id="16" name="Shape 14">
            <a:extLst xmlns:a="http://schemas.openxmlformats.org/drawingml/2006/main">
              <a:ext uri="{FF2B5EF4-FFF2-40B4-BE49-F238E27FC236}">
                <a16:creationId xmlns:a16="http://schemas.microsoft.com/office/drawing/2014/main" id="{F4731284-C8A0-4D24-9262-713F15A86CFF}"/>
              </a:ext>
            </a:extLst>
          </p:cNvPr>
          <p:cNvSpPr>
            <a:spLocks xmlns:a="http://schemas.openxmlformats.org/drawingml/2006/main" noGrp="1"/>
          </p:cNvSpPr>
          <p:nvPr/>
        </p:nvSpPr>
        <p:spPr>
          <a:xfrm xmlns:a="http://schemas.openxmlformats.org/drawingml/2006/main">
            <a:off x="7324344" y="1874520"/>
            <a:ext cx="2971800" cy="1143000"/>
          </a:xfrm>
          <a:prstGeom xmlns:a="http://schemas.openxmlformats.org/drawingml/2006/main" prst="roundRect">
            <a:avLst>
              <a:gd name="adj" fmla="val 9600"/>
            </a:avLst>
          </a:prstGeom>
          <a:solidFill xmlns:a="http://schemas.openxmlformats.org/drawingml/2006/main">
            <a:srgbClr val="F7F9FB"/>
          </a:solidFill>
          <a:ln xmlns:a="http://schemas.openxmlformats.org/drawingml/2006/main" w="10160">
            <a:solidFill>
              <a:srgbClr val="E1E4EA"/>
            </a:solidFill>
            <a:prstDash val="solid"/>
          </a:ln>
        </p:spPr>
      </p:sp>
      <p:sp>
        <p:nvSpPr>
          <p:cNvPr id="17" name="Text 15">
            <a:extLst xmlns:a="http://schemas.openxmlformats.org/drawingml/2006/main">
              <a:ext uri="{FF2B5EF4-FFF2-40B4-BE49-F238E27FC236}">
                <a16:creationId xmlns:a16="http://schemas.microsoft.com/office/drawing/2014/main" id="{F28A277D-3947-4644-A338-F4088DC6A67F}"/>
              </a:ext>
            </a:extLst>
          </p:cNvPr>
          <p:cNvSpPr>
            <a:spLocks xmlns:a="http://schemas.openxmlformats.org/drawingml/2006/main" noGrp="1"/>
          </p:cNvSpPr>
          <p:nvPr/>
        </p:nvSpPr>
        <p:spPr>
          <a:xfrm xmlns:a="http://schemas.openxmlformats.org/drawingml/2006/main">
            <a:off x="7525512" y="2103120"/>
            <a:ext cx="2560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EF4444"/>
                </a:solidFill>
                <a:latin typeface="Segoe UI"/>
                <a:ea typeface="Segoe UI"/>
                <a:cs typeface="Segoe UI"/>
              </a:rPr>
              <a:t>AED 5K</a:t>
            </a:r>
            <a:endParaRPr sz="2100"/>
          </a:p>
        </p:txBody>
      </p:sp>
      <p:sp>
        <p:nvSpPr>
          <p:cNvPr id="18" name="Text 16">
            <a:extLst xmlns:a="http://schemas.openxmlformats.org/drawingml/2006/main">
              <a:ext uri="{FF2B5EF4-FFF2-40B4-BE49-F238E27FC236}">
                <a16:creationId xmlns:a16="http://schemas.microsoft.com/office/drawing/2014/main" id="{7D8881FF-3D3B-4438-8415-49051BB68950}"/>
              </a:ext>
            </a:extLst>
          </p:cNvPr>
          <p:cNvSpPr>
            <a:spLocks xmlns:a="http://schemas.openxmlformats.org/drawingml/2006/main" noGrp="1"/>
          </p:cNvSpPr>
          <p:nvPr/>
        </p:nvSpPr>
        <p:spPr>
          <a:xfrm xmlns:a="http://schemas.openxmlformats.org/drawingml/2006/main">
            <a:off x="7488936" y="2532888"/>
            <a:ext cx="2651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1C1C1C"/>
                </a:solidFill>
                <a:latin typeface="Segoe UI"/>
                <a:ea typeface="Segoe UI"/>
                <a:cs typeface="Segoe UI"/>
              </a:rPr>
              <a:t>Per worker; up to AED 50K</a:t>
            </a:r>
            <a:endParaRPr sz="1050"/>
          </a:p>
        </p:txBody>
      </p:sp>
      <p:sp>
        <p:nvSpPr>
          <p:cNvPr id="19" name="Shape 17">
            <a:extLst xmlns:a="http://schemas.openxmlformats.org/drawingml/2006/main">
              <a:ext uri="{FF2B5EF4-FFF2-40B4-BE49-F238E27FC236}">
                <a16:creationId xmlns:a16="http://schemas.microsoft.com/office/drawing/2014/main" id="{768CA348-3233-4296-8A78-576055B2B1A2}"/>
              </a:ext>
            </a:extLst>
          </p:cNvPr>
          <p:cNvSpPr>
            <a:spLocks xmlns:a="http://schemas.openxmlformats.org/drawingml/2006/main" noGrp="1"/>
          </p:cNvSpPr>
          <p:nvPr/>
        </p:nvSpPr>
        <p:spPr>
          <a:xfrm xmlns:a="http://schemas.openxmlformats.org/drawingml/2006/main">
            <a:off x="502920" y="3319272"/>
            <a:ext cx="5486400" cy="2514600"/>
          </a:xfrm>
          <a:prstGeom xmlns:a="http://schemas.openxmlformats.org/drawingml/2006/main" prst="roundRect">
            <a:avLst>
              <a:gd name="adj" fmla="val 4364"/>
            </a:avLst>
          </a:prstGeom>
          <a:solidFill xmlns:a="http://schemas.openxmlformats.org/drawingml/2006/main">
            <a:srgbClr val="F4F4F5"/>
          </a:solidFill>
          <a:ln xmlns:a="http://schemas.openxmlformats.org/drawingml/2006/main" w="10160">
            <a:solidFill>
              <a:srgbClr val="E1E4EA"/>
            </a:solidFill>
            <a:prstDash val="solid"/>
          </a:ln>
        </p:spPr>
      </p:sp>
      <p:sp>
        <p:nvSpPr>
          <p:cNvPr id="20" name="Shape 18">
            <a:extLst xmlns:a="http://schemas.openxmlformats.org/drawingml/2006/main">
              <a:ext uri="{FF2B5EF4-FFF2-40B4-BE49-F238E27FC236}">
                <a16:creationId xmlns:a16="http://schemas.microsoft.com/office/drawing/2014/main" id="{8A8DA8BB-2E45-494F-89E0-D995841E756A}"/>
              </a:ext>
            </a:extLst>
          </p:cNvPr>
          <p:cNvSpPr>
            <a:spLocks xmlns:a="http://schemas.openxmlformats.org/drawingml/2006/main" noGrp="1"/>
          </p:cNvSpPr>
          <p:nvPr/>
        </p:nvSpPr>
        <p:spPr>
          <a:xfrm xmlns:a="http://schemas.openxmlformats.org/drawingml/2006/main">
            <a:off x="804672" y="361188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1" name="Text 19">
            <a:extLst xmlns:a="http://schemas.openxmlformats.org/drawingml/2006/main">
              <a:ext uri="{FF2B5EF4-FFF2-40B4-BE49-F238E27FC236}">
                <a16:creationId xmlns:a16="http://schemas.microsoft.com/office/drawing/2014/main" id="{87F329A1-9130-49F2-856D-2608EF92D627}"/>
              </a:ext>
            </a:extLst>
          </p:cNvPr>
          <p:cNvSpPr>
            <a:spLocks xmlns:a="http://schemas.openxmlformats.org/drawingml/2006/main" noGrp="1"/>
          </p:cNvSpPr>
          <p:nvPr/>
        </p:nvSpPr>
        <p:spPr>
          <a:xfrm xmlns:a="http://schemas.openxmlformats.org/drawingml/2006/main">
            <a:off x="804672" y="3662172"/>
            <a:ext cx="502920"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a:t>
            </a:r>
            <a:endParaRPr sz="1400"/>
          </a:p>
        </p:txBody>
      </p:sp>
      <p:sp>
        <p:nvSpPr>
          <p:cNvPr id="22" name="Text 20">
            <a:extLst xmlns:a="http://schemas.openxmlformats.org/drawingml/2006/main">
              <a:ext uri="{FF2B5EF4-FFF2-40B4-BE49-F238E27FC236}">
                <a16:creationId xmlns:a16="http://schemas.microsoft.com/office/drawing/2014/main" id="{4EE817DA-9916-4830-A8B8-8C8F3712ADF5}"/>
              </a:ext>
            </a:extLst>
          </p:cNvPr>
          <p:cNvSpPr>
            <a:spLocks xmlns:a="http://schemas.openxmlformats.org/drawingml/2006/main" noGrp="1"/>
          </p:cNvSpPr>
          <p:nvPr/>
        </p:nvSpPr>
        <p:spPr>
          <a:xfrm xmlns:a="http://schemas.openxmlformats.org/drawingml/2006/main">
            <a:off x="1444752" y="3621024"/>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C1C1C"/>
                </a:solidFill>
                <a:latin typeface="Segoe UI"/>
                <a:ea typeface="Segoe UI"/>
                <a:cs typeface="Segoe UI"/>
              </a:rPr>
              <a:t>Why live context matters</a:t>
            </a:r>
            <a:endParaRPr sz="1600"/>
          </a:p>
        </p:txBody>
      </p:sp>
      <p:sp>
        <p:nvSpPr>
          <p:cNvPr id="23" name="Text 21">
            <a:extLst xmlns:a="http://schemas.openxmlformats.org/drawingml/2006/main">
              <a:ext uri="{FF2B5EF4-FFF2-40B4-BE49-F238E27FC236}">
                <a16:creationId xmlns:a16="http://schemas.microsoft.com/office/drawing/2014/main" id="{FA75A798-137A-4525-A985-CEF3FCC9DBF1}"/>
              </a:ext>
            </a:extLst>
          </p:cNvPr>
          <p:cNvSpPr>
            <a:spLocks xmlns:a="http://schemas.openxmlformats.org/drawingml/2006/main" noGrp="1"/>
          </p:cNvSpPr>
          <p:nvPr/>
        </p:nvSpPr>
        <p:spPr>
          <a:xfrm xmlns:a="http://schemas.openxmlformats.org/drawingml/2006/main">
            <a:off x="822960" y="4087368"/>
            <a:ext cx="4709160" cy="141732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220">
                <a:solidFill>
                  <a:srgbClr val="1C1C1C"/>
                </a:solidFill>
                <a:latin typeface="Segoe UI"/>
                <a:ea typeface="Segoe UI"/>
                <a:cs typeface="Segoe UI"/>
              </a:rPr>
              <a:t>Wind and gusts can change access, lifting and work-at-height plans.</a:t>
            </a:r>
            <a:endParaRPr sz="1220"/>
          </a:p>
          <a:p xmlns:a="http://schemas.openxmlformats.org/drawingml/2006/main">
            <a:pPr marL="152400" indent="-152400">
              <a:buSzPct val="100000"/>
              <a:buChar char="•"/>
            </a:pPr>
            <a:r>
              <a:rPr sz="1220">
                <a:solidFill>
                  <a:srgbClr val="1C1C1C"/>
                </a:solidFill>
                <a:latin typeface="Segoe UI"/>
                <a:ea typeface="Segoe UI"/>
                <a:cs typeface="Segoe UI"/>
              </a:rPr>
              <a:t>Heat and humidity change work-rest, hydration and scheduling requirements.</a:t>
            </a:r>
            <a:endParaRPr sz="1220"/>
          </a:p>
          <a:p xmlns:a="http://schemas.openxmlformats.org/drawingml/2006/main">
            <a:pPr marL="152400" indent="-152400">
              <a:buSzPct val="100000"/>
              <a:buChar char="•"/>
            </a:pPr>
            <a:r>
              <a:rPr sz="1220">
                <a:solidFill>
                  <a:srgbClr val="1C1C1C"/>
                </a:solidFill>
                <a:latin typeface="Segoe UI"/>
                <a:ea typeface="Segoe UI"/>
                <a:cs typeface="Segoe UI"/>
              </a:rPr>
              <a:t>Static PDFs cannot combine live conditions with company-specific limits.</a:t>
            </a:r>
            <a:endParaRPr sz="1220"/>
          </a:p>
          <a:p xmlns:a="http://schemas.openxmlformats.org/drawingml/2006/main">
            <a:pPr marL="152400" indent="-152400">
              <a:buSzPct val="100000"/>
              <a:buChar char="•"/>
            </a:pPr>
            <a:r>
              <a:rPr sz="1220">
                <a:solidFill>
                  <a:srgbClr val="1C1C1C"/>
                </a:solidFill>
                <a:latin typeface="Segoe UI"/>
                <a:ea typeface="Segoe UI"/>
                <a:cs typeface="Segoe UI"/>
              </a:rPr>
              <a:t>When data cannot be verified, the correct answer is to stop and escalate.</a:t>
            </a:r>
            <a:endParaRPr sz="1220"/>
          </a:p>
        </p:txBody>
      </p:sp>
      <p:sp>
        <p:nvSpPr>
          <p:cNvPr id="24" name="Shape 22">
            <a:extLst xmlns:a="http://schemas.openxmlformats.org/drawingml/2006/main">
              <a:ext uri="{FF2B5EF4-FFF2-40B4-BE49-F238E27FC236}">
                <a16:creationId xmlns:a16="http://schemas.microsoft.com/office/drawing/2014/main" id="{0C3E56C4-9719-4A0E-9D9F-C5CD68D8AFE1}"/>
              </a:ext>
            </a:extLst>
          </p:cNvPr>
          <p:cNvSpPr>
            <a:spLocks xmlns:a="http://schemas.openxmlformats.org/drawingml/2006/main" noGrp="1"/>
          </p:cNvSpPr>
          <p:nvPr/>
        </p:nvSpPr>
        <p:spPr>
          <a:xfrm xmlns:a="http://schemas.openxmlformats.org/drawingml/2006/main">
            <a:off x="6236208" y="3319272"/>
            <a:ext cx="5440680" cy="2514600"/>
          </a:xfrm>
          <a:prstGeom xmlns:a="http://schemas.openxmlformats.org/drawingml/2006/main" prst="roundRect">
            <a:avLst>
              <a:gd name="adj" fmla="val 4364"/>
            </a:avLst>
          </a:prstGeom>
          <a:solidFill xmlns:a="http://schemas.openxmlformats.org/drawingml/2006/main">
            <a:srgbClr val="F7F9FB"/>
          </a:solidFill>
          <a:ln xmlns:a="http://schemas.openxmlformats.org/drawingml/2006/main" w="10160">
            <a:solidFill>
              <a:srgbClr val="E1E4EA"/>
            </a:solidFill>
            <a:prstDash val="solid"/>
          </a:ln>
        </p:spPr>
      </p:sp>
      <p:sp>
        <p:nvSpPr>
          <p:cNvPr id="25" name="Text 23">
            <a:extLst xmlns:a="http://schemas.openxmlformats.org/drawingml/2006/main">
              <a:ext uri="{FF2B5EF4-FFF2-40B4-BE49-F238E27FC236}">
                <a16:creationId xmlns:a16="http://schemas.microsoft.com/office/drawing/2014/main" id="{3965B904-4F3D-431C-B9C7-7A6567CCC35E}"/>
              </a:ext>
            </a:extLst>
          </p:cNvPr>
          <p:cNvSpPr>
            <a:spLocks xmlns:a="http://schemas.openxmlformats.org/drawingml/2006/main" noGrp="1"/>
          </p:cNvSpPr>
          <p:nvPr/>
        </p:nvSpPr>
        <p:spPr>
          <a:xfrm xmlns:a="http://schemas.openxmlformats.org/drawingml/2006/main">
            <a:off x="6537960" y="3621024"/>
            <a:ext cx="17373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100" b="1">
                <a:solidFill>
                  <a:srgbClr val="3B82F6"/>
                </a:solidFill>
                <a:latin typeface="Segoe UI"/>
                <a:ea typeface="Segoe UI"/>
                <a:cs typeface="Segoe UI"/>
              </a:rPr>
              <a:t>2.2%</a:t>
            </a:r>
            <a:endParaRPr sz="3100"/>
          </a:p>
        </p:txBody>
      </p:sp>
      <p:sp>
        <p:nvSpPr>
          <p:cNvPr id="26" name="Text 24">
            <a:extLst xmlns:a="http://schemas.openxmlformats.org/drawingml/2006/main">
              <a:ext uri="{FF2B5EF4-FFF2-40B4-BE49-F238E27FC236}">
                <a16:creationId xmlns:a16="http://schemas.microsoft.com/office/drawing/2014/main" id="{927DDBBC-84AA-4E44-93AF-51176476EFF5}"/>
              </a:ext>
            </a:extLst>
          </p:cNvPr>
          <p:cNvSpPr>
            <a:spLocks xmlns:a="http://schemas.openxmlformats.org/drawingml/2006/main" noGrp="1"/>
          </p:cNvSpPr>
          <p:nvPr/>
        </p:nvSpPr>
        <p:spPr>
          <a:xfrm xmlns:a="http://schemas.openxmlformats.org/drawingml/2006/main">
            <a:off x="8247888" y="3639312"/>
            <a:ext cx="29260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20" b="1">
                <a:solidFill>
                  <a:srgbClr val="1C1C1C"/>
                </a:solidFill>
                <a:latin typeface="Segoe UI"/>
                <a:ea typeface="Segoe UI"/>
                <a:cs typeface="Segoe UI"/>
              </a:rPr>
              <a:t>of global working hours could be lost to heat stress by 2030</a:t>
            </a:r>
            <a:endParaRPr sz="1320"/>
          </a:p>
        </p:txBody>
      </p:sp>
      <p:sp>
        <p:nvSpPr>
          <p:cNvPr id="27" name="Shape 25">
            <a:extLst xmlns:a="http://schemas.openxmlformats.org/drawingml/2006/main">
              <a:ext uri="{FF2B5EF4-FFF2-40B4-BE49-F238E27FC236}">
                <a16:creationId xmlns:a16="http://schemas.microsoft.com/office/drawing/2014/main" id="{83377D59-2239-4B95-A5C6-839C5586E4E1}"/>
              </a:ext>
            </a:extLst>
          </p:cNvPr>
          <p:cNvSpPr>
            <a:spLocks xmlns:a="http://schemas.openxmlformats.org/drawingml/2006/main" noGrp="1"/>
          </p:cNvSpPr>
          <p:nvPr/>
        </p:nvSpPr>
        <p:spPr>
          <a:xfrm xmlns:a="http://schemas.openxmlformats.org/drawingml/2006/main">
            <a:off x="6547104" y="4370832"/>
            <a:ext cx="448056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28" name="Text 26">
            <a:extLst xmlns:a="http://schemas.openxmlformats.org/drawingml/2006/main">
              <a:ext uri="{FF2B5EF4-FFF2-40B4-BE49-F238E27FC236}">
                <a16:creationId xmlns:a16="http://schemas.microsoft.com/office/drawing/2014/main" id="{C6871E78-C5A7-432F-8705-A5E1A4A408FC}"/>
              </a:ext>
            </a:extLst>
          </p:cNvPr>
          <p:cNvSpPr>
            <a:spLocks xmlns:a="http://schemas.openxmlformats.org/drawingml/2006/main" noGrp="1"/>
          </p:cNvSpPr>
          <p:nvPr/>
        </p:nvSpPr>
        <p:spPr>
          <a:xfrm xmlns:a="http://schemas.openxmlformats.org/drawingml/2006/main">
            <a:off x="6537960" y="4590288"/>
            <a:ext cx="45262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20">
                <a:solidFill>
                  <a:srgbClr val="1C1C1C"/>
                </a:solidFill>
                <a:latin typeface="Segoe UI"/>
                <a:ea typeface="Segoe UI"/>
                <a:cs typeface="Segoe UI"/>
              </a:rPr>
              <a:t>Equivalent to 80 million full-time jobs. Construction is one of the sectors most exposed because work is physical and often outdoors.</a:t>
            </a:r>
            <a:endParaRPr sz="1220"/>
          </a:p>
        </p:txBody>
      </p:sp>
      <p:sp>
        <p:nvSpPr>
          <p:cNvPr id="29" name="Text 27">
            <a:extLst xmlns:a="http://schemas.openxmlformats.org/drawingml/2006/main">
              <a:ext uri="{FF2B5EF4-FFF2-40B4-BE49-F238E27FC236}">
                <a16:creationId xmlns:a16="http://schemas.microsoft.com/office/drawing/2014/main" id="{3996673E-C589-4580-98DB-EEE0907B87B5}"/>
              </a:ext>
            </a:extLst>
          </p:cNvPr>
          <p:cNvSpPr>
            <a:spLocks xmlns:a="http://schemas.openxmlformats.org/drawingml/2006/main" noGrp="1"/>
          </p:cNvSpPr>
          <p:nvPr/>
        </p:nvSpPr>
        <p:spPr>
          <a:xfrm xmlns:a="http://schemas.openxmlformats.org/drawingml/2006/main">
            <a:off x="6537960" y="5431536"/>
            <a:ext cx="4526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80" i="1">
                <a:solidFill>
                  <a:srgbClr val="F59E0B"/>
                </a:solidFill>
                <a:latin typeface="Segoe UI"/>
                <a:ea typeface="Segoe UI"/>
                <a:cs typeface="Segoe UI"/>
              </a:rPr>
              <a:t>HeatSafe surfaces the rule and the evidence. The supervisor remains accountable for the decision.</a:t>
            </a:r>
            <a:endParaRPr sz="1080"/>
          </a:p>
        </p:txBody>
      </p:sp>
      <p:sp>
        <p:nvSpPr>
          <p:cNvPr id="30" name="Text 28">
            <a:extLst xmlns:a="http://schemas.openxmlformats.org/drawingml/2006/main">
              <a:ext uri="{FF2B5EF4-FFF2-40B4-BE49-F238E27FC236}">
                <a16:creationId xmlns:a16="http://schemas.microsoft.com/office/drawing/2014/main" id="{55F3940C-5F4B-4FE6-8E6F-D48D7EFCA742}"/>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31" name="Text 29">
            <a:extLst xmlns:a="http://schemas.openxmlformats.org/drawingml/2006/main">
              <a:ext uri="{FF2B5EF4-FFF2-40B4-BE49-F238E27FC236}">
                <a16:creationId xmlns:a16="http://schemas.microsoft.com/office/drawing/2014/main" id="{EE31369C-01AD-4FDE-BC06-00B4BF44B846}"/>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Sources: UAE MoHRE Occupational Heat Stress Prevention Policy (2026); ILO, Working on a Warmer Planet; World Bank CCKP.</a:t>
            </a:r>
            <a:endParaRPr sz="670"/>
          </a:p>
        </p:txBody>
      </p:sp>
      <p:sp>
        <p:nvSpPr>
          <p:cNvPr id="32" name="Slide Number Placeholder 0">
            <a:extLst xmlns:a="http://schemas.openxmlformats.org/drawingml/2006/main">
              <a:ext uri="{FF2B5EF4-FFF2-40B4-BE49-F238E27FC236}">
                <a16:creationId xmlns:a16="http://schemas.microsoft.com/office/drawing/2014/main" id="{021CEE44-9B96-451A-8C32-4E0CEDAF89C1}"/>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3</a:t>
            </a:fld>
            <a:endParaRP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d42ed7b575724854"/>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454615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4FF5B960-4C8A-4C9F-A7CA-2B346E55C78C}"/>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Two use cases, one voice interface</a:t>
            </a:r>
            <a:endParaRPr sz="2700"/>
          </a:p>
        </p:txBody>
      </p:sp>
      <p:sp>
        <p:nvSpPr>
          <p:cNvPr id="8" name="Text 6">
            <a:extLst xmlns:a="http://schemas.openxmlformats.org/drawingml/2006/main">
              <a:ext uri="{FF2B5EF4-FFF2-40B4-BE49-F238E27FC236}">
                <a16:creationId xmlns:a16="http://schemas.microsoft.com/office/drawing/2014/main" id="{CDDD41F2-132E-46BF-AB70-F059B312CE10}"/>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The product answers two operational questions: “Should we do this now?” and “How do I do this?”</a:t>
            </a:r>
            <a:endParaRPr sz="1250"/>
          </a:p>
        </p:txBody>
      </p:sp>
      <p:sp>
        <p:nvSpPr>
          <p:cNvPr id="9" name="Shape 7">
            <a:extLst xmlns:a="http://schemas.openxmlformats.org/drawingml/2006/main">
              <a:ext uri="{FF2B5EF4-FFF2-40B4-BE49-F238E27FC236}">
                <a16:creationId xmlns:a16="http://schemas.microsoft.com/office/drawing/2014/main" id="{47BF8E2C-FC37-4D41-971E-E1BF7B9D86E3}"/>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04EAB188-D466-46C2-9A53-0B71A3F09695}"/>
              </a:ext>
            </a:extLst>
          </p:cNvPr>
          <p:cNvSpPr>
            <a:spLocks xmlns:a="http://schemas.openxmlformats.org/drawingml/2006/main" noGrp="1"/>
          </p:cNvSpPr>
          <p:nvPr/>
        </p:nvSpPr>
        <p:spPr>
          <a:xfrm xmlns:a="http://schemas.openxmlformats.org/drawingml/2006/main">
            <a:off x="502920" y="1883664"/>
            <a:ext cx="4892040" cy="4041648"/>
          </a:xfrm>
          <a:prstGeom xmlns:a="http://schemas.openxmlformats.org/drawingml/2006/main" prst="roundRect">
            <a:avLst>
              <a:gd name="adj" fmla="val 2715"/>
            </a:avLst>
          </a:prstGeom>
          <a:solidFill xmlns:a="http://schemas.openxmlformats.org/drawingml/2006/main">
            <a:srgbClr val="F7F9FB"/>
          </a:solidFill>
          <a:ln xmlns:a="http://schemas.openxmlformats.org/drawingml/2006/main" w="10160">
            <a:solidFill>
              <a:srgbClr val="E1E4EA"/>
            </a:solidFill>
            <a:prstDash val="solid"/>
          </a:ln>
        </p:spPr>
      </p:sp>
      <p:sp>
        <p:nvSpPr>
          <p:cNvPr id="11" name="Shape 9">
            <a:extLst xmlns:a="http://schemas.openxmlformats.org/drawingml/2006/main">
              <a:ext uri="{FF2B5EF4-FFF2-40B4-BE49-F238E27FC236}">
                <a16:creationId xmlns:a16="http://schemas.microsoft.com/office/drawing/2014/main" id="{0EAD74A6-FF60-44E4-93AB-79FF1D5F18FA}"/>
              </a:ext>
            </a:extLst>
          </p:cNvPr>
          <p:cNvSpPr>
            <a:spLocks xmlns:a="http://schemas.openxmlformats.org/drawingml/2006/main" noGrp="1"/>
          </p:cNvSpPr>
          <p:nvPr/>
        </p:nvSpPr>
        <p:spPr>
          <a:xfrm xmlns:a="http://schemas.openxmlformats.org/drawingml/2006/main">
            <a:off x="786384" y="2139696"/>
            <a:ext cx="1188720" cy="256032"/>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12" name="Text 10">
            <a:extLst xmlns:a="http://schemas.openxmlformats.org/drawingml/2006/main">
              <a:ext uri="{FF2B5EF4-FFF2-40B4-BE49-F238E27FC236}">
                <a16:creationId xmlns:a16="http://schemas.microsoft.com/office/drawing/2014/main" id="{B65D0701-FB4B-4562-A0C4-82E28902187D}"/>
              </a:ext>
            </a:extLst>
          </p:cNvPr>
          <p:cNvSpPr>
            <a:spLocks xmlns:a="http://schemas.openxmlformats.org/drawingml/2006/main" noGrp="1"/>
          </p:cNvSpPr>
          <p:nvPr/>
        </p:nvSpPr>
        <p:spPr>
          <a:xfrm xmlns:a="http://schemas.openxmlformats.org/drawingml/2006/main">
            <a:off x="786384" y="2148840"/>
            <a:ext cx="1188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C1C1C"/>
                </a:solidFill>
                <a:latin typeface="Segoe UI"/>
                <a:ea typeface="Segoe UI"/>
                <a:cs typeface="Segoe UI"/>
              </a:rPr>
              <a:t>USE CASE 1</a:t>
            </a:r>
            <a:endParaRPr sz="900"/>
          </a:p>
        </p:txBody>
      </p:sp>
      <p:sp>
        <p:nvSpPr>
          <p:cNvPr id="13" name="Text 11">
            <a:extLst xmlns:a="http://schemas.openxmlformats.org/drawingml/2006/main">
              <a:ext uri="{FF2B5EF4-FFF2-40B4-BE49-F238E27FC236}">
                <a16:creationId xmlns:a16="http://schemas.microsoft.com/office/drawing/2014/main" id="{F6C89745-8D36-4B5E-AD28-AFF4C3AC2380}"/>
              </a:ext>
            </a:extLst>
          </p:cNvPr>
          <p:cNvSpPr>
            <a:spLocks xmlns:a="http://schemas.openxmlformats.org/drawingml/2006/main" noGrp="1"/>
          </p:cNvSpPr>
          <p:nvPr/>
        </p:nvSpPr>
        <p:spPr>
          <a:xfrm xmlns:a="http://schemas.openxmlformats.org/drawingml/2006/main">
            <a:off x="786384" y="2615184"/>
            <a:ext cx="38862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C1C1C"/>
                </a:solidFill>
                <a:latin typeface="Segoe UI"/>
                <a:ea typeface="Segoe UI"/>
                <a:cs typeface="Segoe UI"/>
              </a:rPr>
              <a:t>Should we do this job right now?</a:t>
            </a:r>
            <a:endParaRPr sz="2000"/>
          </a:p>
        </p:txBody>
      </p:sp>
      <p:sp>
        <p:nvSpPr>
          <p:cNvPr id="14" name="Text 12">
            <a:extLst xmlns:a="http://schemas.openxmlformats.org/drawingml/2006/main">
              <a:ext uri="{FF2B5EF4-FFF2-40B4-BE49-F238E27FC236}">
                <a16:creationId xmlns:a16="http://schemas.microsoft.com/office/drawing/2014/main" id="{27152766-A041-43F6-8ACC-01670C89E225}"/>
              </a:ext>
            </a:extLst>
          </p:cNvPr>
          <p:cNvSpPr>
            <a:spLocks xmlns:a="http://schemas.openxmlformats.org/drawingml/2006/main" noGrp="1"/>
          </p:cNvSpPr>
          <p:nvPr/>
        </p:nvSpPr>
        <p:spPr>
          <a:xfrm xmlns:a="http://schemas.openxmlformats.org/drawingml/2006/main">
            <a:off x="786384" y="3191256"/>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59E0B"/>
                </a:solidFill>
                <a:latin typeface="Segoe UI"/>
                <a:ea typeface="Segoe UI"/>
                <a:cs typeface="Segoe UI"/>
              </a:rPr>
              <a:t>Live environment + company rules</a:t>
            </a:r>
            <a:endParaRPr sz="1150"/>
          </a:p>
        </p:txBody>
      </p:sp>
      <p:sp>
        <p:nvSpPr>
          <p:cNvPr id="15" name="Text 13">
            <a:extLst xmlns:a="http://schemas.openxmlformats.org/drawingml/2006/main">
              <a:ext uri="{FF2B5EF4-FFF2-40B4-BE49-F238E27FC236}">
                <a16:creationId xmlns:a16="http://schemas.microsoft.com/office/drawing/2014/main" id="{FB385429-0C34-4C48-9192-13DB8F9C05BD}"/>
              </a:ext>
            </a:extLst>
          </p:cNvPr>
          <p:cNvSpPr>
            <a:spLocks xmlns:a="http://schemas.openxmlformats.org/drawingml/2006/main" noGrp="1"/>
          </p:cNvSpPr>
          <p:nvPr/>
        </p:nvSpPr>
        <p:spPr>
          <a:xfrm xmlns:a="http://schemas.openxmlformats.org/drawingml/2006/main">
            <a:off x="768096" y="3593592"/>
            <a:ext cx="4114800" cy="15819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220">
                <a:solidFill>
                  <a:srgbClr val="1C1C1C"/>
                </a:solidFill>
                <a:latin typeface="Segoe UI"/>
                <a:ea typeface="Segoe UI"/>
                <a:cs typeface="Segoe UI"/>
              </a:rPr>
              <a:t>Checks wind, gusts, temperature, humidity and forecast.</a:t>
            </a:r>
            <a:endParaRPr sz="1220"/>
          </a:p>
          <a:p xmlns:a="http://schemas.openxmlformats.org/drawingml/2006/main">
            <a:pPr marL="152400" indent="-152400">
              <a:buSzPct val="100000"/>
              <a:buChar char="•"/>
            </a:pPr>
            <a:r>
              <a:rPr sz="1220">
                <a:solidFill>
                  <a:srgbClr val="1C1C1C"/>
                </a:solidFill>
                <a:latin typeface="Segoe UI"/>
                <a:ea typeface="Segoe UI"/>
                <a:cs typeface="Segoe UI"/>
              </a:rPr>
              <a:t>Retrieves Meridian’s relevant threshold from the SOP.</a:t>
            </a:r>
            <a:endParaRPr sz="1220"/>
          </a:p>
          <a:p xmlns:a="http://schemas.openxmlformats.org/drawingml/2006/main">
            <a:pPr marL="152400" indent="-152400">
              <a:buSzPct val="100000"/>
              <a:buChar char="•"/>
            </a:pPr>
            <a:r>
              <a:rPr sz="1220">
                <a:solidFill>
                  <a:srgbClr val="1C1C1C"/>
                </a:solidFill>
                <a:latin typeface="Segoe UI"/>
                <a:ea typeface="Segoe UI"/>
                <a:cs typeface="Segoe UI"/>
              </a:rPr>
              <a:t>States the conditions, the threshold and the prescribed action.</a:t>
            </a:r>
            <a:endParaRPr sz="1220"/>
          </a:p>
          <a:p xmlns:a="http://schemas.openxmlformats.org/drawingml/2006/main">
            <a:pPr marL="152400" indent="-152400">
              <a:buSzPct val="100000"/>
              <a:buChar char="•"/>
            </a:pPr>
            <a:r>
              <a:rPr sz="1220">
                <a:solidFill>
                  <a:srgbClr val="1C1C1C"/>
                </a:solidFill>
                <a:latin typeface="Segoe UI"/>
                <a:ea typeface="Segoe UI"/>
                <a:cs typeface="Segoe UI"/>
              </a:rPr>
              <a:t>Defers the final operational decision to the supervisor.</a:t>
            </a:r>
            <a:endParaRPr sz="1220"/>
          </a:p>
        </p:txBody>
      </p:sp>
      <p:sp>
        <p:nvSpPr>
          <p:cNvPr id="16" name="Text 14">
            <a:extLst xmlns:a="http://schemas.openxmlformats.org/drawingml/2006/main">
              <a:ext uri="{FF2B5EF4-FFF2-40B4-BE49-F238E27FC236}">
                <a16:creationId xmlns:a16="http://schemas.microsoft.com/office/drawing/2014/main" id="{1225C386-7761-4A91-A8CA-CAD6966CE08B}"/>
              </a:ext>
            </a:extLst>
          </p:cNvPr>
          <p:cNvSpPr>
            <a:spLocks xmlns:a="http://schemas.openxmlformats.org/drawingml/2006/main" noGrp="1"/>
          </p:cNvSpPr>
          <p:nvPr/>
        </p:nvSpPr>
        <p:spPr>
          <a:xfrm xmlns:a="http://schemas.openxmlformats.org/drawingml/2006/main">
            <a:off x="786384" y="5440680"/>
            <a:ext cx="40233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30" i="1">
                <a:solidFill>
                  <a:srgbClr val="374151"/>
                </a:solidFill>
                <a:latin typeface="Segoe UI"/>
                <a:ea typeface="Segoe UI"/>
                <a:cs typeface="Segoe UI"/>
              </a:rPr>
              <a:t>Example: “Can we use the scaffold this morning?”</a:t>
            </a:r>
            <a:endParaRPr sz="1130"/>
          </a:p>
        </p:txBody>
      </p:sp>
      <p:sp>
        <p:nvSpPr>
          <p:cNvPr id="17" name="Shape 15">
            <a:extLst xmlns:a="http://schemas.openxmlformats.org/drawingml/2006/main">
              <a:ext uri="{FF2B5EF4-FFF2-40B4-BE49-F238E27FC236}">
                <a16:creationId xmlns:a16="http://schemas.microsoft.com/office/drawing/2014/main" id="{1C2A99D9-10A7-4A64-BD49-0699A914BF5F}"/>
              </a:ext>
            </a:extLst>
          </p:cNvPr>
          <p:cNvSpPr>
            <a:spLocks xmlns:a="http://schemas.openxmlformats.org/drawingml/2006/main" noGrp="1"/>
          </p:cNvSpPr>
          <p:nvPr/>
        </p:nvSpPr>
        <p:spPr>
          <a:xfrm xmlns:a="http://schemas.openxmlformats.org/drawingml/2006/main">
            <a:off x="5550408" y="3163824"/>
            <a:ext cx="1078992" cy="10789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18" name="Text 16">
            <a:extLst xmlns:a="http://schemas.openxmlformats.org/drawingml/2006/main">
              <a:ext uri="{FF2B5EF4-FFF2-40B4-BE49-F238E27FC236}">
                <a16:creationId xmlns:a16="http://schemas.microsoft.com/office/drawing/2014/main" id="{04D38099-B215-472D-B226-1BAA8C67B917}"/>
              </a:ext>
            </a:extLst>
          </p:cNvPr>
          <p:cNvSpPr>
            <a:spLocks xmlns:a="http://schemas.openxmlformats.org/drawingml/2006/main" noGrp="1"/>
          </p:cNvSpPr>
          <p:nvPr/>
        </p:nvSpPr>
        <p:spPr>
          <a:xfrm xmlns:a="http://schemas.openxmlformats.org/drawingml/2006/main">
            <a:off x="5550408" y="3218688"/>
            <a:ext cx="10789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C1C1C"/>
                </a:solidFill>
                <a:latin typeface="Segoe UI"/>
                <a:ea typeface="Segoe UI"/>
                <a:cs typeface="Segoe UI"/>
              </a:rPr>
              <a:t>●</a:t>
            </a:r>
            <a:endParaRPr sz="2500"/>
          </a:p>
        </p:txBody>
      </p:sp>
      <p:sp>
        <p:nvSpPr>
          <p:cNvPr id="19" name="Shape 17">
            <a:extLst xmlns:a="http://schemas.openxmlformats.org/drawingml/2006/main">
              <a:ext uri="{FF2B5EF4-FFF2-40B4-BE49-F238E27FC236}">
                <a16:creationId xmlns:a16="http://schemas.microsoft.com/office/drawing/2014/main" id="{07C54AE6-9A22-4428-BA59-6027DAAF51C9}"/>
              </a:ext>
            </a:extLst>
          </p:cNvPr>
          <p:cNvSpPr>
            <a:spLocks xmlns:a="http://schemas.openxmlformats.org/drawingml/2006/main" noGrp="1"/>
          </p:cNvSpPr>
          <p:nvPr/>
        </p:nvSpPr>
        <p:spPr>
          <a:xfrm xmlns:a="http://schemas.openxmlformats.org/drawingml/2006/main">
            <a:off x="6089904" y="3493008"/>
            <a:ext cx="0" cy="347472"/>
          </a:xfrm>
          <a:prstGeom xmlns:a="http://schemas.openxmlformats.org/drawingml/2006/main" prst="line">
            <a:avLst/>
          </a:prstGeom>
          <a:noFill xmlns:a="http://schemas.openxmlformats.org/drawingml/2006/main"/>
          <a:ln xmlns:a="http://schemas.openxmlformats.org/drawingml/2006/main" w="38100">
            <a:solidFill>
              <a:srgbClr val="1C1C1C"/>
            </a:solidFill>
            <a:prstDash val="solid"/>
          </a:ln>
        </p:spPr>
      </p:sp>
      <p:sp>
        <p:nvSpPr>
          <p:cNvPr id="20" name="Shape 18">
            <a:extLst xmlns:a="http://schemas.openxmlformats.org/drawingml/2006/main">
              <a:ext uri="{FF2B5EF4-FFF2-40B4-BE49-F238E27FC236}">
                <a16:creationId xmlns:a16="http://schemas.microsoft.com/office/drawing/2014/main" id="{AC33D22C-5D2E-40A6-96C5-36544832B7AD}"/>
              </a:ext>
            </a:extLst>
          </p:cNvPr>
          <p:cNvSpPr>
            <a:spLocks xmlns:a="http://schemas.openxmlformats.org/drawingml/2006/main" noGrp="1"/>
          </p:cNvSpPr>
          <p:nvPr/>
        </p:nvSpPr>
        <p:spPr>
          <a:xfrm xmlns:a="http://schemas.openxmlformats.org/drawingml/2006/main">
            <a:off x="5879592" y="3675888"/>
            <a:ext cx="420624" cy="347472"/>
          </a:xfrm>
          <a:prstGeom xmlns:a="http://schemas.openxmlformats.org/drawingml/2006/main" prst="arc">
            <a:avLst/>
          </a:prstGeom>
          <a:solidFill xmlns:a="http://schemas.openxmlformats.org/drawingml/2006/main">
            <a:srgbClr val="3B82F6">
              <a:alpha val="0"/>
            </a:srgbClr>
          </a:solidFill>
          <a:ln xmlns:a="http://schemas.openxmlformats.org/drawingml/2006/main" w="25400">
            <a:solidFill>
              <a:srgbClr val="1C1C1C"/>
            </a:solidFill>
            <a:prstDash val="solid"/>
          </a:ln>
        </p:spPr>
      </p:sp>
      <p:sp>
        <p:nvSpPr>
          <p:cNvPr id="21" name="Text 19">
            <a:extLst xmlns:a="http://schemas.openxmlformats.org/drawingml/2006/main">
              <a:ext uri="{FF2B5EF4-FFF2-40B4-BE49-F238E27FC236}">
                <a16:creationId xmlns:a16="http://schemas.microsoft.com/office/drawing/2014/main" id="{88349D16-CE8E-4EC9-A305-DC3675745581}"/>
              </a:ext>
            </a:extLst>
          </p:cNvPr>
          <p:cNvSpPr>
            <a:spLocks xmlns:a="http://schemas.openxmlformats.org/drawingml/2006/main" noGrp="1"/>
          </p:cNvSpPr>
          <p:nvPr/>
        </p:nvSpPr>
        <p:spPr>
          <a:xfrm xmlns:a="http://schemas.openxmlformats.org/drawingml/2006/main">
            <a:off x="5614416" y="4343400"/>
            <a:ext cx="94183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3B82F6"/>
                </a:solidFill>
                <a:latin typeface="Segoe UI"/>
                <a:ea typeface="Segoe UI"/>
                <a:cs typeface="Segoe UI"/>
              </a:rPr>
              <a:t>ASK</a:t>
            </a:r>
            <a:endParaRPr sz="850"/>
          </a:p>
          <a:p xmlns:a="http://schemas.openxmlformats.org/drawingml/2006/main">
            <a:pPr marL="0" indent="0" algn="ctr">
              <a:buNone/>
            </a:pPr>
            <a:r>
              <a:rPr sz="850" b="1">
                <a:solidFill>
                  <a:srgbClr val="3B82F6"/>
                </a:solidFill>
                <a:latin typeface="Segoe UI"/>
                <a:ea typeface="Segoe UI"/>
                <a:cs typeface="Segoe UI"/>
              </a:rPr>
              <a:t>HEATSAFE</a:t>
            </a:r>
            <a:endParaRPr sz="850"/>
          </a:p>
        </p:txBody>
      </p:sp>
      <p:sp>
        <p:nvSpPr>
          <p:cNvPr id="22" name="Shape 20">
            <a:extLst xmlns:a="http://schemas.openxmlformats.org/drawingml/2006/main">
              <a:ext uri="{FF2B5EF4-FFF2-40B4-BE49-F238E27FC236}">
                <a16:creationId xmlns:a16="http://schemas.microsoft.com/office/drawing/2014/main" id="{2574CD9C-5455-4D86-9CA9-EC2F7C4EEED7}"/>
              </a:ext>
            </a:extLst>
          </p:cNvPr>
          <p:cNvSpPr>
            <a:spLocks xmlns:a="http://schemas.openxmlformats.org/drawingml/2006/main" noGrp="1"/>
          </p:cNvSpPr>
          <p:nvPr/>
        </p:nvSpPr>
        <p:spPr>
          <a:xfrm xmlns:a="http://schemas.openxmlformats.org/drawingml/2006/main">
            <a:off x="6821424" y="1883664"/>
            <a:ext cx="4864608" cy="4041648"/>
          </a:xfrm>
          <a:prstGeom xmlns:a="http://schemas.openxmlformats.org/drawingml/2006/main" prst="roundRect">
            <a:avLst>
              <a:gd name="adj" fmla="val 2715"/>
            </a:avLst>
          </a:prstGeom>
          <a:solidFill xmlns:a="http://schemas.openxmlformats.org/drawingml/2006/main">
            <a:srgbClr val="F7F9FB"/>
          </a:solidFill>
          <a:ln xmlns:a="http://schemas.openxmlformats.org/drawingml/2006/main" w="10160">
            <a:solidFill>
              <a:srgbClr val="E1E4EA"/>
            </a:solidFill>
            <a:prstDash val="solid"/>
          </a:ln>
        </p:spPr>
      </p:sp>
      <p:sp>
        <p:nvSpPr>
          <p:cNvPr id="23" name="Shape 21">
            <a:extLst xmlns:a="http://schemas.openxmlformats.org/drawingml/2006/main">
              <a:ext uri="{FF2B5EF4-FFF2-40B4-BE49-F238E27FC236}">
                <a16:creationId xmlns:a16="http://schemas.microsoft.com/office/drawing/2014/main" id="{36EC6401-10CF-483C-9BC3-EB0C16DB5BB9}"/>
              </a:ext>
            </a:extLst>
          </p:cNvPr>
          <p:cNvSpPr>
            <a:spLocks xmlns:a="http://schemas.openxmlformats.org/drawingml/2006/main" noGrp="1"/>
          </p:cNvSpPr>
          <p:nvPr/>
        </p:nvSpPr>
        <p:spPr>
          <a:xfrm xmlns:a="http://schemas.openxmlformats.org/drawingml/2006/main">
            <a:off x="7114032" y="2139696"/>
            <a:ext cx="1188720" cy="256032"/>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24" name="Text 22">
            <a:extLst xmlns:a="http://schemas.openxmlformats.org/drawingml/2006/main">
              <a:ext uri="{FF2B5EF4-FFF2-40B4-BE49-F238E27FC236}">
                <a16:creationId xmlns:a16="http://schemas.microsoft.com/office/drawing/2014/main" id="{CFBA0DF9-5F7F-4AA4-8D46-443599896E76}"/>
              </a:ext>
            </a:extLst>
          </p:cNvPr>
          <p:cNvSpPr>
            <a:spLocks xmlns:a="http://schemas.openxmlformats.org/drawingml/2006/main" noGrp="1"/>
          </p:cNvSpPr>
          <p:nvPr/>
        </p:nvSpPr>
        <p:spPr>
          <a:xfrm xmlns:a="http://schemas.openxmlformats.org/drawingml/2006/main">
            <a:off x="7114032" y="2148840"/>
            <a:ext cx="1188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C1C1C"/>
                </a:solidFill>
                <a:latin typeface="Segoe UI"/>
                <a:ea typeface="Segoe UI"/>
                <a:cs typeface="Segoe UI"/>
              </a:rPr>
              <a:t>USE CASE 2</a:t>
            </a:r>
            <a:endParaRPr sz="900"/>
          </a:p>
        </p:txBody>
      </p:sp>
      <p:sp>
        <p:nvSpPr>
          <p:cNvPr id="25" name="Text 23">
            <a:extLst xmlns:a="http://schemas.openxmlformats.org/drawingml/2006/main">
              <a:ext uri="{FF2B5EF4-FFF2-40B4-BE49-F238E27FC236}">
                <a16:creationId xmlns:a16="http://schemas.microsoft.com/office/drawing/2014/main" id="{EAADAFE1-028F-4238-B8CC-6051F4DE26EF}"/>
              </a:ext>
            </a:extLst>
          </p:cNvPr>
          <p:cNvSpPr>
            <a:spLocks xmlns:a="http://schemas.openxmlformats.org/drawingml/2006/main" noGrp="1"/>
          </p:cNvSpPr>
          <p:nvPr/>
        </p:nvSpPr>
        <p:spPr>
          <a:xfrm xmlns:a="http://schemas.openxmlformats.org/drawingml/2006/main">
            <a:off x="7114032" y="2615184"/>
            <a:ext cx="38862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C1C1C"/>
                </a:solidFill>
                <a:latin typeface="Segoe UI"/>
                <a:ea typeface="Segoe UI"/>
                <a:cs typeface="Segoe UI"/>
              </a:rPr>
              <a:t>How do I do this job correctly?</a:t>
            </a:r>
            <a:endParaRPr sz="2000"/>
          </a:p>
        </p:txBody>
      </p:sp>
      <p:sp>
        <p:nvSpPr>
          <p:cNvPr id="26" name="Text 24">
            <a:extLst xmlns:a="http://schemas.openxmlformats.org/drawingml/2006/main">
              <a:ext uri="{FF2B5EF4-FFF2-40B4-BE49-F238E27FC236}">
                <a16:creationId xmlns:a16="http://schemas.microsoft.com/office/drawing/2014/main" id="{9E525E40-00AC-402C-8B15-D46EF035536D}"/>
              </a:ext>
            </a:extLst>
          </p:cNvPr>
          <p:cNvSpPr>
            <a:spLocks xmlns:a="http://schemas.openxmlformats.org/drawingml/2006/main" noGrp="1"/>
          </p:cNvSpPr>
          <p:nvPr/>
        </p:nvSpPr>
        <p:spPr>
          <a:xfrm xmlns:a="http://schemas.openxmlformats.org/drawingml/2006/main">
            <a:off x="7114032" y="3191256"/>
            <a:ext cx="3474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3B82F6"/>
                </a:solidFill>
                <a:latin typeface="Segoe UI"/>
                <a:ea typeface="Segoe UI"/>
                <a:cs typeface="Segoe UI"/>
              </a:rPr>
              <a:t>Company procedure + verified knowledge</a:t>
            </a:r>
            <a:endParaRPr sz="1150"/>
          </a:p>
        </p:txBody>
      </p:sp>
      <p:sp>
        <p:nvSpPr>
          <p:cNvPr id="27" name="Text 25">
            <a:extLst xmlns:a="http://schemas.openxmlformats.org/drawingml/2006/main">
              <a:ext uri="{FF2B5EF4-FFF2-40B4-BE49-F238E27FC236}">
                <a16:creationId xmlns:a16="http://schemas.microsoft.com/office/drawing/2014/main" id="{FEA0B6DB-8A79-4AD8-AD36-9F206C1F59AF}"/>
              </a:ext>
            </a:extLst>
          </p:cNvPr>
          <p:cNvSpPr>
            <a:spLocks xmlns:a="http://schemas.openxmlformats.org/drawingml/2006/main" noGrp="1"/>
          </p:cNvSpPr>
          <p:nvPr/>
        </p:nvSpPr>
        <p:spPr>
          <a:xfrm xmlns:a="http://schemas.openxmlformats.org/drawingml/2006/main">
            <a:off x="7095744" y="3593592"/>
            <a:ext cx="4114800" cy="15819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220">
                <a:solidFill>
                  <a:srgbClr val="1C1C1C"/>
                </a:solidFill>
                <a:latin typeface="Segoe UI"/>
                <a:ea typeface="Segoe UI"/>
                <a:cs typeface="Segoe UI"/>
              </a:rPr>
              <a:t>Searches the company SOP, checklist and safety manual.</a:t>
            </a:r>
            <a:endParaRPr sz="1220"/>
          </a:p>
          <a:p xmlns:a="http://schemas.openxmlformats.org/drawingml/2006/main">
            <a:pPr marL="152400" indent="-152400">
              <a:buSzPct val="100000"/>
              <a:buChar char="•"/>
            </a:pPr>
            <a:r>
              <a:rPr sz="1220">
                <a:solidFill>
                  <a:srgbClr val="1C1C1C"/>
                </a:solidFill>
                <a:latin typeface="Segoe UI"/>
                <a:ea typeface="Segoe UI"/>
                <a:cs typeface="Segoe UI"/>
              </a:rPr>
              <a:t>Provides steps with the document and section named aloud.</a:t>
            </a:r>
            <a:endParaRPr sz="1220"/>
          </a:p>
          <a:p xmlns:a="http://schemas.openxmlformats.org/drawingml/2006/main">
            <a:pPr marL="152400" indent="-152400">
              <a:buSzPct val="100000"/>
              <a:buChar char="•"/>
            </a:pPr>
            <a:r>
              <a:rPr sz="1220">
                <a:solidFill>
                  <a:srgbClr val="1C1C1C"/>
                </a:solidFill>
                <a:latin typeface="Segoe UI"/>
                <a:ea typeface="Segoe UI"/>
                <a:cs typeface="Segoe UI"/>
              </a:rPr>
              <a:t>Uses official or manufacturer guidance only when the SOP is silent.</a:t>
            </a:r>
            <a:endParaRPr sz="1220"/>
          </a:p>
          <a:p xmlns:a="http://schemas.openxmlformats.org/drawingml/2006/main">
            <a:pPr marL="152400" indent="-152400">
              <a:buSzPct val="100000"/>
              <a:buChar char="•"/>
            </a:pPr>
            <a:r>
              <a:rPr sz="1220">
                <a:solidFill>
                  <a:srgbClr val="1C1C1C"/>
                </a:solidFill>
                <a:latin typeface="Segoe UI"/>
                <a:ea typeface="Segoe UI"/>
                <a:cs typeface="Segoe UI"/>
              </a:rPr>
              <a:t>Refuses to answer when no reliable source covers the procedure.</a:t>
            </a:r>
            <a:endParaRPr sz="1220"/>
          </a:p>
        </p:txBody>
      </p:sp>
      <p:sp>
        <p:nvSpPr>
          <p:cNvPr id="28" name="Text 26">
            <a:extLst xmlns:a="http://schemas.openxmlformats.org/drawingml/2006/main">
              <a:ext uri="{FF2B5EF4-FFF2-40B4-BE49-F238E27FC236}">
                <a16:creationId xmlns:a16="http://schemas.microsoft.com/office/drawing/2014/main" id="{6A8698B7-2564-4D34-858D-5482A772FDB9}"/>
              </a:ext>
            </a:extLst>
          </p:cNvPr>
          <p:cNvSpPr>
            <a:spLocks xmlns:a="http://schemas.openxmlformats.org/drawingml/2006/main" noGrp="1"/>
          </p:cNvSpPr>
          <p:nvPr/>
        </p:nvSpPr>
        <p:spPr>
          <a:xfrm xmlns:a="http://schemas.openxmlformats.org/drawingml/2006/main">
            <a:off x="7114032" y="5440680"/>
            <a:ext cx="40690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30" i="1">
                <a:solidFill>
                  <a:srgbClr val="374151"/>
                </a:solidFill>
                <a:latin typeface="Segoe UI"/>
                <a:ea typeface="Segoe UI"/>
                <a:cs typeface="Segoe UI"/>
              </a:rPr>
              <a:t>Example: “Walk me through the scaffold inspection.”</a:t>
            </a:r>
            <a:endParaRPr sz="1130"/>
          </a:p>
        </p:txBody>
      </p:sp>
      <p:sp>
        <p:nvSpPr>
          <p:cNvPr id="29" name="Text 27">
            <a:extLst xmlns:a="http://schemas.openxmlformats.org/drawingml/2006/main">
              <a:ext uri="{FF2B5EF4-FFF2-40B4-BE49-F238E27FC236}">
                <a16:creationId xmlns:a16="http://schemas.microsoft.com/office/drawing/2014/main" id="{B996D971-5C9D-4ADF-A7BE-A43F0BDEC673}"/>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30" name="Slide Number Placeholder 0">
            <a:extLst xmlns:a="http://schemas.openxmlformats.org/drawingml/2006/main">
              <a:ext uri="{FF2B5EF4-FFF2-40B4-BE49-F238E27FC236}">
                <a16:creationId xmlns:a16="http://schemas.microsoft.com/office/drawing/2014/main" id="{8CFE3148-0B37-4193-90B5-D561DF0D58CE}"/>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4</a:t>
            </a:fld>
            <a:endParaRP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456f2d3022341d0"/>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10414314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FB1C67F6-477B-49E9-A775-E1BE0704F117}"/>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Data model and safety logic</a:t>
            </a:r>
            <a:endParaRPr sz="2700"/>
          </a:p>
        </p:txBody>
      </p:sp>
      <p:sp>
        <p:nvSpPr>
          <p:cNvPr id="8" name="Text 6">
            <a:extLst xmlns:a="http://schemas.openxmlformats.org/drawingml/2006/main">
              <a:ext uri="{FF2B5EF4-FFF2-40B4-BE49-F238E27FC236}">
                <a16:creationId xmlns:a16="http://schemas.microsoft.com/office/drawing/2014/main" id="{58FC55D2-6AFE-425B-BEC3-76C91D2F5E40}"/>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HeatSafe retrieves, classifies, verifies and cites. It never guesses and it never becomes the decision-maker.</a:t>
            </a:r>
            <a:endParaRPr sz="1250"/>
          </a:p>
        </p:txBody>
      </p:sp>
      <p:sp>
        <p:nvSpPr>
          <p:cNvPr id="9" name="Shape 7">
            <a:extLst xmlns:a="http://schemas.openxmlformats.org/drawingml/2006/main">
              <a:ext uri="{FF2B5EF4-FFF2-40B4-BE49-F238E27FC236}">
                <a16:creationId xmlns:a16="http://schemas.microsoft.com/office/drawing/2014/main" id="{D527840D-F581-44A3-B905-D37B449F2B63}"/>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Text 8">
            <a:extLst xmlns:a="http://schemas.openxmlformats.org/drawingml/2006/main">
              <a:ext uri="{FF2B5EF4-FFF2-40B4-BE49-F238E27FC236}">
                <a16:creationId xmlns:a16="http://schemas.microsoft.com/office/drawing/2014/main" id="{341D9E63-8E04-4EB3-9026-C3875B767D48}"/>
              </a:ext>
            </a:extLst>
          </p:cNvPr>
          <p:cNvSpPr>
            <a:spLocks xmlns:a="http://schemas.openxmlformats.org/drawingml/2006/main" noGrp="1"/>
          </p:cNvSpPr>
          <p:nvPr/>
        </p:nvSpPr>
        <p:spPr>
          <a:xfrm xmlns:a="http://schemas.openxmlformats.org/drawingml/2006/main">
            <a:off x="530352" y="1920240"/>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6B7280"/>
                </a:solidFill>
                <a:latin typeface="Segoe UI"/>
                <a:ea typeface="Segoe UI"/>
                <a:cs typeface="Segoe UI"/>
              </a:rPr>
              <a:t>SOURCE PRECEDENCE</a:t>
            </a:r>
            <a:endParaRPr sz="1000"/>
          </a:p>
        </p:txBody>
      </p:sp>
      <p:sp>
        <p:nvSpPr>
          <p:cNvPr id="11" name="Shape 9">
            <a:extLst xmlns:a="http://schemas.openxmlformats.org/drawingml/2006/main">
              <a:ext uri="{FF2B5EF4-FFF2-40B4-BE49-F238E27FC236}">
                <a16:creationId xmlns:a16="http://schemas.microsoft.com/office/drawing/2014/main" id="{FB342A06-0FAB-40F2-A809-8D38B4720AD9}"/>
              </a:ext>
            </a:extLst>
          </p:cNvPr>
          <p:cNvSpPr>
            <a:spLocks xmlns:a="http://schemas.openxmlformats.org/drawingml/2006/main" noGrp="1"/>
          </p:cNvSpPr>
          <p:nvPr/>
        </p:nvSpPr>
        <p:spPr>
          <a:xfrm xmlns:a="http://schemas.openxmlformats.org/drawingml/2006/main">
            <a:off x="502920" y="2331720"/>
            <a:ext cx="370332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12" name="Shape 10">
            <a:extLst xmlns:a="http://schemas.openxmlformats.org/drawingml/2006/main">
              <a:ext uri="{FF2B5EF4-FFF2-40B4-BE49-F238E27FC236}">
                <a16:creationId xmlns:a16="http://schemas.microsoft.com/office/drawing/2014/main" id="{A7F8F46E-7B78-4DAE-9ABA-645C703E553E}"/>
              </a:ext>
            </a:extLst>
          </p:cNvPr>
          <p:cNvSpPr>
            <a:spLocks xmlns:a="http://schemas.openxmlformats.org/drawingml/2006/main" noGrp="1"/>
          </p:cNvSpPr>
          <p:nvPr/>
        </p:nvSpPr>
        <p:spPr>
          <a:xfrm xmlns:a="http://schemas.openxmlformats.org/drawingml/2006/main">
            <a:off x="694944" y="2450592"/>
            <a:ext cx="384048" cy="38404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3" name="Text 11">
            <a:extLst xmlns:a="http://schemas.openxmlformats.org/drawingml/2006/main">
              <a:ext uri="{FF2B5EF4-FFF2-40B4-BE49-F238E27FC236}">
                <a16:creationId xmlns:a16="http://schemas.microsoft.com/office/drawing/2014/main" id="{5C0ADD3F-F7D4-43E9-B906-3019B7C7A4C2}"/>
              </a:ext>
            </a:extLst>
          </p:cNvPr>
          <p:cNvSpPr>
            <a:spLocks xmlns:a="http://schemas.openxmlformats.org/drawingml/2006/main" noGrp="1"/>
          </p:cNvSpPr>
          <p:nvPr/>
        </p:nvSpPr>
        <p:spPr>
          <a:xfrm xmlns:a="http://schemas.openxmlformats.org/drawingml/2006/main">
            <a:off x="694944" y="2500884"/>
            <a:ext cx="3840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1</a:t>
            </a:r>
            <a:endParaRPr sz="1400"/>
          </a:p>
        </p:txBody>
      </p:sp>
      <p:sp>
        <p:nvSpPr>
          <p:cNvPr id="14" name="Text 12">
            <a:extLst xmlns:a="http://schemas.openxmlformats.org/drawingml/2006/main">
              <a:ext uri="{FF2B5EF4-FFF2-40B4-BE49-F238E27FC236}">
                <a16:creationId xmlns:a16="http://schemas.microsoft.com/office/drawing/2014/main" id="{ABEBBA09-C4B2-47FD-82FB-955AF064B110}"/>
              </a:ext>
            </a:extLst>
          </p:cNvPr>
          <p:cNvSpPr>
            <a:spLocks xmlns:a="http://schemas.openxmlformats.org/drawingml/2006/main" noGrp="1"/>
          </p:cNvSpPr>
          <p:nvPr/>
        </p:nvSpPr>
        <p:spPr>
          <a:xfrm xmlns:a="http://schemas.openxmlformats.org/drawingml/2006/main">
            <a:off x="1188720" y="2432304"/>
            <a:ext cx="2697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70" b="1">
                <a:solidFill>
                  <a:srgbClr val="1C1C1C"/>
                </a:solidFill>
                <a:latin typeface="Segoe UI"/>
                <a:ea typeface="Segoe UI"/>
                <a:cs typeface="Segoe UI"/>
              </a:rPr>
              <a:t>Company SOP / safety manual</a:t>
            </a:r>
            <a:endParaRPr sz="1170"/>
          </a:p>
        </p:txBody>
      </p:sp>
      <p:sp>
        <p:nvSpPr>
          <p:cNvPr id="15" name="Text 13">
            <a:extLst xmlns:a="http://schemas.openxmlformats.org/drawingml/2006/main">
              <a:ext uri="{FF2B5EF4-FFF2-40B4-BE49-F238E27FC236}">
                <a16:creationId xmlns:a16="http://schemas.microsoft.com/office/drawing/2014/main" id="{988557E7-1BFE-4728-9A73-A64F78300D28}"/>
              </a:ext>
            </a:extLst>
          </p:cNvPr>
          <p:cNvSpPr>
            <a:spLocks xmlns:a="http://schemas.openxmlformats.org/drawingml/2006/main" noGrp="1"/>
          </p:cNvSpPr>
          <p:nvPr/>
        </p:nvSpPr>
        <p:spPr>
          <a:xfrm xmlns:a="http://schemas.openxmlformats.org/drawingml/2006/main">
            <a:off x="1188720" y="2679192"/>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80">
                <a:solidFill>
                  <a:srgbClr val="6B7280"/>
                </a:solidFill>
                <a:latin typeface="Segoe UI"/>
                <a:ea typeface="Segoe UI"/>
                <a:cs typeface="Segoe UI"/>
              </a:rPr>
              <a:t>Uploaded Meridian documentation</a:t>
            </a:r>
            <a:endParaRPr sz="880"/>
          </a:p>
        </p:txBody>
      </p:sp>
      <p:sp>
        <p:nvSpPr>
          <p:cNvPr id="16" name="Shape 14">
            <a:extLst xmlns:a="http://schemas.openxmlformats.org/drawingml/2006/main">
              <a:ext uri="{FF2B5EF4-FFF2-40B4-BE49-F238E27FC236}">
                <a16:creationId xmlns:a16="http://schemas.microsoft.com/office/drawing/2014/main" id="{4DE44FBD-ABFC-4167-B5D3-CA290DEBE5BA}"/>
              </a:ext>
            </a:extLst>
          </p:cNvPr>
          <p:cNvSpPr>
            <a:spLocks xmlns:a="http://schemas.openxmlformats.org/drawingml/2006/main" noGrp="1"/>
          </p:cNvSpPr>
          <p:nvPr/>
        </p:nvSpPr>
        <p:spPr>
          <a:xfrm xmlns:a="http://schemas.openxmlformats.org/drawingml/2006/main">
            <a:off x="502920" y="3172968"/>
            <a:ext cx="370332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17" name="Shape 15">
            <a:extLst xmlns:a="http://schemas.openxmlformats.org/drawingml/2006/main">
              <a:ext uri="{FF2B5EF4-FFF2-40B4-BE49-F238E27FC236}">
                <a16:creationId xmlns:a16="http://schemas.microsoft.com/office/drawing/2014/main" id="{67C3A4AD-152B-41E7-A785-AC2A5845CFA2}"/>
              </a:ext>
            </a:extLst>
          </p:cNvPr>
          <p:cNvSpPr>
            <a:spLocks xmlns:a="http://schemas.openxmlformats.org/drawingml/2006/main" noGrp="1"/>
          </p:cNvSpPr>
          <p:nvPr/>
        </p:nvSpPr>
        <p:spPr>
          <a:xfrm xmlns:a="http://schemas.openxmlformats.org/drawingml/2006/main">
            <a:off x="694944" y="3291840"/>
            <a:ext cx="384048" cy="384048"/>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18" name="Text 16">
            <a:extLst xmlns:a="http://schemas.openxmlformats.org/drawingml/2006/main">
              <a:ext uri="{FF2B5EF4-FFF2-40B4-BE49-F238E27FC236}">
                <a16:creationId xmlns:a16="http://schemas.microsoft.com/office/drawing/2014/main" id="{6208CFEC-E915-4C2E-8EC7-F08D830E62F8}"/>
              </a:ext>
            </a:extLst>
          </p:cNvPr>
          <p:cNvSpPr>
            <a:spLocks xmlns:a="http://schemas.openxmlformats.org/drawingml/2006/main" noGrp="1"/>
          </p:cNvSpPr>
          <p:nvPr/>
        </p:nvSpPr>
        <p:spPr>
          <a:xfrm xmlns:a="http://schemas.openxmlformats.org/drawingml/2006/main">
            <a:off x="694944" y="3342132"/>
            <a:ext cx="3840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2</a:t>
            </a:r>
            <a:endParaRPr sz="1400"/>
          </a:p>
        </p:txBody>
      </p:sp>
      <p:sp>
        <p:nvSpPr>
          <p:cNvPr id="19" name="Text 17">
            <a:extLst xmlns:a="http://schemas.openxmlformats.org/drawingml/2006/main">
              <a:ext uri="{FF2B5EF4-FFF2-40B4-BE49-F238E27FC236}">
                <a16:creationId xmlns:a16="http://schemas.microsoft.com/office/drawing/2014/main" id="{3795D646-0D30-4FFA-8602-375233DD8705}"/>
              </a:ext>
            </a:extLst>
          </p:cNvPr>
          <p:cNvSpPr>
            <a:spLocks xmlns:a="http://schemas.openxmlformats.org/drawingml/2006/main" noGrp="1"/>
          </p:cNvSpPr>
          <p:nvPr/>
        </p:nvSpPr>
        <p:spPr>
          <a:xfrm xmlns:a="http://schemas.openxmlformats.org/drawingml/2006/main">
            <a:off x="1188720" y="3273552"/>
            <a:ext cx="2697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70" b="1">
                <a:solidFill>
                  <a:srgbClr val="1C1C1C"/>
                </a:solidFill>
                <a:latin typeface="Segoe UI"/>
                <a:ea typeface="Segoe UI"/>
                <a:cs typeface="Segoe UI"/>
              </a:rPr>
              <a:t>Regional law / official guidance</a:t>
            </a:r>
            <a:endParaRPr sz="1170"/>
          </a:p>
        </p:txBody>
      </p:sp>
      <p:sp>
        <p:nvSpPr>
          <p:cNvPr id="20" name="Text 18">
            <a:extLst xmlns:a="http://schemas.openxmlformats.org/drawingml/2006/main">
              <a:ext uri="{FF2B5EF4-FFF2-40B4-BE49-F238E27FC236}">
                <a16:creationId xmlns:a16="http://schemas.microsoft.com/office/drawing/2014/main" id="{D5D38903-D289-486F-A041-935F22AF9720}"/>
              </a:ext>
            </a:extLst>
          </p:cNvPr>
          <p:cNvSpPr>
            <a:spLocks xmlns:a="http://schemas.openxmlformats.org/drawingml/2006/main" noGrp="1"/>
          </p:cNvSpPr>
          <p:nvPr/>
        </p:nvSpPr>
        <p:spPr>
          <a:xfrm xmlns:a="http://schemas.openxmlformats.org/drawingml/2006/main">
            <a:off x="1188720" y="3520440"/>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80">
                <a:solidFill>
                  <a:srgbClr val="6B7280"/>
                </a:solidFill>
                <a:latin typeface="Segoe UI"/>
                <a:ea typeface="Segoe UI"/>
                <a:cs typeface="Segoe UI"/>
              </a:rPr>
              <a:t>UAE MoHRE and official HSE sources</a:t>
            </a:r>
            <a:endParaRPr sz="880"/>
          </a:p>
        </p:txBody>
      </p:sp>
      <p:sp>
        <p:nvSpPr>
          <p:cNvPr id="21" name="Shape 19">
            <a:extLst xmlns:a="http://schemas.openxmlformats.org/drawingml/2006/main">
              <a:ext uri="{FF2B5EF4-FFF2-40B4-BE49-F238E27FC236}">
                <a16:creationId xmlns:a16="http://schemas.microsoft.com/office/drawing/2014/main" id="{03B1C017-B767-41C0-A412-F18A9A0ACC46}"/>
              </a:ext>
            </a:extLst>
          </p:cNvPr>
          <p:cNvSpPr>
            <a:spLocks xmlns:a="http://schemas.openxmlformats.org/drawingml/2006/main" noGrp="1"/>
          </p:cNvSpPr>
          <p:nvPr/>
        </p:nvSpPr>
        <p:spPr>
          <a:xfrm xmlns:a="http://schemas.openxmlformats.org/drawingml/2006/main">
            <a:off x="502920" y="4014216"/>
            <a:ext cx="370332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22" name="Shape 20">
            <a:extLst xmlns:a="http://schemas.openxmlformats.org/drawingml/2006/main">
              <a:ext uri="{FF2B5EF4-FFF2-40B4-BE49-F238E27FC236}">
                <a16:creationId xmlns:a16="http://schemas.microsoft.com/office/drawing/2014/main" id="{CCFAA6BF-CAA1-4DF6-9DF9-5D5D9093142F}"/>
              </a:ext>
            </a:extLst>
          </p:cNvPr>
          <p:cNvSpPr>
            <a:spLocks xmlns:a="http://schemas.openxmlformats.org/drawingml/2006/main" noGrp="1"/>
          </p:cNvSpPr>
          <p:nvPr/>
        </p:nvSpPr>
        <p:spPr>
          <a:xfrm xmlns:a="http://schemas.openxmlformats.org/drawingml/2006/main">
            <a:off x="694944" y="4133088"/>
            <a:ext cx="384048" cy="38404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3" name="Text 21">
            <a:extLst xmlns:a="http://schemas.openxmlformats.org/drawingml/2006/main">
              <a:ext uri="{FF2B5EF4-FFF2-40B4-BE49-F238E27FC236}">
                <a16:creationId xmlns:a16="http://schemas.microsoft.com/office/drawing/2014/main" id="{18D71870-C0B1-4113-A2CA-FF80427EFCD9}"/>
              </a:ext>
            </a:extLst>
          </p:cNvPr>
          <p:cNvSpPr>
            <a:spLocks xmlns:a="http://schemas.openxmlformats.org/drawingml/2006/main" noGrp="1"/>
          </p:cNvSpPr>
          <p:nvPr/>
        </p:nvSpPr>
        <p:spPr>
          <a:xfrm xmlns:a="http://schemas.openxmlformats.org/drawingml/2006/main">
            <a:off x="694944" y="4183380"/>
            <a:ext cx="3840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3</a:t>
            </a:r>
            <a:endParaRPr sz="1400"/>
          </a:p>
        </p:txBody>
      </p:sp>
      <p:sp>
        <p:nvSpPr>
          <p:cNvPr id="24" name="Text 22">
            <a:extLst xmlns:a="http://schemas.openxmlformats.org/drawingml/2006/main">
              <a:ext uri="{FF2B5EF4-FFF2-40B4-BE49-F238E27FC236}">
                <a16:creationId xmlns:a16="http://schemas.microsoft.com/office/drawing/2014/main" id="{D68731D9-99A8-4654-BC9B-9C22EBE97807}"/>
              </a:ext>
            </a:extLst>
          </p:cNvPr>
          <p:cNvSpPr>
            <a:spLocks xmlns:a="http://schemas.openxmlformats.org/drawingml/2006/main" noGrp="1"/>
          </p:cNvSpPr>
          <p:nvPr/>
        </p:nvSpPr>
        <p:spPr>
          <a:xfrm xmlns:a="http://schemas.openxmlformats.org/drawingml/2006/main">
            <a:off x="1188720" y="4114800"/>
            <a:ext cx="2697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70" b="1">
                <a:solidFill>
                  <a:srgbClr val="1C1C1C"/>
                </a:solidFill>
                <a:latin typeface="Segoe UI"/>
                <a:ea typeface="Segoe UI"/>
                <a:cs typeface="Segoe UI"/>
              </a:rPr>
              <a:t>Manufacturer documentation</a:t>
            </a:r>
            <a:endParaRPr sz="1170"/>
          </a:p>
        </p:txBody>
      </p:sp>
      <p:sp>
        <p:nvSpPr>
          <p:cNvPr id="25" name="Text 23">
            <a:extLst xmlns:a="http://schemas.openxmlformats.org/drawingml/2006/main">
              <a:ext uri="{FF2B5EF4-FFF2-40B4-BE49-F238E27FC236}">
                <a16:creationId xmlns:a16="http://schemas.microsoft.com/office/drawing/2014/main" id="{545F2FE5-AC04-4091-A956-4124C2ECAB5A}"/>
              </a:ext>
            </a:extLst>
          </p:cNvPr>
          <p:cNvSpPr>
            <a:spLocks xmlns:a="http://schemas.openxmlformats.org/drawingml/2006/main" noGrp="1"/>
          </p:cNvSpPr>
          <p:nvPr/>
        </p:nvSpPr>
        <p:spPr>
          <a:xfrm xmlns:a="http://schemas.openxmlformats.org/drawingml/2006/main">
            <a:off x="1188720" y="4361688"/>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80">
                <a:solidFill>
                  <a:srgbClr val="6B7280"/>
                </a:solidFill>
                <a:latin typeface="Segoe UI"/>
                <a:ea typeface="Segoe UI"/>
                <a:cs typeface="Segoe UI"/>
              </a:rPr>
              <a:t>Equipment manuals and bulletins</a:t>
            </a:r>
            <a:endParaRPr sz="880"/>
          </a:p>
        </p:txBody>
      </p:sp>
      <p:sp>
        <p:nvSpPr>
          <p:cNvPr id="26" name="Shape 24">
            <a:extLst xmlns:a="http://schemas.openxmlformats.org/drawingml/2006/main">
              <a:ext uri="{FF2B5EF4-FFF2-40B4-BE49-F238E27FC236}">
                <a16:creationId xmlns:a16="http://schemas.microsoft.com/office/drawing/2014/main" id="{A2CEE499-C464-4038-9D7D-921CB02A753A}"/>
              </a:ext>
            </a:extLst>
          </p:cNvPr>
          <p:cNvSpPr>
            <a:spLocks xmlns:a="http://schemas.openxmlformats.org/drawingml/2006/main" noGrp="1"/>
          </p:cNvSpPr>
          <p:nvPr/>
        </p:nvSpPr>
        <p:spPr>
          <a:xfrm xmlns:a="http://schemas.openxmlformats.org/drawingml/2006/main">
            <a:off x="502920" y="4855464"/>
            <a:ext cx="370332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27" name="Shape 25">
            <a:extLst xmlns:a="http://schemas.openxmlformats.org/drawingml/2006/main">
              <a:ext uri="{FF2B5EF4-FFF2-40B4-BE49-F238E27FC236}">
                <a16:creationId xmlns:a16="http://schemas.microsoft.com/office/drawing/2014/main" id="{FB766BA7-A735-470E-AF5D-D240567183D1}"/>
              </a:ext>
            </a:extLst>
          </p:cNvPr>
          <p:cNvSpPr>
            <a:spLocks xmlns:a="http://schemas.openxmlformats.org/drawingml/2006/main" noGrp="1"/>
          </p:cNvSpPr>
          <p:nvPr/>
        </p:nvSpPr>
        <p:spPr>
          <a:xfrm xmlns:a="http://schemas.openxmlformats.org/drawingml/2006/main">
            <a:off x="694944" y="4974336"/>
            <a:ext cx="384048" cy="384048"/>
          </a:xfrm>
          <a:prstGeom xmlns:a="http://schemas.openxmlformats.org/drawingml/2006/main" prst="ellipse">
            <a:avLst/>
          </a:prstGeom>
          <a:solidFill xmlns:a="http://schemas.openxmlformats.org/drawingml/2006/main">
            <a:srgbClr val="6B7280"/>
          </a:solidFill>
          <a:ln xmlns:a="http://schemas.openxmlformats.org/drawingml/2006/main" w="12700">
            <a:solidFill>
              <a:srgbClr val="6B7280"/>
            </a:solidFill>
            <a:prstDash val="solid"/>
          </a:ln>
        </p:spPr>
      </p:sp>
      <p:sp>
        <p:nvSpPr>
          <p:cNvPr id="28" name="Text 26">
            <a:extLst xmlns:a="http://schemas.openxmlformats.org/drawingml/2006/main">
              <a:ext uri="{FF2B5EF4-FFF2-40B4-BE49-F238E27FC236}">
                <a16:creationId xmlns:a16="http://schemas.microsoft.com/office/drawing/2014/main" id="{BF0237E6-37B1-4759-97B7-265178700A93}"/>
              </a:ext>
            </a:extLst>
          </p:cNvPr>
          <p:cNvSpPr>
            <a:spLocks xmlns:a="http://schemas.openxmlformats.org/drawingml/2006/main" noGrp="1"/>
          </p:cNvSpPr>
          <p:nvPr/>
        </p:nvSpPr>
        <p:spPr>
          <a:xfrm xmlns:a="http://schemas.openxmlformats.org/drawingml/2006/main">
            <a:off x="694944" y="5024628"/>
            <a:ext cx="3840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4</a:t>
            </a:r>
            <a:endParaRPr sz="1400"/>
          </a:p>
        </p:txBody>
      </p:sp>
      <p:sp>
        <p:nvSpPr>
          <p:cNvPr id="29" name="Text 27">
            <a:extLst xmlns:a="http://schemas.openxmlformats.org/drawingml/2006/main">
              <a:ext uri="{FF2B5EF4-FFF2-40B4-BE49-F238E27FC236}">
                <a16:creationId xmlns:a16="http://schemas.microsoft.com/office/drawing/2014/main" id="{DAC7DD49-CB16-46A8-88AE-2C3980852DDD}"/>
              </a:ext>
            </a:extLst>
          </p:cNvPr>
          <p:cNvSpPr>
            <a:spLocks xmlns:a="http://schemas.openxmlformats.org/drawingml/2006/main" noGrp="1"/>
          </p:cNvSpPr>
          <p:nvPr/>
        </p:nvSpPr>
        <p:spPr>
          <a:xfrm xmlns:a="http://schemas.openxmlformats.org/drawingml/2006/main">
            <a:off x="1188720" y="4956048"/>
            <a:ext cx="2697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70" b="1">
                <a:solidFill>
                  <a:srgbClr val="1C1C1C"/>
                </a:solidFill>
                <a:latin typeface="Segoe UI"/>
                <a:ea typeface="Segoe UI"/>
                <a:cs typeface="Segoe UI"/>
              </a:rPr>
              <a:t>General web</a:t>
            </a:r>
            <a:endParaRPr sz="1170"/>
          </a:p>
        </p:txBody>
      </p:sp>
      <p:sp>
        <p:nvSpPr>
          <p:cNvPr id="30" name="Text 28">
            <a:extLst xmlns:a="http://schemas.openxmlformats.org/drawingml/2006/main">
              <a:ext uri="{FF2B5EF4-FFF2-40B4-BE49-F238E27FC236}">
                <a16:creationId xmlns:a16="http://schemas.microsoft.com/office/drawing/2014/main" id="{B2891C04-2760-4698-B130-996EBC6E42E1}"/>
              </a:ext>
            </a:extLst>
          </p:cNvPr>
          <p:cNvSpPr>
            <a:spLocks xmlns:a="http://schemas.openxmlformats.org/drawingml/2006/main" noGrp="1"/>
          </p:cNvSpPr>
          <p:nvPr/>
        </p:nvSpPr>
        <p:spPr>
          <a:xfrm xmlns:a="http://schemas.openxmlformats.org/drawingml/2006/main">
            <a:off x="1188720" y="5202936"/>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80">
                <a:solidFill>
                  <a:srgbClr val="6B7280"/>
                </a:solidFill>
                <a:latin typeface="Segoe UI"/>
                <a:ea typeface="Segoe UI"/>
                <a:cs typeface="Segoe UI"/>
              </a:rPr>
              <a:t>Only if stronger sources are unavailable</a:t>
            </a:r>
            <a:endParaRPr sz="880"/>
          </a:p>
        </p:txBody>
      </p:sp>
      <p:sp>
        <p:nvSpPr>
          <p:cNvPr id="31" name="Shape 29">
            <a:extLst xmlns:a="http://schemas.openxmlformats.org/drawingml/2006/main">
              <a:ext uri="{FF2B5EF4-FFF2-40B4-BE49-F238E27FC236}">
                <a16:creationId xmlns:a16="http://schemas.microsoft.com/office/drawing/2014/main" id="{81E6AF62-6F5C-487A-8EB0-7A70DCB0E585}"/>
              </a:ext>
            </a:extLst>
          </p:cNvPr>
          <p:cNvSpPr>
            <a:spLocks xmlns:a="http://schemas.openxmlformats.org/drawingml/2006/main" noGrp="1"/>
          </p:cNvSpPr>
          <p:nvPr/>
        </p:nvSpPr>
        <p:spPr>
          <a:xfrm xmlns:a="http://schemas.openxmlformats.org/drawingml/2006/main">
            <a:off x="4526280" y="2331720"/>
            <a:ext cx="2926080" cy="3182112"/>
          </a:xfrm>
          <a:prstGeom xmlns:a="http://schemas.openxmlformats.org/drawingml/2006/main" prst="roundRect">
            <a:avLst>
              <a:gd name="adj" fmla="val 3750"/>
            </a:avLst>
          </a:prstGeom>
          <a:solidFill xmlns:a="http://schemas.openxmlformats.org/drawingml/2006/main">
            <a:srgbClr val="F7F9FB"/>
          </a:solidFill>
          <a:ln xmlns:a="http://schemas.openxmlformats.org/drawingml/2006/main" w="10160">
            <a:solidFill>
              <a:srgbClr val="E1E4EA"/>
            </a:solidFill>
            <a:prstDash val="solid"/>
          </a:ln>
        </p:spPr>
      </p:sp>
      <p:sp>
        <p:nvSpPr>
          <p:cNvPr id="32" name="Text 30">
            <a:extLst xmlns:a="http://schemas.openxmlformats.org/drawingml/2006/main">
              <a:ext uri="{FF2B5EF4-FFF2-40B4-BE49-F238E27FC236}">
                <a16:creationId xmlns:a16="http://schemas.microsoft.com/office/drawing/2014/main" id="{84A12619-F80E-4242-B787-1007DC0FF555}"/>
              </a:ext>
            </a:extLst>
          </p:cNvPr>
          <p:cNvSpPr>
            <a:spLocks xmlns:a="http://schemas.openxmlformats.org/drawingml/2006/main" noGrp="1"/>
          </p:cNvSpPr>
          <p:nvPr/>
        </p:nvSpPr>
        <p:spPr>
          <a:xfrm xmlns:a="http://schemas.openxmlformats.org/drawingml/2006/main">
            <a:off x="4800600" y="2578608"/>
            <a:ext cx="23774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6B7280"/>
                </a:solidFill>
                <a:latin typeface="Segoe UI"/>
                <a:ea typeface="Segoe UI"/>
                <a:cs typeface="Segoe UI"/>
              </a:rPr>
              <a:t>AGENT REASONING</a:t>
            </a:r>
            <a:endParaRPr sz="1000"/>
          </a:p>
        </p:txBody>
      </p:sp>
      <p:sp>
        <p:nvSpPr>
          <p:cNvPr id="33" name="Shape 31">
            <a:extLst xmlns:a="http://schemas.openxmlformats.org/drawingml/2006/main">
              <a:ext uri="{FF2B5EF4-FFF2-40B4-BE49-F238E27FC236}">
                <a16:creationId xmlns:a16="http://schemas.microsoft.com/office/drawing/2014/main" id="{A35E3D64-5E8B-4888-8870-31A157E7B82C}"/>
              </a:ext>
            </a:extLst>
          </p:cNvPr>
          <p:cNvSpPr>
            <a:spLocks xmlns:a="http://schemas.openxmlformats.org/drawingml/2006/main" noGrp="1"/>
          </p:cNvSpPr>
          <p:nvPr/>
        </p:nvSpPr>
        <p:spPr>
          <a:xfrm xmlns:a="http://schemas.openxmlformats.org/drawingml/2006/main">
            <a:off x="4983480" y="2971800"/>
            <a:ext cx="2011680" cy="301752"/>
          </a:xfrm>
          <a:prstGeom xmlns:a="http://schemas.openxmlformats.org/drawingml/2006/main" prst="roundRect">
            <a:avLst/>
          </a:prstGeom>
          <a:solidFill xmlns:a="http://schemas.openxmlformats.org/drawingml/2006/main">
            <a:srgbClr val="C8CBD0"/>
          </a:solidFill>
          <a:ln xmlns:a="http://schemas.openxmlformats.org/drawingml/2006/main" w="12700">
            <a:solidFill>
              <a:srgbClr val="E1E4EA"/>
            </a:solidFill>
            <a:prstDash val="solid"/>
          </a:ln>
        </p:spPr>
      </p:sp>
      <p:sp>
        <p:nvSpPr>
          <p:cNvPr id="34" name="Text 32">
            <a:extLst xmlns:a="http://schemas.openxmlformats.org/drawingml/2006/main">
              <a:ext uri="{FF2B5EF4-FFF2-40B4-BE49-F238E27FC236}">
                <a16:creationId xmlns:a16="http://schemas.microsoft.com/office/drawing/2014/main" id="{FC253B15-37FC-493E-B9B0-DC04C0D4D8CC}"/>
              </a:ext>
            </a:extLst>
          </p:cNvPr>
          <p:cNvSpPr>
            <a:spLocks xmlns:a="http://schemas.openxmlformats.org/drawingml/2006/main" noGrp="1"/>
          </p:cNvSpPr>
          <p:nvPr/>
        </p:nvSpPr>
        <p:spPr>
          <a:xfrm xmlns:a="http://schemas.openxmlformats.org/drawingml/2006/main">
            <a:off x="4983480" y="3054096"/>
            <a:ext cx="20116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C1C1C"/>
                </a:solidFill>
                <a:latin typeface="Segoe UI"/>
                <a:ea typeface="Segoe UI"/>
                <a:cs typeface="Segoe UI"/>
              </a:rPr>
              <a:t>RETRIEVE</a:t>
            </a:r>
            <a:endParaRPr sz="880"/>
          </a:p>
        </p:txBody>
      </p:sp>
      <p:sp>
        <p:nvSpPr>
          <p:cNvPr id="35" name="Shape 33">
            <a:extLst xmlns:a="http://schemas.openxmlformats.org/drawingml/2006/main">
              <a:ext uri="{FF2B5EF4-FFF2-40B4-BE49-F238E27FC236}">
                <a16:creationId xmlns:a16="http://schemas.microsoft.com/office/drawing/2014/main" id="{79BD9903-22F9-4427-85AA-511C0CD991BC}"/>
              </a:ext>
            </a:extLst>
          </p:cNvPr>
          <p:cNvSpPr>
            <a:spLocks xmlns:a="http://schemas.openxmlformats.org/drawingml/2006/main" noGrp="1"/>
          </p:cNvSpPr>
          <p:nvPr/>
        </p:nvSpPr>
        <p:spPr>
          <a:xfrm xmlns:a="http://schemas.openxmlformats.org/drawingml/2006/main" rot="5400000">
            <a:off x="5815584" y="3300984"/>
            <a:ext cx="347472" cy="164592"/>
          </a:xfrm>
          <a:prstGeom xmlns:a="http://schemas.openxmlformats.org/drawingml/2006/main" prst="chevron">
            <a:avLst/>
          </a:prstGeom>
          <a:solidFill xmlns:a="http://schemas.openxmlformats.org/drawingml/2006/main">
            <a:srgbClr val="F59E0B"/>
          </a:solidFill>
          <a:ln xmlns:a="http://schemas.openxmlformats.org/drawingml/2006/main" w="12700">
            <a:solidFill>
              <a:srgbClr val="F59E0B"/>
            </a:solidFill>
            <a:prstDash val="solid"/>
          </a:ln>
        </p:spPr>
      </p:sp>
      <p:sp>
        <p:nvSpPr>
          <p:cNvPr id="36" name="Shape 34">
            <a:extLst xmlns:a="http://schemas.openxmlformats.org/drawingml/2006/main">
              <a:ext uri="{FF2B5EF4-FFF2-40B4-BE49-F238E27FC236}">
                <a16:creationId xmlns:a16="http://schemas.microsoft.com/office/drawing/2014/main" id="{017605F0-9CEB-4AB6-B108-4120E45A7C6B}"/>
              </a:ext>
            </a:extLst>
          </p:cNvPr>
          <p:cNvSpPr>
            <a:spLocks xmlns:a="http://schemas.openxmlformats.org/drawingml/2006/main" noGrp="1"/>
          </p:cNvSpPr>
          <p:nvPr/>
        </p:nvSpPr>
        <p:spPr>
          <a:xfrm xmlns:a="http://schemas.openxmlformats.org/drawingml/2006/main">
            <a:off x="4983480" y="3410712"/>
            <a:ext cx="2011680" cy="301752"/>
          </a:xfrm>
          <a:prstGeom xmlns:a="http://schemas.openxmlformats.org/drawingml/2006/main" prst="roundRect">
            <a:avLst/>
          </a:prstGeom>
          <a:solidFill xmlns:a="http://schemas.openxmlformats.org/drawingml/2006/main">
            <a:srgbClr val="C8CBD0"/>
          </a:solidFill>
          <a:ln xmlns:a="http://schemas.openxmlformats.org/drawingml/2006/main" w="12700">
            <a:solidFill>
              <a:srgbClr val="E1E4EA"/>
            </a:solidFill>
            <a:prstDash val="solid"/>
          </a:ln>
        </p:spPr>
      </p:sp>
      <p:sp>
        <p:nvSpPr>
          <p:cNvPr id="37" name="Text 35">
            <a:extLst xmlns:a="http://schemas.openxmlformats.org/drawingml/2006/main">
              <a:ext uri="{FF2B5EF4-FFF2-40B4-BE49-F238E27FC236}">
                <a16:creationId xmlns:a16="http://schemas.microsoft.com/office/drawing/2014/main" id="{8C4DB5D5-EC27-4138-BDCA-B2D2762BC28C}"/>
              </a:ext>
            </a:extLst>
          </p:cNvPr>
          <p:cNvSpPr>
            <a:spLocks xmlns:a="http://schemas.openxmlformats.org/drawingml/2006/main" noGrp="1"/>
          </p:cNvSpPr>
          <p:nvPr/>
        </p:nvSpPr>
        <p:spPr>
          <a:xfrm xmlns:a="http://schemas.openxmlformats.org/drawingml/2006/main">
            <a:off x="4983480" y="3493008"/>
            <a:ext cx="20116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C1C1C"/>
                </a:solidFill>
                <a:latin typeface="Segoe UI"/>
                <a:ea typeface="Segoe UI"/>
                <a:cs typeface="Segoe UI"/>
              </a:rPr>
              <a:t>CLASSIFY SOURCE</a:t>
            </a:r>
            <a:endParaRPr sz="880"/>
          </a:p>
        </p:txBody>
      </p:sp>
      <p:sp>
        <p:nvSpPr>
          <p:cNvPr id="38" name="Shape 36">
            <a:extLst xmlns:a="http://schemas.openxmlformats.org/drawingml/2006/main">
              <a:ext uri="{FF2B5EF4-FFF2-40B4-BE49-F238E27FC236}">
                <a16:creationId xmlns:a16="http://schemas.microsoft.com/office/drawing/2014/main" id="{C40D84D2-D1B1-453C-B22D-2E8F6FE56200}"/>
              </a:ext>
            </a:extLst>
          </p:cNvPr>
          <p:cNvSpPr>
            <a:spLocks xmlns:a="http://schemas.openxmlformats.org/drawingml/2006/main" noGrp="1"/>
          </p:cNvSpPr>
          <p:nvPr/>
        </p:nvSpPr>
        <p:spPr>
          <a:xfrm xmlns:a="http://schemas.openxmlformats.org/drawingml/2006/main" rot="5400000">
            <a:off x="5815584" y="3739896"/>
            <a:ext cx="347472" cy="164592"/>
          </a:xfrm>
          <a:prstGeom xmlns:a="http://schemas.openxmlformats.org/drawingml/2006/main" prst="chevron">
            <a:avLst/>
          </a:prstGeom>
          <a:solidFill xmlns:a="http://schemas.openxmlformats.org/drawingml/2006/main">
            <a:srgbClr val="F59E0B"/>
          </a:solidFill>
          <a:ln xmlns:a="http://schemas.openxmlformats.org/drawingml/2006/main" w="12700">
            <a:solidFill>
              <a:srgbClr val="F59E0B"/>
            </a:solidFill>
            <a:prstDash val="solid"/>
          </a:ln>
        </p:spPr>
      </p:sp>
      <p:sp>
        <p:nvSpPr>
          <p:cNvPr id="39" name="Shape 37">
            <a:extLst xmlns:a="http://schemas.openxmlformats.org/drawingml/2006/main">
              <a:ext uri="{FF2B5EF4-FFF2-40B4-BE49-F238E27FC236}">
                <a16:creationId xmlns:a16="http://schemas.microsoft.com/office/drawing/2014/main" id="{8C4F7F9D-9F7E-4588-97B6-8353130AC5CA}"/>
              </a:ext>
            </a:extLst>
          </p:cNvPr>
          <p:cNvSpPr>
            <a:spLocks xmlns:a="http://schemas.openxmlformats.org/drawingml/2006/main" noGrp="1"/>
          </p:cNvSpPr>
          <p:nvPr/>
        </p:nvSpPr>
        <p:spPr>
          <a:xfrm xmlns:a="http://schemas.openxmlformats.org/drawingml/2006/main">
            <a:off x="4983480" y="3849624"/>
            <a:ext cx="2011680" cy="301752"/>
          </a:xfrm>
          <a:prstGeom xmlns:a="http://schemas.openxmlformats.org/drawingml/2006/main" prst="roundRect">
            <a:avLst/>
          </a:prstGeom>
          <a:solidFill xmlns:a="http://schemas.openxmlformats.org/drawingml/2006/main">
            <a:srgbClr val="C8CBD0"/>
          </a:solidFill>
          <a:ln xmlns:a="http://schemas.openxmlformats.org/drawingml/2006/main" w="12700">
            <a:solidFill>
              <a:srgbClr val="E1E4EA"/>
            </a:solidFill>
            <a:prstDash val="solid"/>
          </a:ln>
        </p:spPr>
      </p:sp>
      <p:sp>
        <p:nvSpPr>
          <p:cNvPr id="40" name="Text 38">
            <a:extLst xmlns:a="http://schemas.openxmlformats.org/drawingml/2006/main">
              <a:ext uri="{FF2B5EF4-FFF2-40B4-BE49-F238E27FC236}">
                <a16:creationId xmlns:a16="http://schemas.microsoft.com/office/drawing/2014/main" id="{D0531B03-8319-4605-89B3-31F3184C45A2}"/>
              </a:ext>
            </a:extLst>
          </p:cNvPr>
          <p:cNvSpPr>
            <a:spLocks xmlns:a="http://schemas.openxmlformats.org/drawingml/2006/main" noGrp="1"/>
          </p:cNvSpPr>
          <p:nvPr/>
        </p:nvSpPr>
        <p:spPr>
          <a:xfrm xmlns:a="http://schemas.openxmlformats.org/drawingml/2006/main">
            <a:off x="4983480" y="3931920"/>
            <a:ext cx="20116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C1C1C"/>
                </a:solidFill>
                <a:latin typeface="Segoe UI"/>
                <a:ea typeface="Segoe UI"/>
                <a:cs typeface="Segoe UI"/>
              </a:rPr>
              <a:t>APPLY PRECEDENCE</a:t>
            </a:r>
            <a:endParaRPr sz="880"/>
          </a:p>
        </p:txBody>
      </p:sp>
      <p:sp>
        <p:nvSpPr>
          <p:cNvPr id="41" name="Shape 39">
            <a:extLst xmlns:a="http://schemas.openxmlformats.org/drawingml/2006/main">
              <a:ext uri="{FF2B5EF4-FFF2-40B4-BE49-F238E27FC236}">
                <a16:creationId xmlns:a16="http://schemas.microsoft.com/office/drawing/2014/main" id="{1AD1B564-9E82-4778-B4A3-473DF9C128A8}"/>
              </a:ext>
            </a:extLst>
          </p:cNvPr>
          <p:cNvSpPr>
            <a:spLocks xmlns:a="http://schemas.openxmlformats.org/drawingml/2006/main" noGrp="1"/>
          </p:cNvSpPr>
          <p:nvPr/>
        </p:nvSpPr>
        <p:spPr>
          <a:xfrm xmlns:a="http://schemas.openxmlformats.org/drawingml/2006/main" rot="5400000">
            <a:off x="5815584" y="4178808"/>
            <a:ext cx="347472" cy="164592"/>
          </a:xfrm>
          <a:prstGeom xmlns:a="http://schemas.openxmlformats.org/drawingml/2006/main" prst="chevron">
            <a:avLst/>
          </a:prstGeom>
          <a:solidFill xmlns:a="http://schemas.openxmlformats.org/drawingml/2006/main">
            <a:srgbClr val="F59E0B"/>
          </a:solidFill>
          <a:ln xmlns:a="http://schemas.openxmlformats.org/drawingml/2006/main" w="12700">
            <a:solidFill>
              <a:srgbClr val="F59E0B"/>
            </a:solidFill>
            <a:prstDash val="solid"/>
          </a:ln>
        </p:spPr>
      </p:sp>
      <p:sp>
        <p:nvSpPr>
          <p:cNvPr id="42" name="Shape 40">
            <a:extLst xmlns:a="http://schemas.openxmlformats.org/drawingml/2006/main">
              <a:ext uri="{FF2B5EF4-FFF2-40B4-BE49-F238E27FC236}">
                <a16:creationId xmlns:a16="http://schemas.microsoft.com/office/drawing/2014/main" id="{C35BD4FD-CE2D-4970-852A-78F4E23607A2}"/>
              </a:ext>
            </a:extLst>
          </p:cNvPr>
          <p:cNvSpPr>
            <a:spLocks xmlns:a="http://schemas.openxmlformats.org/drawingml/2006/main" noGrp="1"/>
          </p:cNvSpPr>
          <p:nvPr/>
        </p:nvSpPr>
        <p:spPr>
          <a:xfrm xmlns:a="http://schemas.openxmlformats.org/drawingml/2006/main">
            <a:off x="4983480" y="4288536"/>
            <a:ext cx="2011680" cy="301752"/>
          </a:xfrm>
          <a:prstGeom xmlns:a="http://schemas.openxmlformats.org/drawingml/2006/main" prst="roundRect">
            <a:avLst/>
          </a:prstGeom>
          <a:solidFill xmlns:a="http://schemas.openxmlformats.org/drawingml/2006/main">
            <a:srgbClr val="C8CBD0"/>
          </a:solidFill>
          <a:ln xmlns:a="http://schemas.openxmlformats.org/drawingml/2006/main" w="12700">
            <a:solidFill>
              <a:srgbClr val="E1E4EA"/>
            </a:solidFill>
            <a:prstDash val="solid"/>
          </a:ln>
        </p:spPr>
      </p:sp>
      <p:sp>
        <p:nvSpPr>
          <p:cNvPr id="43" name="Text 41">
            <a:extLst xmlns:a="http://schemas.openxmlformats.org/drawingml/2006/main">
              <a:ext uri="{FF2B5EF4-FFF2-40B4-BE49-F238E27FC236}">
                <a16:creationId xmlns:a16="http://schemas.microsoft.com/office/drawing/2014/main" id="{B91038C1-E62B-4BD0-93E2-57DDF54085E0}"/>
              </a:ext>
            </a:extLst>
          </p:cNvPr>
          <p:cNvSpPr>
            <a:spLocks xmlns:a="http://schemas.openxmlformats.org/drawingml/2006/main" noGrp="1"/>
          </p:cNvSpPr>
          <p:nvPr/>
        </p:nvSpPr>
        <p:spPr>
          <a:xfrm xmlns:a="http://schemas.openxmlformats.org/drawingml/2006/main">
            <a:off x="4983480" y="4370832"/>
            <a:ext cx="20116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C1C1C"/>
                </a:solidFill>
                <a:latin typeface="Segoe UI"/>
                <a:ea typeface="Segoe UI"/>
                <a:cs typeface="Segoe UI"/>
              </a:rPr>
              <a:t>VERIFY</a:t>
            </a:r>
            <a:endParaRPr sz="880"/>
          </a:p>
        </p:txBody>
      </p:sp>
      <p:sp>
        <p:nvSpPr>
          <p:cNvPr id="44" name="Shape 42">
            <a:extLst xmlns:a="http://schemas.openxmlformats.org/drawingml/2006/main">
              <a:ext uri="{FF2B5EF4-FFF2-40B4-BE49-F238E27FC236}">
                <a16:creationId xmlns:a16="http://schemas.microsoft.com/office/drawing/2014/main" id="{6FA61D3B-61E9-4D08-9457-C97557468D35}"/>
              </a:ext>
            </a:extLst>
          </p:cNvPr>
          <p:cNvSpPr>
            <a:spLocks xmlns:a="http://schemas.openxmlformats.org/drawingml/2006/main" noGrp="1"/>
          </p:cNvSpPr>
          <p:nvPr/>
        </p:nvSpPr>
        <p:spPr>
          <a:xfrm xmlns:a="http://schemas.openxmlformats.org/drawingml/2006/main" rot="5400000">
            <a:off x="5815584" y="4617720"/>
            <a:ext cx="347472" cy="164592"/>
          </a:xfrm>
          <a:prstGeom xmlns:a="http://schemas.openxmlformats.org/drawingml/2006/main" prst="chevron">
            <a:avLst/>
          </a:prstGeom>
          <a:solidFill xmlns:a="http://schemas.openxmlformats.org/drawingml/2006/main">
            <a:srgbClr val="F59E0B"/>
          </a:solidFill>
          <a:ln xmlns:a="http://schemas.openxmlformats.org/drawingml/2006/main" w="12700">
            <a:solidFill>
              <a:srgbClr val="F59E0B"/>
            </a:solidFill>
            <a:prstDash val="solid"/>
          </a:ln>
        </p:spPr>
      </p:sp>
      <p:sp>
        <p:nvSpPr>
          <p:cNvPr id="45" name="Shape 43">
            <a:extLst xmlns:a="http://schemas.openxmlformats.org/drawingml/2006/main">
              <a:ext uri="{FF2B5EF4-FFF2-40B4-BE49-F238E27FC236}">
                <a16:creationId xmlns:a16="http://schemas.microsoft.com/office/drawing/2014/main" id="{EEFA0DAF-3C08-4D44-8AA7-69EFE072AC8B}"/>
              </a:ext>
            </a:extLst>
          </p:cNvPr>
          <p:cNvSpPr>
            <a:spLocks xmlns:a="http://schemas.openxmlformats.org/drawingml/2006/main" noGrp="1"/>
          </p:cNvSpPr>
          <p:nvPr/>
        </p:nvSpPr>
        <p:spPr>
          <a:xfrm xmlns:a="http://schemas.openxmlformats.org/drawingml/2006/main">
            <a:off x="4983480" y="4727448"/>
            <a:ext cx="2011680" cy="301752"/>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46" name="Text 44">
            <a:extLst xmlns:a="http://schemas.openxmlformats.org/drawingml/2006/main">
              <a:ext uri="{FF2B5EF4-FFF2-40B4-BE49-F238E27FC236}">
                <a16:creationId xmlns:a16="http://schemas.microsoft.com/office/drawing/2014/main" id="{1A24FB2C-0651-4E54-8136-DDD1E26FAF82}"/>
              </a:ext>
            </a:extLst>
          </p:cNvPr>
          <p:cNvSpPr>
            <a:spLocks xmlns:a="http://schemas.openxmlformats.org/drawingml/2006/main" noGrp="1"/>
          </p:cNvSpPr>
          <p:nvPr/>
        </p:nvSpPr>
        <p:spPr>
          <a:xfrm xmlns:a="http://schemas.openxmlformats.org/drawingml/2006/main">
            <a:off x="4983480" y="4809744"/>
            <a:ext cx="20116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 b="1">
                <a:solidFill>
                  <a:srgbClr val="1C1C1C"/>
                </a:solidFill>
                <a:latin typeface="Segoe UI"/>
                <a:ea typeface="Segoe UI"/>
                <a:cs typeface="Segoe UI"/>
              </a:rPr>
              <a:t>ANSWER OR REFUSE</a:t>
            </a:r>
            <a:endParaRPr sz="880"/>
          </a:p>
        </p:txBody>
      </p:sp>
      <p:sp>
        <p:nvSpPr>
          <p:cNvPr id="47" name="Shape 45">
            <a:extLst xmlns:a="http://schemas.openxmlformats.org/drawingml/2006/main">
              <a:ext uri="{FF2B5EF4-FFF2-40B4-BE49-F238E27FC236}">
                <a16:creationId xmlns:a16="http://schemas.microsoft.com/office/drawing/2014/main" id="{3FAFE5A4-4957-483A-B68A-726506D8E26F}"/>
              </a:ext>
            </a:extLst>
          </p:cNvPr>
          <p:cNvSpPr>
            <a:spLocks xmlns:a="http://schemas.openxmlformats.org/drawingml/2006/main" noGrp="1"/>
          </p:cNvSpPr>
          <p:nvPr/>
        </p:nvSpPr>
        <p:spPr>
          <a:xfrm xmlns:a="http://schemas.openxmlformats.org/drawingml/2006/main">
            <a:off x="7790688" y="2331720"/>
            <a:ext cx="3886200" cy="3182112"/>
          </a:xfrm>
          <a:prstGeom xmlns:a="http://schemas.openxmlformats.org/drawingml/2006/main" prst="roundRect">
            <a:avLst>
              <a:gd name="adj" fmla="val 3448"/>
            </a:avLst>
          </a:prstGeom>
          <a:solidFill xmlns:a="http://schemas.openxmlformats.org/drawingml/2006/main">
            <a:srgbClr val="F4F4F5"/>
          </a:solidFill>
          <a:ln xmlns:a="http://schemas.openxmlformats.org/drawingml/2006/main" w="10160">
            <a:solidFill>
              <a:srgbClr val="E1E4EA"/>
            </a:solidFill>
            <a:prstDash val="solid"/>
          </a:ln>
        </p:spPr>
      </p:sp>
      <p:sp>
        <p:nvSpPr>
          <p:cNvPr id="48" name="Text 46">
            <a:extLst xmlns:a="http://schemas.openxmlformats.org/drawingml/2006/main">
              <a:ext uri="{FF2B5EF4-FFF2-40B4-BE49-F238E27FC236}">
                <a16:creationId xmlns:a16="http://schemas.microsoft.com/office/drawing/2014/main" id="{D467DBB7-307B-4939-A668-A246FAC7F88D}"/>
              </a:ext>
            </a:extLst>
          </p:cNvPr>
          <p:cNvSpPr>
            <a:spLocks xmlns:a="http://schemas.openxmlformats.org/drawingml/2006/main" noGrp="1"/>
          </p:cNvSpPr>
          <p:nvPr/>
        </p:nvSpPr>
        <p:spPr>
          <a:xfrm xmlns:a="http://schemas.openxmlformats.org/drawingml/2006/main">
            <a:off x="8092440" y="2578608"/>
            <a:ext cx="3291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6B7280"/>
                </a:solidFill>
                <a:latin typeface="Segoe UI"/>
                <a:ea typeface="Segoe UI"/>
                <a:cs typeface="Segoe UI"/>
              </a:rPr>
              <a:t>EVERY SAFETY RESPONSE CONTAINS</a:t>
            </a:r>
            <a:endParaRPr sz="1000"/>
          </a:p>
        </p:txBody>
      </p:sp>
      <p:sp>
        <p:nvSpPr>
          <p:cNvPr id="49" name="Shape 47">
            <a:extLst xmlns:a="http://schemas.openxmlformats.org/drawingml/2006/main">
              <a:ext uri="{FF2B5EF4-FFF2-40B4-BE49-F238E27FC236}">
                <a16:creationId xmlns:a16="http://schemas.microsoft.com/office/drawing/2014/main" id="{A09BFE99-E8C5-4B4D-8890-73897B5C5566}"/>
              </a:ext>
            </a:extLst>
          </p:cNvPr>
          <p:cNvSpPr>
            <a:spLocks xmlns:a="http://schemas.openxmlformats.org/drawingml/2006/main" noGrp="1"/>
          </p:cNvSpPr>
          <p:nvPr/>
        </p:nvSpPr>
        <p:spPr>
          <a:xfrm xmlns:a="http://schemas.openxmlformats.org/drawingml/2006/main">
            <a:off x="8092440" y="3017520"/>
            <a:ext cx="329184" cy="329184"/>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50" name="Text 48">
            <a:extLst xmlns:a="http://schemas.openxmlformats.org/drawingml/2006/main">
              <a:ext uri="{FF2B5EF4-FFF2-40B4-BE49-F238E27FC236}">
                <a16:creationId xmlns:a16="http://schemas.microsoft.com/office/drawing/2014/main" id="{589D338D-A718-41E2-BC32-A6ED9ACBE931}"/>
              </a:ext>
            </a:extLst>
          </p:cNvPr>
          <p:cNvSpPr>
            <a:spLocks xmlns:a="http://schemas.openxmlformats.org/drawingml/2006/main" noGrp="1"/>
          </p:cNvSpPr>
          <p:nvPr/>
        </p:nvSpPr>
        <p:spPr>
          <a:xfrm xmlns:a="http://schemas.openxmlformats.org/drawingml/2006/main">
            <a:off x="8092440" y="3067812"/>
            <a:ext cx="329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1</a:t>
            </a:r>
            <a:endParaRPr sz="1400"/>
          </a:p>
        </p:txBody>
      </p:sp>
      <p:sp>
        <p:nvSpPr>
          <p:cNvPr id="51" name="Text 49">
            <a:extLst xmlns:a="http://schemas.openxmlformats.org/drawingml/2006/main">
              <a:ext uri="{FF2B5EF4-FFF2-40B4-BE49-F238E27FC236}">
                <a16:creationId xmlns:a16="http://schemas.microsoft.com/office/drawing/2014/main" id="{45F70671-61E8-46AB-9C5F-A345ECB4BEC9}"/>
              </a:ext>
            </a:extLst>
          </p:cNvPr>
          <p:cNvSpPr>
            <a:spLocks xmlns:a="http://schemas.openxmlformats.org/drawingml/2006/main" noGrp="1"/>
          </p:cNvSpPr>
          <p:nvPr/>
        </p:nvSpPr>
        <p:spPr>
          <a:xfrm xmlns:a="http://schemas.openxmlformats.org/drawingml/2006/main">
            <a:off x="8558784" y="2990088"/>
            <a:ext cx="233172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20" b="1">
                <a:solidFill>
                  <a:srgbClr val="1C1C1C"/>
                </a:solidFill>
                <a:latin typeface="Segoe UI"/>
                <a:ea typeface="Segoe UI"/>
                <a:cs typeface="Segoe UI"/>
              </a:rPr>
              <a:t>FACT</a:t>
            </a:r>
            <a:endParaRPr sz="1020"/>
          </a:p>
        </p:txBody>
      </p:sp>
      <p:sp>
        <p:nvSpPr>
          <p:cNvPr id="52" name="Text 50">
            <a:extLst xmlns:a="http://schemas.openxmlformats.org/drawingml/2006/main">
              <a:ext uri="{FF2B5EF4-FFF2-40B4-BE49-F238E27FC236}">
                <a16:creationId xmlns:a16="http://schemas.microsoft.com/office/drawing/2014/main" id="{4B2E6A0B-CC2C-4F07-B23E-5242B060CF82}"/>
              </a:ext>
            </a:extLst>
          </p:cNvPr>
          <p:cNvSpPr>
            <a:spLocks xmlns:a="http://schemas.openxmlformats.org/drawingml/2006/main" noGrp="1"/>
          </p:cNvSpPr>
          <p:nvPr/>
        </p:nvSpPr>
        <p:spPr>
          <a:xfrm xmlns:a="http://schemas.openxmlformats.org/drawingml/2006/main">
            <a:off x="8558784" y="3191256"/>
            <a:ext cx="26974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70">
                <a:solidFill>
                  <a:srgbClr val="6B7280"/>
                </a:solidFill>
                <a:latin typeface="Segoe UI"/>
                <a:ea typeface="Segoe UI"/>
                <a:cs typeface="Segoe UI"/>
              </a:rPr>
              <a:t>Current condition or verified procedure</a:t>
            </a:r>
            <a:endParaRPr sz="870"/>
          </a:p>
        </p:txBody>
      </p:sp>
      <p:sp>
        <p:nvSpPr>
          <p:cNvPr id="53" name="Shape 51">
            <a:extLst xmlns:a="http://schemas.openxmlformats.org/drawingml/2006/main">
              <a:ext uri="{FF2B5EF4-FFF2-40B4-BE49-F238E27FC236}">
                <a16:creationId xmlns:a16="http://schemas.microsoft.com/office/drawing/2014/main" id="{04C07EA2-938F-4B19-8B6C-BCD64200B7B1}"/>
              </a:ext>
            </a:extLst>
          </p:cNvPr>
          <p:cNvSpPr>
            <a:spLocks xmlns:a="http://schemas.openxmlformats.org/drawingml/2006/main" noGrp="1"/>
          </p:cNvSpPr>
          <p:nvPr/>
        </p:nvSpPr>
        <p:spPr>
          <a:xfrm xmlns:a="http://schemas.openxmlformats.org/drawingml/2006/main">
            <a:off x="8092440" y="3547872"/>
            <a:ext cx="329184" cy="329184"/>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54" name="Text 52">
            <a:extLst xmlns:a="http://schemas.openxmlformats.org/drawingml/2006/main">
              <a:ext uri="{FF2B5EF4-FFF2-40B4-BE49-F238E27FC236}">
                <a16:creationId xmlns:a16="http://schemas.microsoft.com/office/drawing/2014/main" id="{E8669777-5D8C-46C0-8B5A-B773435E26BB}"/>
              </a:ext>
            </a:extLst>
          </p:cNvPr>
          <p:cNvSpPr>
            <a:spLocks xmlns:a="http://schemas.openxmlformats.org/drawingml/2006/main" noGrp="1"/>
          </p:cNvSpPr>
          <p:nvPr/>
        </p:nvSpPr>
        <p:spPr>
          <a:xfrm xmlns:a="http://schemas.openxmlformats.org/drawingml/2006/main">
            <a:off x="8092440" y="3598164"/>
            <a:ext cx="329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2</a:t>
            </a:r>
            <a:endParaRPr sz="1400"/>
          </a:p>
        </p:txBody>
      </p:sp>
      <p:sp>
        <p:nvSpPr>
          <p:cNvPr id="55" name="Text 53">
            <a:extLst xmlns:a="http://schemas.openxmlformats.org/drawingml/2006/main">
              <a:ext uri="{FF2B5EF4-FFF2-40B4-BE49-F238E27FC236}">
                <a16:creationId xmlns:a16="http://schemas.microsoft.com/office/drawing/2014/main" id="{EC517142-935F-461E-8CE5-1E1F3785B468}"/>
              </a:ext>
            </a:extLst>
          </p:cNvPr>
          <p:cNvSpPr>
            <a:spLocks xmlns:a="http://schemas.openxmlformats.org/drawingml/2006/main" noGrp="1"/>
          </p:cNvSpPr>
          <p:nvPr/>
        </p:nvSpPr>
        <p:spPr>
          <a:xfrm xmlns:a="http://schemas.openxmlformats.org/drawingml/2006/main">
            <a:off x="8558784" y="3520440"/>
            <a:ext cx="233172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20" b="1">
                <a:solidFill>
                  <a:srgbClr val="1C1C1C"/>
                </a:solidFill>
                <a:latin typeface="Segoe UI"/>
                <a:ea typeface="Segoe UI"/>
                <a:cs typeface="Segoe UI"/>
              </a:rPr>
              <a:t>SOURCE</a:t>
            </a:r>
            <a:endParaRPr sz="1020"/>
          </a:p>
        </p:txBody>
      </p:sp>
      <p:sp>
        <p:nvSpPr>
          <p:cNvPr id="56" name="Text 54">
            <a:extLst xmlns:a="http://schemas.openxmlformats.org/drawingml/2006/main">
              <a:ext uri="{FF2B5EF4-FFF2-40B4-BE49-F238E27FC236}">
                <a16:creationId xmlns:a16="http://schemas.microsoft.com/office/drawing/2014/main" id="{5EA7AA6F-E17D-4F0C-87F7-494C45096742}"/>
              </a:ext>
            </a:extLst>
          </p:cNvPr>
          <p:cNvSpPr>
            <a:spLocks xmlns:a="http://schemas.openxmlformats.org/drawingml/2006/main" noGrp="1"/>
          </p:cNvSpPr>
          <p:nvPr/>
        </p:nvSpPr>
        <p:spPr>
          <a:xfrm xmlns:a="http://schemas.openxmlformats.org/drawingml/2006/main">
            <a:off x="8558784" y="3721608"/>
            <a:ext cx="26974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70">
                <a:solidFill>
                  <a:srgbClr val="6B7280"/>
                </a:solidFill>
                <a:latin typeface="Segoe UI"/>
                <a:ea typeface="Segoe UI"/>
                <a:cs typeface="Segoe UI"/>
              </a:rPr>
              <a:t>Document, section or external authority</a:t>
            </a:r>
            <a:endParaRPr sz="870"/>
          </a:p>
        </p:txBody>
      </p:sp>
      <p:sp>
        <p:nvSpPr>
          <p:cNvPr id="57" name="Shape 55">
            <a:extLst xmlns:a="http://schemas.openxmlformats.org/drawingml/2006/main">
              <a:ext uri="{FF2B5EF4-FFF2-40B4-BE49-F238E27FC236}">
                <a16:creationId xmlns:a16="http://schemas.microsoft.com/office/drawing/2014/main" id="{7DF4FBFD-09EB-40C9-AFAD-DBC6C3AD45EE}"/>
              </a:ext>
            </a:extLst>
          </p:cNvPr>
          <p:cNvSpPr>
            <a:spLocks xmlns:a="http://schemas.openxmlformats.org/drawingml/2006/main" noGrp="1"/>
          </p:cNvSpPr>
          <p:nvPr/>
        </p:nvSpPr>
        <p:spPr>
          <a:xfrm xmlns:a="http://schemas.openxmlformats.org/drawingml/2006/main">
            <a:off x="8092440" y="4078224"/>
            <a:ext cx="329184" cy="329184"/>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58" name="Text 56">
            <a:extLst xmlns:a="http://schemas.openxmlformats.org/drawingml/2006/main">
              <a:ext uri="{FF2B5EF4-FFF2-40B4-BE49-F238E27FC236}">
                <a16:creationId xmlns:a16="http://schemas.microsoft.com/office/drawing/2014/main" id="{16730A56-3FCF-45EE-B658-83574833CDCC}"/>
              </a:ext>
            </a:extLst>
          </p:cNvPr>
          <p:cNvSpPr>
            <a:spLocks xmlns:a="http://schemas.openxmlformats.org/drawingml/2006/main" noGrp="1"/>
          </p:cNvSpPr>
          <p:nvPr/>
        </p:nvSpPr>
        <p:spPr>
          <a:xfrm xmlns:a="http://schemas.openxmlformats.org/drawingml/2006/main">
            <a:off x="8092440" y="4128516"/>
            <a:ext cx="329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3</a:t>
            </a:r>
            <a:endParaRPr sz="1400"/>
          </a:p>
        </p:txBody>
      </p:sp>
      <p:sp>
        <p:nvSpPr>
          <p:cNvPr id="59" name="Text 57">
            <a:extLst xmlns:a="http://schemas.openxmlformats.org/drawingml/2006/main">
              <a:ext uri="{FF2B5EF4-FFF2-40B4-BE49-F238E27FC236}">
                <a16:creationId xmlns:a16="http://schemas.microsoft.com/office/drawing/2014/main" id="{D91B7F82-20B1-4089-8697-643C410AEF8C}"/>
              </a:ext>
            </a:extLst>
          </p:cNvPr>
          <p:cNvSpPr>
            <a:spLocks xmlns:a="http://schemas.openxmlformats.org/drawingml/2006/main" noGrp="1"/>
          </p:cNvSpPr>
          <p:nvPr/>
        </p:nvSpPr>
        <p:spPr>
          <a:xfrm xmlns:a="http://schemas.openxmlformats.org/drawingml/2006/main">
            <a:off x="8558784" y="4050792"/>
            <a:ext cx="233172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20" b="1">
                <a:solidFill>
                  <a:srgbClr val="1C1C1C"/>
                </a:solidFill>
                <a:latin typeface="Segoe UI"/>
                <a:ea typeface="Segoe UI"/>
                <a:cs typeface="Segoe UI"/>
              </a:rPr>
              <a:t>POLICY IMPLICATION</a:t>
            </a:r>
            <a:endParaRPr sz="1020"/>
          </a:p>
        </p:txBody>
      </p:sp>
      <p:sp>
        <p:nvSpPr>
          <p:cNvPr id="60" name="Text 58">
            <a:extLst xmlns:a="http://schemas.openxmlformats.org/drawingml/2006/main">
              <a:ext uri="{FF2B5EF4-FFF2-40B4-BE49-F238E27FC236}">
                <a16:creationId xmlns:a16="http://schemas.microsoft.com/office/drawing/2014/main" id="{BD23716D-1B27-4EB5-B085-8601054643C7}"/>
              </a:ext>
            </a:extLst>
          </p:cNvPr>
          <p:cNvSpPr>
            <a:spLocks xmlns:a="http://schemas.openxmlformats.org/drawingml/2006/main" noGrp="1"/>
          </p:cNvSpPr>
          <p:nvPr/>
        </p:nvSpPr>
        <p:spPr>
          <a:xfrm xmlns:a="http://schemas.openxmlformats.org/drawingml/2006/main">
            <a:off x="8558784" y="4251960"/>
            <a:ext cx="26974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70">
                <a:solidFill>
                  <a:srgbClr val="6B7280"/>
                </a:solidFill>
                <a:latin typeface="Segoe UI"/>
                <a:ea typeface="Segoe UI"/>
                <a:cs typeface="Segoe UI"/>
              </a:rPr>
              <a:t>What the source requires or recommends</a:t>
            </a:r>
            <a:endParaRPr sz="870"/>
          </a:p>
        </p:txBody>
      </p:sp>
      <p:sp>
        <p:nvSpPr>
          <p:cNvPr id="61" name="Shape 59">
            <a:extLst xmlns:a="http://schemas.openxmlformats.org/drawingml/2006/main">
              <a:ext uri="{FF2B5EF4-FFF2-40B4-BE49-F238E27FC236}">
                <a16:creationId xmlns:a16="http://schemas.microsoft.com/office/drawing/2014/main" id="{C2A4BCB1-9307-404E-A44F-953C7685CD63}"/>
              </a:ext>
            </a:extLst>
          </p:cNvPr>
          <p:cNvSpPr>
            <a:spLocks xmlns:a="http://schemas.openxmlformats.org/drawingml/2006/main" noGrp="1"/>
          </p:cNvSpPr>
          <p:nvPr/>
        </p:nvSpPr>
        <p:spPr>
          <a:xfrm xmlns:a="http://schemas.openxmlformats.org/drawingml/2006/main">
            <a:off x="8092440" y="4608576"/>
            <a:ext cx="329184" cy="329184"/>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62" name="Text 60">
            <a:extLst xmlns:a="http://schemas.openxmlformats.org/drawingml/2006/main">
              <a:ext uri="{FF2B5EF4-FFF2-40B4-BE49-F238E27FC236}">
                <a16:creationId xmlns:a16="http://schemas.microsoft.com/office/drawing/2014/main" id="{69752BE0-9929-4F2D-84D2-CA902BAB1A4A}"/>
              </a:ext>
            </a:extLst>
          </p:cNvPr>
          <p:cNvSpPr>
            <a:spLocks xmlns:a="http://schemas.openxmlformats.org/drawingml/2006/main" noGrp="1"/>
          </p:cNvSpPr>
          <p:nvPr/>
        </p:nvSpPr>
        <p:spPr>
          <a:xfrm xmlns:a="http://schemas.openxmlformats.org/drawingml/2006/main">
            <a:off x="8092440" y="4658868"/>
            <a:ext cx="329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4</a:t>
            </a:r>
            <a:endParaRPr sz="1400"/>
          </a:p>
        </p:txBody>
      </p:sp>
      <p:sp>
        <p:nvSpPr>
          <p:cNvPr id="63" name="Text 61">
            <a:extLst xmlns:a="http://schemas.openxmlformats.org/drawingml/2006/main">
              <a:ext uri="{FF2B5EF4-FFF2-40B4-BE49-F238E27FC236}">
                <a16:creationId xmlns:a16="http://schemas.microsoft.com/office/drawing/2014/main" id="{67060F6F-4B40-4500-8AF5-8FB6846A331E}"/>
              </a:ext>
            </a:extLst>
          </p:cNvPr>
          <p:cNvSpPr>
            <a:spLocks xmlns:a="http://schemas.openxmlformats.org/drawingml/2006/main" noGrp="1"/>
          </p:cNvSpPr>
          <p:nvPr/>
        </p:nvSpPr>
        <p:spPr>
          <a:xfrm xmlns:a="http://schemas.openxmlformats.org/drawingml/2006/main">
            <a:off x="8558784" y="4581144"/>
            <a:ext cx="233172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20" b="1">
                <a:solidFill>
                  <a:srgbClr val="1C1C1C"/>
                </a:solidFill>
                <a:latin typeface="Segoe UI"/>
                <a:ea typeface="Segoe UI"/>
                <a:cs typeface="Segoe UI"/>
              </a:rPr>
              <a:t>HUMAN ESCALATION</a:t>
            </a:r>
            <a:endParaRPr sz="1020"/>
          </a:p>
        </p:txBody>
      </p:sp>
      <p:sp>
        <p:nvSpPr>
          <p:cNvPr id="64" name="Text 62">
            <a:extLst xmlns:a="http://schemas.openxmlformats.org/drawingml/2006/main">
              <a:ext uri="{FF2B5EF4-FFF2-40B4-BE49-F238E27FC236}">
                <a16:creationId xmlns:a16="http://schemas.microsoft.com/office/drawing/2014/main" id="{80803858-00C2-4F4E-B37A-FCF2A1487381}"/>
              </a:ext>
            </a:extLst>
          </p:cNvPr>
          <p:cNvSpPr>
            <a:spLocks xmlns:a="http://schemas.openxmlformats.org/drawingml/2006/main" noGrp="1"/>
          </p:cNvSpPr>
          <p:nvPr/>
        </p:nvSpPr>
        <p:spPr>
          <a:xfrm xmlns:a="http://schemas.openxmlformats.org/drawingml/2006/main">
            <a:off x="8558784" y="4782312"/>
            <a:ext cx="26974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70">
                <a:solidFill>
                  <a:srgbClr val="6B7280"/>
                </a:solidFill>
                <a:latin typeface="Segoe UI"/>
                <a:ea typeface="Segoe UI"/>
                <a:cs typeface="Segoe UI"/>
              </a:rPr>
              <a:t>Supervisor confirmation before action</a:t>
            </a:r>
            <a:endParaRPr sz="870"/>
          </a:p>
        </p:txBody>
      </p:sp>
      <p:sp>
        <p:nvSpPr>
          <p:cNvPr id="65" name="Shape 63">
            <a:extLst xmlns:a="http://schemas.openxmlformats.org/drawingml/2006/main">
              <a:ext uri="{FF2B5EF4-FFF2-40B4-BE49-F238E27FC236}">
                <a16:creationId xmlns:a16="http://schemas.microsoft.com/office/drawing/2014/main" id="{9622E7D2-5F29-47E8-B61A-CDCE66F8D2AD}"/>
              </a:ext>
            </a:extLst>
          </p:cNvPr>
          <p:cNvSpPr>
            <a:spLocks xmlns:a="http://schemas.openxmlformats.org/drawingml/2006/main" noGrp="1"/>
          </p:cNvSpPr>
          <p:nvPr/>
        </p:nvSpPr>
        <p:spPr>
          <a:xfrm xmlns:a="http://schemas.openxmlformats.org/drawingml/2006/main">
            <a:off x="502920" y="5815584"/>
            <a:ext cx="11173968" cy="402336"/>
          </a:xfrm>
          <a:prstGeom xmlns:a="http://schemas.openxmlformats.org/drawingml/2006/main" prst="roundRect">
            <a:avLst/>
          </a:prstGeom>
          <a:solidFill xmlns:a="http://schemas.openxmlformats.org/drawingml/2006/main">
            <a:srgbClr val="FDEEEE"/>
          </a:solidFill>
          <a:ln xmlns:a="http://schemas.openxmlformats.org/drawingml/2006/main" w="0">
            <a:noFill/>
            <a:prstDash val="solid"/>
          </a:ln>
        </p:spPr>
      </p:sp>
      <p:sp>
        <p:nvSpPr>
          <p:cNvPr id="66" name="Text 64">
            <a:extLst xmlns:a="http://schemas.openxmlformats.org/drawingml/2006/main">
              <a:ext uri="{FF2B5EF4-FFF2-40B4-BE49-F238E27FC236}">
                <a16:creationId xmlns:a16="http://schemas.microsoft.com/office/drawing/2014/main" id="{D64D75F8-3429-4BFE-82E6-E2C4BFA4DC26}"/>
              </a:ext>
            </a:extLst>
          </p:cNvPr>
          <p:cNvSpPr>
            <a:spLocks xmlns:a="http://schemas.openxmlformats.org/drawingml/2006/main" noGrp="1"/>
          </p:cNvSpPr>
          <p:nvPr/>
        </p:nvSpPr>
        <p:spPr>
          <a:xfrm xmlns:a="http://schemas.openxmlformats.org/drawingml/2006/main">
            <a:off x="731520" y="5916168"/>
            <a:ext cx="106984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40" b="1">
                <a:solidFill>
                  <a:srgbClr val="EF4444"/>
                </a:solidFill>
                <a:latin typeface="Segoe UI"/>
                <a:ea typeface="Segoe UI"/>
                <a:cs typeface="Segoe UI"/>
              </a:rPr>
              <a:t>Never invent thresholds. Never let the web override a company SOP. Never decide for the supervisor.</a:t>
            </a:r>
            <a:endParaRPr sz="1140"/>
          </a:p>
        </p:txBody>
      </p:sp>
      <p:sp>
        <p:nvSpPr>
          <p:cNvPr id="67" name="Text 65">
            <a:extLst xmlns:a="http://schemas.openxmlformats.org/drawingml/2006/main">
              <a:ext uri="{FF2B5EF4-FFF2-40B4-BE49-F238E27FC236}">
                <a16:creationId xmlns:a16="http://schemas.microsoft.com/office/drawing/2014/main" id="{857195FF-589C-4801-9806-442A2791A512}"/>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68" name="Slide Number Placeholder 0">
            <a:extLst xmlns:a="http://schemas.openxmlformats.org/drawingml/2006/main">
              <a:ext uri="{FF2B5EF4-FFF2-40B4-BE49-F238E27FC236}">
                <a16:creationId xmlns:a16="http://schemas.microsoft.com/office/drawing/2014/main" id="{6547A51E-B668-420F-A00F-C107FBE56B77}"/>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5</a:t>
            </a:fld>
            <a:endParaRP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a4f99cf92c254ab3"/>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18963897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FEDB79FB-C909-4727-B2BB-333D75A8D64A}"/>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Technology architecture: each sponsor tool has one job</a:t>
            </a:r>
            <a:endParaRPr sz="2700"/>
          </a:p>
        </p:txBody>
      </p:sp>
      <p:sp>
        <p:nvSpPr>
          <p:cNvPr id="8" name="Text 6">
            <a:extLst xmlns:a="http://schemas.openxmlformats.org/drawingml/2006/main">
              <a:ext uri="{FF2B5EF4-FFF2-40B4-BE49-F238E27FC236}">
                <a16:creationId xmlns:a16="http://schemas.microsoft.com/office/drawing/2014/main" id="{4C24B6C9-DFFE-4636-9557-93C89B10160E}"/>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A focused stack makes the product easier to build, explain and evaluate.</a:t>
            </a:r>
            <a:endParaRPr sz="1250"/>
          </a:p>
        </p:txBody>
      </p:sp>
      <p:sp>
        <p:nvSpPr>
          <p:cNvPr id="9" name="Shape 7">
            <a:extLst xmlns:a="http://schemas.openxmlformats.org/drawingml/2006/main">
              <a:ext uri="{FF2B5EF4-FFF2-40B4-BE49-F238E27FC236}">
                <a16:creationId xmlns:a16="http://schemas.microsoft.com/office/drawing/2014/main" id="{586F13F6-520E-4DD5-BFFC-F45CAB5D6D71}"/>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BCC873C8-6EFA-47C3-A322-17A7D2647CED}"/>
              </a:ext>
            </a:extLst>
          </p:cNvPr>
          <p:cNvSpPr>
            <a:spLocks xmlns:a="http://schemas.openxmlformats.org/drawingml/2006/main" noGrp="1"/>
          </p:cNvSpPr>
          <p:nvPr/>
        </p:nvSpPr>
        <p:spPr>
          <a:xfrm xmlns:a="http://schemas.openxmlformats.org/drawingml/2006/main">
            <a:off x="502920" y="1874520"/>
            <a:ext cx="3182112" cy="3456432"/>
          </a:xfrm>
          <a:prstGeom xmlns:a="http://schemas.openxmlformats.org/drawingml/2006/main" prst="roundRect">
            <a:avLst>
              <a:gd name="adj" fmla="val 3448"/>
            </a:avLst>
          </a:prstGeom>
          <a:solidFill xmlns:a="http://schemas.openxmlformats.org/drawingml/2006/main">
            <a:srgbClr val="F7F9FB"/>
          </a:solidFill>
          <a:ln xmlns:a="http://schemas.openxmlformats.org/drawingml/2006/main" w="10160">
            <a:solidFill>
              <a:srgbClr val="E1E4EA"/>
            </a:solidFill>
            <a:prstDash val="solid"/>
          </a:ln>
        </p:spPr>
      </p:sp>
      <p:sp>
        <p:nvSpPr>
          <p:cNvPr id="11" name="Shape 9">
            <a:extLst xmlns:a="http://schemas.openxmlformats.org/drawingml/2006/main">
              <a:ext uri="{FF2B5EF4-FFF2-40B4-BE49-F238E27FC236}">
                <a16:creationId xmlns:a16="http://schemas.microsoft.com/office/drawing/2014/main" id="{EF4099A9-E4B3-43AE-AAB2-D7F537680DE3}"/>
              </a:ext>
            </a:extLst>
          </p:cNvPr>
          <p:cNvSpPr>
            <a:spLocks xmlns:a="http://schemas.openxmlformats.org/drawingml/2006/main" noGrp="1"/>
          </p:cNvSpPr>
          <p:nvPr/>
        </p:nvSpPr>
        <p:spPr>
          <a:xfrm xmlns:a="http://schemas.openxmlformats.org/drawingml/2006/main">
            <a:off x="502920" y="1874520"/>
            <a:ext cx="3182112" cy="73152"/>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12" name="Shape 10">
            <a:extLst xmlns:a="http://schemas.openxmlformats.org/drawingml/2006/main">
              <a:ext uri="{FF2B5EF4-FFF2-40B4-BE49-F238E27FC236}">
                <a16:creationId xmlns:a16="http://schemas.microsoft.com/office/drawing/2014/main" id="{62F29292-E5E6-4CEF-8506-D2D9C3DFF9A3}"/>
              </a:ext>
            </a:extLst>
          </p:cNvPr>
          <p:cNvSpPr>
            <a:spLocks xmlns:a="http://schemas.openxmlformats.org/drawingml/2006/main" noGrp="1"/>
          </p:cNvSpPr>
          <p:nvPr/>
        </p:nvSpPr>
        <p:spPr>
          <a:xfrm xmlns:a="http://schemas.openxmlformats.org/drawingml/2006/main">
            <a:off x="777240" y="2157984"/>
            <a:ext cx="2331720" cy="256032"/>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13" name="Text 11">
            <a:extLst xmlns:a="http://schemas.openxmlformats.org/drawingml/2006/main">
              <a:ext uri="{FF2B5EF4-FFF2-40B4-BE49-F238E27FC236}">
                <a16:creationId xmlns:a16="http://schemas.microsoft.com/office/drawing/2014/main" id="{50EA73EE-32A6-4951-8111-62C52CADC0F7}"/>
              </a:ext>
            </a:extLst>
          </p:cNvPr>
          <p:cNvSpPr>
            <a:spLocks xmlns:a="http://schemas.openxmlformats.org/drawingml/2006/main" noGrp="1"/>
          </p:cNvSpPr>
          <p:nvPr/>
        </p:nvSpPr>
        <p:spPr>
          <a:xfrm xmlns:a="http://schemas.openxmlformats.org/drawingml/2006/main">
            <a:off x="777240" y="2167128"/>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1C1C1C"/>
                </a:solidFill>
                <a:latin typeface="Segoe UI"/>
                <a:ea typeface="Segoe UI"/>
                <a:cs typeface="Segoe UI"/>
              </a:rPr>
              <a:t>VOICE LAYER</a:t>
            </a:r>
            <a:endParaRPr sz="820"/>
          </a:p>
        </p:txBody>
      </p:sp>
      <p:sp>
        <p:nvSpPr>
          <p:cNvPr id="14" name="Text 12">
            <a:extLst xmlns:a="http://schemas.openxmlformats.org/drawingml/2006/main">
              <a:ext uri="{FF2B5EF4-FFF2-40B4-BE49-F238E27FC236}">
                <a16:creationId xmlns:a16="http://schemas.microsoft.com/office/drawing/2014/main" id="{65239EC1-F2F3-4F7F-87DF-86D860281ABC}"/>
              </a:ext>
            </a:extLst>
          </p:cNvPr>
          <p:cNvSpPr>
            <a:spLocks xmlns:a="http://schemas.openxmlformats.org/drawingml/2006/main" noGrp="1"/>
          </p:cNvSpPr>
          <p:nvPr/>
        </p:nvSpPr>
        <p:spPr>
          <a:xfrm xmlns:a="http://schemas.openxmlformats.org/drawingml/2006/main">
            <a:off x="777240" y="2615184"/>
            <a:ext cx="2514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C1C1C"/>
                </a:solidFill>
                <a:latin typeface="Segoe UI"/>
                <a:ea typeface="Segoe UI"/>
                <a:cs typeface="Segoe UI"/>
              </a:rPr>
              <a:t>ElevenLabs</a:t>
            </a:r>
            <a:endParaRPr sz="1900"/>
          </a:p>
        </p:txBody>
      </p:sp>
      <p:sp>
        <p:nvSpPr>
          <p:cNvPr id="15" name="Text 13">
            <a:extLst xmlns:a="http://schemas.openxmlformats.org/drawingml/2006/main">
              <a:ext uri="{FF2B5EF4-FFF2-40B4-BE49-F238E27FC236}">
                <a16:creationId xmlns:a16="http://schemas.microsoft.com/office/drawing/2014/main" id="{0D22040A-FEA6-4389-8827-E2278374175D}"/>
              </a:ext>
            </a:extLst>
          </p:cNvPr>
          <p:cNvSpPr>
            <a:spLocks xmlns:a="http://schemas.openxmlformats.org/drawingml/2006/main" noGrp="1"/>
          </p:cNvSpPr>
          <p:nvPr/>
        </p:nvSpPr>
        <p:spPr>
          <a:xfrm xmlns:a="http://schemas.openxmlformats.org/drawingml/2006/main">
            <a:off x="795528" y="3227832"/>
            <a:ext cx="2560320" cy="141732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110">
                <a:solidFill>
                  <a:srgbClr val="1C1C1C"/>
                </a:solidFill>
                <a:latin typeface="Segoe UI"/>
                <a:ea typeface="Segoe UI"/>
                <a:cs typeface="Segoe UI"/>
              </a:rPr>
              <a:t>Hands-free speech input and output</a:t>
            </a:r>
            <a:endParaRPr sz="1110"/>
          </a:p>
          <a:p xmlns:a="http://schemas.openxmlformats.org/drawingml/2006/main">
            <a:pPr marL="152400" indent="-152400">
              <a:buSzPct val="100000"/>
              <a:buChar char="•"/>
            </a:pPr>
            <a:r>
              <a:rPr sz="1110">
                <a:solidFill>
                  <a:srgbClr val="1C1C1C"/>
                </a:solidFill>
                <a:latin typeface="Segoe UI"/>
                <a:ea typeface="Segoe UI"/>
                <a:cs typeface="Segoe UI"/>
              </a:rPr>
              <a:t>Turn-taking and interruption handling</a:t>
            </a:r>
            <a:endParaRPr sz="1110"/>
          </a:p>
          <a:p xmlns:a="http://schemas.openxmlformats.org/drawingml/2006/main">
            <a:pPr marL="152400" indent="-152400">
              <a:buSzPct val="100000"/>
              <a:buChar char="•"/>
            </a:pPr>
            <a:r>
              <a:rPr sz="1110">
                <a:solidFill>
                  <a:srgbClr val="1C1C1C"/>
                </a:solidFill>
                <a:latin typeface="Segoe UI"/>
                <a:ea typeface="Segoe UI"/>
                <a:cs typeface="Segoe UI"/>
              </a:rPr>
              <a:t>200+ languages available from the pilot</a:t>
            </a:r>
            <a:endParaRPr sz="1110"/>
          </a:p>
          <a:p xmlns:a="http://schemas.openxmlformats.org/drawingml/2006/main">
            <a:pPr marL="152400" indent="-152400">
              <a:buSzPct val="100000"/>
              <a:buChar char="•"/>
            </a:pPr>
            <a:r>
              <a:rPr sz="1110">
                <a:solidFill>
                  <a:srgbClr val="1C1C1C"/>
                </a:solidFill>
                <a:latin typeface="Segoe UI"/>
                <a:ea typeface="Segoe UI"/>
                <a:cs typeface="Segoe UI"/>
              </a:rPr>
              <a:t>Natural spoken source attribution</a:t>
            </a:r>
            <a:endParaRPr sz="1110"/>
          </a:p>
        </p:txBody>
      </p:sp>
      <p:sp>
        <p:nvSpPr>
          <p:cNvPr id="16" name="Shape 14">
            <a:extLst xmlns:a="http://schemas.openxmlformats.org/drawingml/2006/main">
              <a:ext uri="{FF2B5EF4-FFF2-40B4-BE49-F238E27FC236}">
                <a16:creationId xmlns:a16="http://schemas.microsoft.com/office/drawing/2014/main" id="{8F91B150-15E3-47F9-B643-98D96BA337BD}"/>
              </a:ext>
            </a:extLst>
          </p:cNvPr>
          <p:cNvSpPr>
            <a:spLocks xmlns:a="http://schemas.openxmlformats.org/drawingml/2006/main" noGrp="1"/>
          </p:cNvSpPr>
          <p:nvPr/>
        </p:nvSpPr>
        <p:spPr>
          <a:xfrm xmlns:a="http://schemas.openxmlformats.org/drawingml/2006/main">
            <a:off x="4069080" y="1874520"/>
            <a:ext cx="3182112" cy="3456432"/>
          </a:xfrm>
          <a:prstGeom xmlns:a="http://schemas.openxmlformats.org/drawingml/2006/main" prst="roundRect">
            <a:avLst>
              <a:gd name="adj" fmla="val 3448"/>
            </a:avLst>
          </a:prstGeom>
          <a:solidFill xmlns:a="http://schemas.openxmlformats.org/drawingml/2006/main">
            <a:srgbClr val="F7F9FB"/>
          </a:solidFill>
          <a:ln xmlns:a="http://schemas.openxmlformats.org/drawingml/2006/main" w="10160">
            <a:solidFill>
              <a:srgbClr val="E1E4EA"/>
            </a:solidFill>
            <a:prstDash val="solid"/>
          </a:ln>
        </p:spPr>
      </p:sp>
      <p:sp>
        <p:nvSpPr>
          <p:cNvPr id="17" name="Shape 15">
            <a:extLst xmlns:a="http://schemas.openxmlformats.org/drawingml/2006/main">
              <a:ext uri="{FF2B5EF4-FFF2-40B4-BE49-F238E27FC236}">
                <a16:creationId xmlns:a16="http://schemas.microsoft.com/office/drawing/2014/main" id="{9899C8DF-C7E7-4E96-9785-9DCC508BFCB8}"/>
              </a:ext>
            </a:extLst>
          </p:cNvPr>
          <p:cNvSpPr>
            <a:spLocks xmlns:a="http://schemas.openxmlformats.org/drawingml/2006/main" noGrp="1"/>
          </p:cNvSpPr>
          <p:nvPr/>
        </p:nvSpPr>
        <p:spPr>
          <a:xfrm xmlns:a="http://schemas.openxmlformats.org/drawingml/2006/main">
            <a:off x="4069080" y="1874520"/>
            <a:ext cx="3182112" cy="73152"/>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18" name="Shape 16">
            <a:extLst xmlns:a="http://schemas.openxmlformats.org/drawingml/2006/main">
              <a:ext uri="{FF2B5EF4-FFF2-40B4-BE49-F238E27FC236}">
                <a16:creationId xmlns:a16="http://schemas.microsoft.com/office/drawing/2014/main" id="{32F994F2-9EA3-4B82-85F0-38BF4DD4A5F6}"/>
              </a:ext>
            </a:extLst>
          </p:cNvPr>
          <p:cNvSpPr>
            <a:spLocks xmlns:a="http://schemas.openxmlformats.org/drawingml/2006/main" noGrp="1"/>
          </p:cNvSpPr>
          <p:nvPr/>
        </p:nvSpPr>
        <p:spPr>
          <a:xfrm xmlns:a="http://schemas.openxmlformats.org/drawingml/2006/main">
            <a:off x="4343400" y="2157984"/>
            <a:ext cx="2331720" cy="256032"/>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19" name="Text 17">
            <a:extLst xmlns:a="http://schemas.openxmlformats.org/drawingml/2006/main">
              <a:ext uri="{FF2B5EF4-FFF2-40B4-BE49-F238E27FC236}">
                <a16:creationId xmlns:a16="http://schemas.microsoft.com/office/drawing/2014/main" id="{A75B890D-2AE9-44A9-A41F-5FA11913612A}"/>
              </a:ext>
            </a:extLst>
          </p:cNvPr>
          <p:cNvSpPr>
            <a:spLocks xmlns:a="http://schemas.openxmlformats.org/drawingml/2006/main" noGrp="1"/>
          </p:cNvSpPr>
          <p:nvPr/>
        </p:nvSpPr>
        <p:spPr>
          <a:xfrm xmlns:a="http://schemas.openxmlformats.org/drawingml/2006/main">
            <a:off x="4343400" y="2167128"/>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1C1C1C"/>
                </a:solidFill>
                <a:latin typeface="Segoe UI"/>
                <a:ea typeface="Segoe UI"/>
                <a:cs typeface="Segoe UI"/>
              </a:rPr>
              <a:t>FRESH EXTERNAL CONTEXT</a:t>
            </a:r>
            <a:endParaRPr sz="820"/>
          </a:p>
        </p:txBody>
      </p:sp>
      <p:sp>
        <p:nvSpPr>
          <p:cNvPr id="20" name="Text 18">
            <a:extLst xmlns:a="http://schemas.openxmlformats.org/drawingml/2006/main">
              <a:ext uri="{FF2B5EF4-FFF2-40B4-BE49-F238E27FC236}">
                <a16:creationId xmlns:a16="http://schemas.microsoft.com/office/drawing/2014/main" id="{F1F33D56-E0B5-4F76-8F9B-63805093D1D3}"/>
              </a:ext>
            </a:extLst>
          </p:cNvPr>
          <p:cNvSpPr>
            <a:spLocks xmlns:a="http://schemas.openxmlformats.org/drawingml/2006/main" noGrp="1"/>
          </p:cNvSpPr>
          <p:nvPr/>
        </p:nvSpPr>
        <p:spPr>
          <a:xfrm xmlns:a="http://schemas.openxmlformats.org/drawingml/2006/main">
            <a:off x="4343400" y="2615184"/>
            <a:ext cx="2514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C1C1C"/>
                </a:solidFill>
                <a:latin typeface="Segoe UI"/>
                <a:ea typeface="Segoe UI"/>
                <a:cs typeface="Segoe UI"/>
              </a:rPr>
              <a:t>Context.dev</a:t>
            </a:r>
            <a:endParaRPr sz="1900"/>
          </a:p>
        </p:txBody>
      </p:sp>
      <p:sp>
        <p:nvSpPr>
          <p:cNvPr id="21" name="Text 19">
            <a:extLst xmlns:a="http://schemas.openxmlformats.org/drawingml/2006/main">
              <a:ext uri="{FF2B5EF4-FFF2-40B4-BE49-F238E27FC236}">
                <a16:creationId xmlns:a16="http://schemas.microsoft.com/office/drawing/2014/main" id="{0C4E90B5-5A7D-4123-8EFE-C8E79A1CEC38}"/>
              </a:ext>
            </a:extLst>
          </p:cNvPr>
          <p:cNvSpPr>
            <a:spLocks xmlns:a="http://schemas.openxmlformats.org/drawingml/2006/main" noGrp="1"/>
          </p:cNvSpPr>
          <p:nvPr/>
        </p:nvSpPr>
        <p:spPr>
          <a:xfrm xmlns:a="http://schemas.openxmlformats.org/drawingml/2006/main">
            <a:off x="4361688" y="3227832"/>
            <a:ext cx="2560320" cy="141732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110">
                <a:solidFill>
                  <a:srgbClr val="1C1C1C"/>
                </a:solidFill>
                <a:latin typeface="Segoe UI"/>
                <a:ea typeface="Segoe UI"/>
                <a:cs typeface="Segoe UI"/>
              </a:rPr>
              <a:t>Retrieve live regulation and safety bulletins</a:t>
            </a:r>
            <a:endParaRPr sz="1110"/>
          </a:p>
          <a:p xmlns:a="http://schemas.openxmlformats.org/drawingml/2006/main">
            <a:pPr marL="152400" indent="-152400">
              <a:buSzPct val="100000"/>
              <a:buChar char="•"/>
            </a:pPr>
            <a:r>
              <a:rPr sz="1110">
                <a:solidFill>
                  <a:srgbClr val="1C1C1C"/>
                </a:solidFill>
                <a:latin typeface="Segoe UI"/>
                <a:ea typeface="Segoe UI"/>
                <a:cs typeface="Segoe UI"/>
              </a:rPr>
              <a:t>Convert web pages and documents to clean Markdown</a:t>
            </a:r>
            <a:endParaRPr sz="1110"/>
          </a:p>
          <a:p xmlns:a="http://schemas.openxmlformats.org/drawingml/2006/main">
            <a:pPr marL="152400" indent="-152400">
              <a:buSzPct val="100000"/>
              <a:buChar char="•"/>
            </a:pPr>
            <a:r>
              <a:rPr sz="1110">
                <a:solidFill>
                  <a:srgbClr val="1C1C1C"/>
                </a:solidFill>
                <a:latin typeface="Segoe UI"/>
                <a:ea typeface="Segoe UI"/>
                <a:cs typeface="Segoe UI"/>
              </a:rPr>
              <a:t>Parse PDF, DOCX and XML into LLM-ready text</a:t>
            </a:r>
            <a:endParaRPr sz="1110"/>
          </a:p>
          <a:p xmlns:a="http://schemas.openxmlformats.org/drawingml/2006/main">
            <a:pPr marL="152400" indent="-152400">
              <a:buSzPct val="100000"/>
              <a:buChar char="•"/>
            </a:pPr>
            <a:r>
              <a:rPr sz="1110">
                <a:solidFill>
                  <a:srgbClr val="1C1C1C"/>
                </a:solidFill>
                <a:latin typeface="Segoe UI"/>
                <a:ea typeface="Segoe UI"/>
                <a:cs typeface="Segoe UI"/>
              </a:rPr>
              <a:t>Fetch manufacturer guidance when SOPs are silent</a:t>
            </a:r>
            <a:endParaRPr sz="1110"/>
          </a:p>
        </p:txBody>
      </p:sp>
      <p:sp>
        <p:nvSpPr>
          <p:cNvPr id="22" name="Shape 20">
            <a:extLst xmlns:a="http://schemas.openxmlformats.org/drawingml/2006/main">
              <a:ext uri="{FF2B5EF4-FFF2-40B4-BE49-F238E27FC236}">
                <a16:creationId xmlns:a16="http://schemas.microsoft.com/office/drawing/2014/main" id="{1BF304C7-8734-422C-8C41-75D5190B7268}"/>
              </a:ext>
            </a:extLst>
          </p:cNvPr>
          <p:cNvSpPr>
            <a:spLocks xmlns:a="http://schemas.openxmlformats.org/drawingml/2006/main" noGrp="1"/>
          </p:cNvSpPr>
          <p:nvPr/>
        </p:nvSpPr>
        <p:spPr>
          <a:xfrm xmlns:a="http://schemas.openxmlformats.org/drawingml/2006/main">
            <a:off x="7635240" y="1874520"/>
            <a:ext cx="3182112" cy="3456432"/>
          </a:xfrm>
          <a:prstGeom xmlns:a="http://schemas.openxmlformats.org/drawingml/2006/main" prst="roundRect">
            <a:avLst>
              <a:gd name="adj" fmla="val 3448"/>
            </a:avLst>
          </a:prstGeom>
          <a:solidFill xmlns:a="http://schemas.openxmlformats.org/drawingml/2006/main">
            <a:srgbClr val="F7F9FB"/>
          </a:solidFill>
          <a:ln xmlns:a="http://schemas.openxmlformats.org/drawingml/2006/main" w="10160">
            <a:solidFill>
              <a:srgbClr val="E1E4EA"/>
            </a:solidFill>
            <a:prstDash val="solid"/>
          </a:ln>
        </p:spPr>
      </p:sp>
      <p:sp>
        <p:nvSpPr>
          <p:cNvPr id="23" name="Shape 21">
            <a:extLst xmlns:a="http://schemas.openxmlformats.org/drawingml/2006/main">
              <a:ext uri="{FF2B5EF4-FFF2-40B4-BE49-F238E27FC236}">
                <a16:creationId xmlns:a16="http://schemas.microsoft.com/office/drawing/2014/main" id="{6EE3C66A-9A5E-460A-98D1-70384D1AA277}"/>
              </a:ext>
            </a:extLst>
          </p:cNvPr>
          <p:cNvSpPr>
            <a:spLocks xmlns:a="http://schemas.openxmlformats.org/drawingml/2006/main" noGrp="1"/>
          </p:cNvSpPr>
          <p:nvPr/>
        </p:nvSpPr>
        <p:spPr>
          <a:xfrm xmlns:a="http://schemas.openxmlformats.org/drawingml/2006/main">
            <a:off x="7635240" y="1874520"/>
            <a:ext cx="3182112" cy="73152"/>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24" name="Shape 22">
            <a:extLst xmlns:a="http://schemas.openxmlformats.org/drawingml/2006/main">
              <a:ext uri="{FF2B5EF4-FFF2-40B4-BE49-F238E27FC236}">
                <a16:creationId xmlns:a16="http://schemas.microsoft.com/office/drawing/2014/main" id="{609E252B-3C19-4BBC-B36C-F5564A0200C1}"/>
              </a:ext>
            </a:extLst>
          </p:cNvPr>
          <p:cNvSpPr>
            <a:spLocks xmlns:a="http://schemas.openxmlformats.org/drawingml/2006/main" noGrp="1"/>
          </p:cNvSpPr>
          <p:nvPr/>
        </p:nvSpPr>
        <p:spPr>
          <a:xfrm xmlns:a="http://schemas.openxmlformats.org/drawingml/2006/main">
            <a:off x="7909560" y="2157984"/>
            <a:ext cx="2331720" cy="256032"/>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25" name="Text 23">
            <a:extLst xmlns:a="http://schemas.openxmlformats.org/drawingml/2006/main">
              <a:ext uri="{FF2B5EF4-FFF2-40B4-BE49-F238E27FC236}">
                <a16:creationId xmlns:a16="http://schemas.microsoft.com/office/drawing/2014/main" id="{09D9240A-C9EE-4685-9995-E7CC58E63683}"/>
              </a:ext>
            </a:extLst>
          </p:cNvPr>
          <p:cNvSpPr>
            <a:spLocks xmlns:a="http://schemas.openxmlformats.org/drawingml/2006/main" noGrp="1"/>
          </p:cNvSpPr>
          <p:nvPr/>
        </p:nvSpPr>
        <p:spPr>
          <a:xfrm xmlns:a="http://schemas.openxmlformats.org/drawingml/2006/main">
            <a:off x="7909560" y="2167128"/>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1C1C1C"/>
                </a:solidFill>
                <a:latin typeface="Segoe UI"/>
                <a:ea typeface="Segoe UI"/>
                <a:cs typeface="Segoe UI"/>
              </a:rPr>
              <a:t>ENGINEERING EXECUTION</a:t>
            </a:r>
            <a:endParaRPr sz="820"/>
          </a:p>
        </p:txBody>
      </p:sp>
      <p:sp>
        <p:nvSpPr>
          <p:cNvPr id="26" name="Text 24">
            <a:extLst xmlns:a="http://schemas.openxmlformats.org/drawingml/2006/main">
              <a:ext uri="{FF2B5EF4-FFF2-40B4-BE49-F238E27FC236}">
                <a16:creationId xmlns:a16="http://schemas.microsoft.com/office/drawing/2014/main" id="{4A737F8F-F0AD-4957-BF4C-C670AC5615D1}"/>
              </a:ext>
            </a:extLst>
          </p:cNvPr>
          <p:cNvSpPr>
            <a:spLocks xmlns:a="http://schemas.openxmlformats.org/drawingml/2006/main" noGrp="1"/>
          </p:cNvSpPr>
          <p:nvPr/>
        </p:nvSpPr>
        <p:spPr>
          <a:xfrm xmlns:a="http://schemas.openxmlformats.org/drawingml/2006/main">
            <a:off x="7909560" y="2615184"/>
            <a:ext cx="25146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C1C1C"/>
                </a:solidFill>
                <a:latin typeface="Segoe UI"/>
                <a:ea typeface="Segoe UI"/>
                <a:cs typeface="Segoe UI"/>
              </a:rPr>
              <a:t>Devin</a:t>
            </a:r>
            <a:endParaRPr sz="1900"/>
          </a:p>
        </p:txBody>
      </p:sp>
      <p:sp>
        <p:nvSpPr>
          <p:cNvPr id="27" name="Text 25">
            <a:extLst xmlns:a="http://schemas.openxmlformats.org/drawingml/2006/main">
              <a:ext uri="{FF2B5EF4-FFF2-40B4-BE49-F238E27FC236}">
                <a16:creationId xmlns:a16="http://schemas.microsoft.com/office/drawing/2014/main" id="{4FC1AF4C-04C6-4E7B-8588-65791BF4BFD0}"/>
              </a:ext>
            </a:extLst>
          </p:cNvPr>
          <p:cNvSpPr>
            <a:spLocks xmlns:a="http://schemas.openxmlformats.org/drawingml/2006/main" noGrp="1"/>
          </p:cNvSpPr>
          <p:nvPr/>
        </p:nvSpPr>
        <p:spPr>
          <a:xfrm xmlns:a="http://schemas.openxmlformats.org/drawingml/2006/main">
            <a:off x="7927848" y="3227832"/>
            <a:ext cx="2560320" cy="141732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110">
                <a:solidFill>
                  <a:srgbClr val="1C1C1C"/>
                </a:solidFill>
                <a:latin typeface="Segoe UI"/>
                <a:ea typeface="Segoe UI"/>
                <a:cs typeface="Segoe UI"/>
              </a:rPr>
              <a:t>Build, run and test the application</a:t>
            </a:r>
            <a:endParaRPr sz="1110"/>
          </a:p>
          <a:p xmlns:a="http://schemas.openxmlformats.org/drawingml/2006/main">
            <a:pPr marL="152400" indent="-152400">
              <a:buSzPct val="100000"/>
              <a:buChar char="•"/>
            </a:pPr>
            <a:r>
              <a:rPr sz="1110">
                <a:solidFill>
                  <a:srgbClr val="1C1C1C"/>
                </a:solidFill>
                <a:latin typeface="Segoe UI"/>
                <a:ea typeface="Segoe UI"/>
                <a:cs typeface="Segoe UI"/>
              </a:rPr>
              <a:t>Parallel sessions for voice, retrieval and evals</a:t>
            </a:r>
            <a:endParaRPr sz="1110"/>
          </a:p>
          <a:p xmlns:a="http://schemas.openxmlformats.org/drawingml/2006/main">
            <a:pPr marL="152400" indent="-152400">
              <a:buSzPct val="100000"/>
              <a:buChar char="•"/>
            </a:pPr>
            <a:r>
              <a:rPr sz="1110">
                <a:solidFill>
                  <a:srgbClr val="1C1C1C"/>
                </a:solidFill>
                <a:latin typeface="Segoe UI"/>
                <a:ea typeface="Segoe UI"/>
                <a:cs typeface="Segoe UI"/>
              </a:rPr>
              <a:t>Playbooks encode the product and safety rules</a:t>
            </a:r>
            <a:endParaRPr sz="1110"/>
          </a:p>
          <a:p xmlns:a="http://schemas.openxmlformats.org/drawingml/2006/main">
            <a:pPr marL="152400" indent="-152400">
              <a:buSzPct val="100000"/>
              <a:buChar char="•"/>
            </a:pPr>
            <a:r>
              <a:rPr sz="1110">
                <a:solidFill>
                  <a:srgbClr val="1C1C1C"/>
                </a:solidFill>
                <a:latin typeface="Segoe UI"/>
                <a:ea typeface="Segoe UI"/>
                <a:cs typeface="Segoe UI"/>
              </a:rPr>
              <a:t>Commits code, tests, README and reproducible setup</a:t>
            </a:r>
            <a:endParaRPr sz="1110"/>
          </a:p>
        </p:txBody>
      </p:sp>
      <p:sp>
        <p:nvSpPr>
          <p:cNvPr id="28" name="Shape 26">
            <a:extLst xmlns:a="http://schemas.openxmlformats.org/drawingml/2006/main">
              <a:ext uri="{FF2B5EF4-FFF2-40B4-BE49-F238E27FC236}">
                <a16:creationId xmlns:a16="http://schemas.microsoft.com/office/drawing/2014/main" id="{CC3FABAD-34EF-4F02-AEF4-666FC04F968D}"/>
              </a:ext>
            </a:extLst>
          </p:cNvPr>
          <p:cNvSpPr>
            <a:spLocks xmlns:a="http://schemas.openxmlformats.org/drawingml/2006/main" noGrp="1"/>
          </p:cNvSpPr>
          <p:nvPr/>
        </p:nvSpPr>
        <p:spPr>
          <a:xfrm xmlns:a="http://schemas.openxmlformats.org/drawingml/2006/main">
            <a:off x="502920" y="5559552"/>
            <a:ext cx="11173968" cy="621792"/>
          </a:xfrm>
          <a:prstGeom xmlns:a="http://schemas.openxmlformats.org/drawingml/2006/main" prst="roundRect">
            <a:avLst>
              <a:gd name="adj" fmla="val 17647"/>
            </a:avLst>
          </a:prstGeom>
          <a:solidFill xmlns:a="http://schemas.openxmlformats.org/drawingml/2006/main">
            <a:srgbClr val="F4F4F5"/>
          </a:solidFill>
          <a:ln xmlns:a="http://schemas.openxmlformats.org/drawingml/2006/main" w="10160">
            <a:solidFill>
              <a:srgbClr val="E1E4EA"/>
            </a:solidFill>
            <a:prstDash val="solid"/>
          </a:ln>
        </p:spPr>
      </p:sp>
      <p:sp>
        <p:nvSpPr>
          <p:cNvPr id="29" name="Shape 27">
            <a:extLst xmlns:a="http://schemas.openxmlformats.org/drawingml/2006/main">
              <a:ext uri="{FF2B5EF4-FFF2-40B4-BE49-F238E27FC236}">
                <a16:creationId xmlns:a16="http://schemas.microsoft.com/office/drawing/2014/main" id="{C6AAF4C0-DA1C-4D95-8BA8-03F3F0D500A3}"/>
              </a:ext>
            </a:extLst>
          </p:cNvPr>
          <p:cNvSpPr>
            <a:spLocks xmlns:a="http://schemas.openxmlformats.org/drawingml/2006/main" noGrp="1"/>
          </p:cNvSpPr>
          <p:nvPr/>
        </p:nvSpPr>
        <p:spPr>
          <a:xfrm xmlns:a="http://schemas.openxmlformats.org/drawingml/2006/main">
            <a:off x="768096" y="5733288"/>
            <a:ext cx="1143000" cy="274320"/>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30" name="Text 28">
            <a:extLst xmlns:a="http://schemas.openxmlformats.org/drawingml/2006/main">
              <a:ext uri="{FF2B5EF4-FFF2-40B4-BE49-F238E27FC236}">
                <a16:creationId xmlns:a16="http://schemas.microsoft.com/office/drawing/2014/main" id="{6911BB99-03BC-4897-A167-5D5D50D17549}"/>
              </a:ext>
            </a:extLst>
          </p:cNvPr>
          <p:cNvSpPr>
            <a:spLocks xmlns:a="http://schemas.openxmlformats.org/drawingml/2006/main" noGrp="1"/>
          </p:cNvSpPr>
          <p:nvPr/>
        </p:nvSpPr>
        <p:spPr>
          <a:xfrm xmlns:a="http://schemas.openxmlformats.org/drawingml/2006/main">
            <a:off x="768096"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Worker voice</a:t>
            </a:r>
            <a:endParaRPr sz="790"/>
          </a:p>
        </p:txBody>
      </p:sp>
      <p:sp>
        <p:nvSpPr>
          <p:cNvPr id="31" name="Shape 29">
            <a:extLst xmlns:a="http://schemas.openxmlformats.org/drawingml/2006/main">
              <a:ext uri="{FF2B5EF4-FFF2-40B4-BE49-F238E27FC236}">
                <a16:creationId xmlns:a16="http://schemas.microsoft.com/office/drawing/2014/main" id="{1D0B738D-8619-4543-885A-E3D1463B826F}"/>
              </a:ext>
            </a:extLst>
          </p:cNvPr>
          <p:cNvSpPr>
            <a:spLocks xmlns:a="http://schemas.openxmlformats.org/drawingml/2006/main" noGrp="1"/>
          </p:cNvSpPr>
          <p:nvPr/>
        </p:nvSpPr>
        <p:spPr>
          <a:xfrm xmlns:a="http://schemas.openxmlformats.org/drawingml/2006/main">
            <a:off x="1956816"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32" name="Shape 30">
            <a:extLst xmlns:a="http://schemas.openxmlformats.org/drawingml/2006/main">
              <a:ext uri="{FF2B5EF4-FFF2-40B4-BE49-F238E27FC236}">
                <a16:creationId xmlns:a16="http://schemas.microsoft.com/office/drawing/2014/main" id="{B7C3B316-29B8-4B78-9732-1E0ACAFC1450}"/>
              </a:ext>
            </a:extLst>
          </p:cNvPr>
          <p:cNvSpPr>
            <a:spLocks xmlns:a="http://schemas.openxmlformats.org/drawingml/2006/main" noGrp="1"/>
          </p:cNvSpPr>
          <p:nvPr/>
        </p:nvSpPr>
        <p:spPr>
          <a:xfrm xmlns:a="http://schemas.openxmlformats.org/drawingml/2006/main">
            <a:off x="2395728" y="5733288"/>
            <a:ext cx="1143000" cy="274320"/>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33" name="Text 31">
            <a:extLst xmlns:a="http://schemas.openxmlformats.org/drawingml/2006/main">
              <a:ext uri="{FF2B5EF4-FFF2-40B4-BE49-F238E27FC236}">
                <a16:creationId xmlns:a16="http://schemas.microsoft.com/office/drawing/2014/main" id="{C30769F9-C26F-4A13-B4AB-F3B01C3D9709}"/>
              </a:ext>
            </a:extLst>
          </p:cNvPr>
          <p:cNvSpPr>
            <a:spLocks xmlns:a="http://schemas.openxmlformats.org/drawingml/2006/main" noGrp="1"/>
          </p:cNvSpPr>
          <p:nvPr/>
        </p:nvSpPr>
        <p:spPr>
          <a:xfrm xmlns:a="http://schemas.openxmlformats.org/drawingml/2006/main">
            <a:off x="2395728"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ElevenLabs</a:t>
            </a:r>
            <a:endParaRPr sz="790"/>
          </a:p>
        </p:txBody>
      </p:sp>
      <p:sp>
        <p:nvSpPr>
          <p:cNvPr id="34" name="Shape 32">
            <a:extLst xmlns:a="http://schemas.openxmlformats.org/drawingml/2006/main">
              <a:ext uri="{FF2B5EF4-FFF2-40B4-BE49-F238E27FC236}">
                <a16:creationId xmlns:a16="http://schemas.microsoft.com/office/drawing/2014/main" id="{2A26CF7D-819F-4F42-8561-78D39C71EF6E}"/>
              </a:ext>
            </a:extLst>
          </p:cNvPr>
          <p:cNvSpPr>
            <a:spLocks xmlns:a="http://schemas.openxmlformats.org/drawingml/2006/main" noGrp="1"/>
          </p:cNvSpPr>
          <p:nvPr/>
        </p:nvSpPr>
        <p:spPr>
          <a:xfrm xmlns:a="http://schemas.openxmlformats.org/drawingml/2006/main">
            <a:off x="3584448"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35" name="Shape 33">
            <a:extLst xmlns:a="http://schemas.openxmlformats.org/drawingml/2006/main">
              <a:ext uri="{FF2B5EF4-FFF2-40B4-BE49-F238E27FC236}">
                <a16:creationId xmlns:a16="http://schemas.microsoft.com/office/drawing/2014/main" id="{4E620741-7B7C-4968-BDFA-1CD9E328D68C}"/>
              </a:ext>
            </a:extLst>
          </p:cNvPr>
          <p:cNvSpPr>
            <a:spLocks xmlns:a="http://schemas.openxmlformats.org/drawingml/2006/main" noGrp="1"/>
          </p:cNvSpPr>
          <p:nvPr/>
        </p:nvSpPr>
        <p:spPr>
          <a:xfrm xmlns:a="http://schemas.openxmlformats.org/drawingml/2006/main">
            <a:off x="4014216" y="5733288"/>
            <a:ext cx="1143000" cy="274320"/>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36" name="Text 34">
            <a:extLst xmlns:a="http://schemas.openxmlformats.org/drawingml/2006/main">
              <a:ext uri="{FF2B5EF4-FFF2-40B4-BE49-F238E27FC236}">
                <a16:creationId xmlns:a16="http://schemas.microsoft.com/office/drawing/2014/main" id="{6F5EDA6B-B648-45C1-B87F-AA0546A489CB}"/>
              </a:ext>
            </a:extLst>
          </p:cNvPr>
          <p:cNvSpPr>
            <a:spLocks xmlns:a="http://schemas.openxmlformats.org/drawingml/2006/main" noGrp="1"/>
          </p:cNvSpPr>
          <p:nvPr/>
        </p:nvSpPr>
        <p:spPr>
          <a:xfrm xmlns:a="http://schemas.openxmlformats.org/drawingml/2006/main">
            <a:off x="4014216"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HeatSafe agent</a:t>
            </a:r>
            <a:endParaRPr sz="790"/>
          </a:p>
        </p:txBody>
      </p:sp>
      <p:sp>
        <p:nvSpPr>
          <p:cNvPr id="37" name="Shape 35">
            <a:extLst xmlns:a="http://schemas.openxmlformats.org/drawingml/2006/main">
              <a:ext uri="{FF2B5EF4-FFF2-40B4-BE49-F238E27FC236}">
                <a16:creationId xmlns:a16="http://schemas.microsoft.com/office/drawing/2014/main" id="{D6A2D295-7463-4560-9A7E-AE84F896BDE9}"/>
              </a:ext>
            </a:extLst>
          </p:cNvPr>
          <p:cNvSpPr>
            <a:spLocks xmlns:a="http://schemas.openxmlformats.org/drawingml/2006/main" noGrp="1"/>
          </p:cNvSpPr>
          <p:nvPr/>
        </p:nvSpPr>
        <p:spPr>
          <a:xfrm xmlns:a="http://schemas.openxmlformats.org/drawingml/2006/main">
            <a:off x="5202936"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38" name="Shape 36">
            <a:extLst xmlns:a="http://schemas.openxmlformats.org/drawingml/2006/main">
              <a:ext uri="{FF2B5EF4-FFF2-40B4-BE49-F238E27FC236}">
                <a16:creationId xmlns:a16="http://schemas.microsoft.com/office/drawing/2014/main" id="{5B910119-38B5-4016-89A6-FD428B3848AD}"/>
              </a:ext>
            </a:extLst>
          </p:cNvPr>
          <p:cNvSpPr>
            <a:spLocks xmlns:a="http://schemas.openxmlformats.org/drawingml/2006/main" noGrp="1"/>
          </p:cNvSpPr>
          <p:nvPr/>
        </p:nvSpPr>
        <p:spPr>
          <a:xfrm xmlns:a="http://schemas.openxmlformats.org/drawingml/2006/main">
            <a:off x="5650992" y="5733288"/>
            <a:ext cx="1143000" cy="274320"/>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39" name="Text 37">
            <a:extLst xmlns:a="http://schemas.openxmlformats.org/drawingml/2006/main">
              <a:ext uri="{FF2B5EF4-FFF2-40B4-BE49-F238E27FC236}">
                <a16:creationId xmlns:a16="http://schemas.microsoft.com/office/drawing/2014/main" id="{78DC3545-BE4F-4AB2-9879-446DAE1DFF13}"/>
              </a:ext>
            </a:extLst>
          </p:cNvPr>
          <p:cNvSpPr>
            <a:spLocks xmlns:a="http://schemas.openxmlformats.org/drawingml/2006/main" noGrp="1"/>
          </p:cNvSpPr>
          <p:nvPr/>
        </p:nvSpPr>
        <p:spPr>
          <a:xfrm xmlns:a="http://schemas.openxmlformats.org/drawingml/2006/main">
            <a:off x="5650992"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SOP store</a:t>
            </a:r>
            <a:endParaRPr sz="790"/>
          </a:p>
        </p:txBody>
      </p:sp>
      <p:sp>
        <p:nvSpPr>
          <p:cNvPr id="40" name="Shape 38">
            <a:extLst xmlns:a="http://schemas.openxmlformats.org/drawingml/2006/main">
              <a:ext uri="{FF2B5EF4-FFF2-40B4-BE49-F238E27FC236}">
                <a16:creationId xmlns:a16="http://schemas.microsoft.com/office/drawing/2014/main" id="{AA76FE43-A5E7-4DBF-BB0D-5178BC0E6A00}"/>
              </a:ext>
            </a:extLst>
          </p:cNvPr>
          <p:cNvSpPr>
            <a:spLocks xmlns:a="http://schemas.openxmlformats.org/drawingml/2006/main" noGrp="1"/>
          </p:cNvSpPr>
          <p:nvPr/>
        </p:nvSpPr>
        <p:spPr>
          <a:xfrm xmlns:a="http://schemas.openxmlformats.org/drawingml/2006/main">
            <a:off x="6839712"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41" name="Shape 39">
            <a:extLst xmlns:a="http://schemas.openxmlformats.org/drawingml/2006/main">
              <a:ext uri="{FF2B5EF4-FFF2-40B4-BE49-F238E27FC236}">
                <a16:creationId xmlns:a16="http://schemas.microsoft.com/office/drawing/2014/main" id="{59F6CE55-2EAD-4C51-BAD6-31B904DAA1E6}"/>
              </a:ext>
            </a:extLst>
          </p:cNvPr>
          <p:cNvSpPr>
            <a:spLocks xmlns:a="http://schemas.openxmlformats.org/drawingml/2006/main" noGrp="1"/>
          </p:cNvSpPr>
          <p:nvPr/>
        </p:nvSpPr>
        <p:spPr>
          <a:xfrm xmlns:a="http://schemas.openxmlformats.org/drawingml/2006/main">
            <a:off x="7251192" y="5733288"/>
            <a:ext cx="1143000" cy="274320"/>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42" name="Text 40">
            <a:extLst xmlns:a="http://schemas.openxmlformats.org/drawingml/2006/main">
              <a:ext uri="{FF2B5EF4-FFF2-40B4-BE49-F238E27FC236}">
                <a16:creationId xmlns:a16="http://schemas.microsoft.com/office/drawing/2014/main" id="{238D669C-D172-433A-8247-A59D28658C29}"/>
              </a:ext>
            </a:extLst>
          </p:cNvPr>
          <p:cNvSpPr>
            <a:spLocks xmlns:a="http://schemas.openxmlformats.org/drawingml/2006/main" noGrp="1"/>
          </p:cNvSpPr>
          <p:nvPr/>
        </p:nvSpPr>
        <p:spPr>
          <a:xfrm xmlns:a="http://schemas.openxmlformats.org/drawingml/2006/main">
            <a:off x="7251192"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Weather API</a:t>
            </a:r>
            <a:endParaRPr sz="790"/>
          </a:p>
        </p:txBody>
      </p:sp>
      <p:sp>
        <p:nvSpPr>
          <p:cNvPr id="43" name="Shape 41">
            <a:extLst xmlns:a="http://schemas.openxmlformats.org/drawingml/2006/main">
              <a:ext uri="{FF2B5EF4-FFF2-40B4-BE49-F238E27FC236}">
                <a16:creationId xmlns:a16="http://schemas.microsoft.com/office/drawing/2014/main" id="{1F40DC3F-CA2A-4EFF-ABFD-3E7C0CF13AA5}"/>
              </a:ext>
            </a:extLst>
          </p:cNvPr>
          <p:cNvSpPr>
            <a:spLocks xmlns:a="http://schemas.openxmlformats.org/drawingml/2006/main" noGrp="1"/>
          </p:cNvSpPr>
          <p:nvPr/>
        </p:nvSpPr>
        <p:spPr>
          <a:xfrm xmlns:a="http://schemas.openxmlformats.org/drawingml/2006/main">
            <a:off x="8439912"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44" name="Shape 42">
            <a:extLst xmlns:a="http://schemas.openxmlformats.org/drawingml/2006/main">
              <a:ext uri="{FF2B5EF4-FFF2-40B4-BE49-F238E27FC236}">
                <a16:creationId xmlns:a16="http://schemas.microsoft.com/office/drawing/2014/main" id="{78D2A85C-D8D6-4A8F-A7EE-6C41BD48BBF5}"/>
              </a:ext>
            </a:extLst>
          </p:cNvPr>
          <p:cNvSpPr>
            <a:spLocks xmlns:a="http://schemas.openxmlformats.org/drawingml/2006/main" noGrp="1"/>
          </p:cNvSpPr>
          <p:nvPr/>
        </p:nvSpPr>
        <p:spPr>
          <a:xfrm xmlns:a="http://schemas.openxmlformats.org/drawingml/2006/main">
            <a:off x="8897112" y="5733288"/>
            <a:ext cx="1143000" cy="274320"/>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45" name="Text 43">
            <a:extLst xmlns:a="http://schemas.openxmlformats.org/drawingml/2006/main">
              <a:ext uri="{FF2B5EF4-FFF2-40B4-BE49-F238E27FC236}">
                <a16:creationId xmlns:a16="http://schemas.microsoft.com/office/drawing/2014/main" id="{312271E1-B4D8-4416-BCE2-5655DE8FBCFE}"/>
              </a:ext>
            </a:extLst>
          </p:cNvPr>
          <p:cNvSpPr>
            <a:spLocks xmlns:a="http://schemas.openxmlformats.org/drawingml/2006/main" noGrp="1"/>
          </p:cNvSpPr>
          <p:nvPr/>
        </p:nvSpPr>
        <p:spPr>
          <a:xfrm xmlns:a="http://schemas.openxmlformats.org/drawingml/2006/main">
            <a:off x="8897112"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Context.dev</a:t>
            </a:r>
            <a:endParaRPr sz="790"/>
          </a:p>
        </p:txBody>
      </p:sp>
      <p:sp>
        <p:nvSpPr>
          <p:cNvPr id="46" name="Shape 44">
            <a:extLst xmlns:a="http://schemas.openxmlformats.org/drawingml/2006/main">
              <a:ext uri="{FF2B5EF4-FFF2-40B4-BE49-F238E27FC236}">
                <a16:creationId xmlns:a16="http://schemas.microsoft.com/office/drawing/2014/main" id="{3BF3ACE4-7473-4661-AA3F-4E6E457CE788}"/>
              </a:ext>
            </a:extLst>
          </p:cNvPr>
          <p:cNvSpPr>
            <a:spLocks xmlns:a="http://schemas.openxmlformats.org/drawingml/2006/main" noGrp="1"/>
          </p:cNvSpPr>
          <p:nvPr/>
        </p:nvSpPr>
        <p:spPr>
          <a:xfrm xmlns:a="http://schemas.openxmlformats.org/drawingml/2006/main">
            <a:off x="10085832" y="5769864"/>
            <a:ext cx="228600" cy="201168"/>
          </a:xfrm>
          <a:prstGeom xmlns:a="http://schemas.openxmlformats.org/drawingml/2006/main" prst="chevron">
            <a:avLst/>
          </a:prstGeom>
          <a:solidFill xmlns:a="http://schemas.openxmlformats.org/drawingml/2006/main">
            <a:srgbClr val="6B7280"/>
          </a:solidFill>
          <a:ln xmlns:a="http://schemas.openxmlformats.org/drawingml/2006/main" w="12700">
            <a:solidFill>
              <a:srgbClr val="6B7280"/>
            </a:solidFill>
            <a:prstDash val="solid"/>
          </a:ln>
        </p:spPr>
      </p:sp>
      <p:sp>
        <p:nvSpPr>
          <p:cNvPr id="47" name="Shape 45">
            <a:extLst xmlns:a="http://schemas.openxmlformats.org/drawingml/2006/main">
              <a:ext uri="{FF2B5EF4-FFF2-40B4-BE49-F238E27FC236}">
                <a16:creationId xmlns:a16="http://schemas.microsoft.com/office/drawing/2014/main" id="{D427DF52-FA79-4536-BA6D-1D8618E88108}"/>
              </a:ext>
            </a:extLst>
          </p:cNvPr>
          <p:cNvSpPr>
            <a:spLocks xmlns:a="http://schemas.openxmlformats.org/drawingml/2006/main" noGrp="1"/>
          </p:cNvSpPr>
          <p:nvPr/>
        </p:nvSpPr>
        <p:spPr>
          <a:xfrm xmlns:a="http://schemas.openxmlformats.org/drawingml/2006/main">
            <a:off x="10259568" y="5733288"/>
            <a:ext cx="1143000" cy="274320"/>
          </a:xfrm>
          <a:prstGeom xmlns:a="http://schemas.openxmlformats.org/drawingml/2006/main" prst="roundRect">
            <a:avLst/>
          </a:prstGeom>
          <a:solidFill xmlns:a="http://schemas.openxmlformats.org/drawingml/2006/main">
            <a:srgbClr val="F59E0B"/>
          </a:solidFill>
          <a:ln xmlns:a="http://schemas.openxmlformats.org/drawingml/2006/main" w="12700">
            <a:solidFill>
              <a:srgbClr val="F59E0B"/>
            </a:solidFill>
            <a:prstDash val="solid"/>
          </a:ln>
        </p:spPr>
      </p:sp>
      <p:sp>
        <p:nvSpPr>
          <p:cNvPr id="48" name="Text 46">
            <a:extLst xmlns:a="http://schemas.openxmlformats.org/drawingml/2006/main">
              <a:ext uri="{FF2B5EF4-FFF2-40B4-BE49-F238E27FC236}">
                <a16:creationId xmlns:a16="http://schemas.microsoft.com/office/drawing/2014/main" id="{C0212CDD-DE7E-4693-86A7-1F5ABC7DB622}"/>
              </a:ext>
            </a:extLst>
          </p:cNvPr>
          <p:cNvSpPr>
            <a:spLocks xmlns:a="http://schemas.openxmlformats.org/drawingml/2006/main" noGrp="1"/>
          </p:cNvSpPr>
          <p:nvPr/>
        </p:nvSpPr>
        <p:spPr>
          <a:xfrm xmlns:a="http://schemas.openxmlformats.org/drawingml/2006/main">
            <a:off x="10259568" y="5806440"/>
            <a:ext cx="114300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90" b="1">
                <a:solidFill>
                  <a:srgbClr val="1C1C1C"/>
                </a:solidFill>
                <a:latin typeface="Segoe UI"/>
                <a:ea typeface="Segoe UI"/>
                <a:cs typeface="Segoe UI"/>
              </a:rPr>
              <a:t>Voice answer</a:t>
            </a:r>
            <a:endParaRPr sz="790"/>
          </a:p>
        </p:txBody>
      </p:sp>
      <p:sp>
        <p:nvSpPr>
          <p:cNvPr id="49" name="Text 47">
            <a:extLst xmlns:a="http://schemas.openxmlformats.org/drawingml/2006/main">
              <a:ext uri="{FF2B5EF4-FFF2-40B4-BE49-F238E27FC236}">
                <a16:creationId xmlns:a16="http://schemas.microsoft.com/office/drawing/2014/main" id="{86F2AD03-76B5-41C6-A192-92AF27BD63BC}"/>
              </a:ext>
            </a:extLst>
          </p:cNvPr>
          <p:cNvSpPr>
            <a:spLocks xmlns:a="http://schemas.openxmlformats.org/drawingml/2006/main" noGrp="1"/>
          </p:cNvSpPr>
          <p:nvPr/>
        </p:nvSpPr>
        <p:spPr>
          <a:xfrm xmlns:a="http://schemas.openxmlformats.org/drawingml/2006/main">
            <a:off x="1417320" y="6199632"/>
            <a:ext cx="93726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i="1">
                <a:solidFill>
                  <a:srgbClr val="6B7280"/>
                </a:solidFill>
                <a:latin typeface="Segoe UI"/>
                <a:ea typeface="Segoe UI"/>
                <a:cs typeface="Segoe UI"/>
              </a:rPr>
              <a:t>Production recommendation: use a structured weather API for live readings; use Context.dev for fresh, unstructured web and document context.</a:t>
            </a:r>
            <a:endParaRPr sz="830"/>
          </a:p>
        </p:txBody>
      </p:sp>
      <p:sp>
        <p:nvSpPr>
          <p:cNvPr id="50" name="Text 48">
            <a:extLst xmlns:a="http://schemas.openxmlformats.org/drawingml/2006/main">
              <a:ext uri="{FF2B5EF4-FFF2-40B4-BE49-F238E27FC236}">
                <a16:creationId xmlns:a16="http://schemas.microsoft.com/office/drawing/2014/main" id="{334C1A50-8680-40BD-91EE-04025D56F6F6}"/>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51" name="Text 49">
            <a:extLst xmlns:a="http://schemas.openxmlformats.org/drawingml/2006/main">
              <a:ext uri="{FF2B5EF4-FFF2-40B4-BE49-F238E27FC236}">
                <a16:creationId xmlns:a16="http://schemas.microsoft.com/office/drawing/2014/main" id="{B66D893C-4A21-43B4-AF45-AF9DD7003959}"/>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Sources: official ElevenLabs, Context.dev and Devin product documentation and pricing pages, accessed August 2026.</a:t>
            </a:r>
            <a:endParaRPr sz="670"/>
          </a:p>
        </p:txBody>
      </p:sp>
      <p:sp>
        <p:nvSpPr>
          <p:cNvPr id="52" name="Slide Number Placeholder 0">
            <a:extLst xmlns:a="http://schemas.openxmlformats.org/drawingml/2006/main">
              <a:ext uri="{FF2B5EF4-FFF2-40B4-BE49-F238E27FC236}">
                <a16:creationId xmlns:a16="http://schemas.microsoft.com/office/drawing/2014/main" id="{89C33AB9-586C-41DE-AD59-590F6A77E4B2}"/>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6</a:t>
            </a:fld>
            <a:endParaRP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1e8fa77d18094964"/>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9309918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4B10DAF7-0AB1-477B-A429-228FAD707CD7}"/>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1</a:t>
            </a:fld>
            <a:endParaRP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ed667eb4ded423f"/>
          <a:stretch xmlns:a="http://schemas.openxmlformats.org/drawingml/2006/main"/>
        </p:blipFill>
        <p:spPr>
          <a:xfrm xmlns:a="http://schemas.openxmlformats.org/drawingml/2006/main">
            <a:off x="1400175" y="85725"/>
            <a:ext cx="9391650" cy="6334125"/>
          </a:xfrm>
          <a:prstGeom xmlns:a="http://schemas.openxmlformats.org/drawingml/2006/main" prst="rect">
            <a:avLst/>
          </a:prstGeom>
        </p:spPr>
      </p:pic>
    </p:spTree>
    <p:extLst>
      <p:ext uri="{BB962C8B-B14F-4D97-AF65-F5344CB8AC3E}">
        <p14:creationId xmlns:p14="http://schemas.microsoft.com/office/powerpoint/2010/main" val="19329937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AA1CBE51-BF21-47F2-B655-8AC69D868D24}"/>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Demo: HeatSafe Technologies × Meridian Construction LLC</a:t>
            </a:r>
            <a:endParaRPr sz="2700"/>
          </a:p>
        </p:txBody>
      </p:sp>
      <p:sp>
        <p:nvSpPr>
          <p:cNvPr id="8" name="Text 6">
            <a:extLst xmlns:a="http://schemas.openxmlformats.org/drawingml/2006/main">
              <a:ext uri="{FF2B5EF4-FFF2-40B4-BE49-F238E27FC236}">
                <a16:creationId xmlns:a16="http://schemas.microsoft.com/office/drawing/2014/main" id="{460F2C55-231E-4D2C-A31A-BF4A60996DE6}"/>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One fictional customer, three company documents and two use cases.</a:t>
            </a:r>
            <a:endParaRPr sz="1250"/>
          </a:p>
        </p:txBody>
      </p:sp>
      <p:sp>
        <p:nvSpPr>
          <p:cNvPr id="9" name="Shape 7">
            <a:extLst xmlns:a="http://schemas.openxmlformats.org/drawingml/2006/main">
              <a:ext uri="{FF2B5EF4-FFF2-40B4-BE49-F238E27FC236}">
                <a16:creationId xmlns:a16="http://schemas.microsoft.com/office/drawing/2014/main" id="{70AE616A-91C4-4FC4-8D41-178369D3E50F}"/>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AEDDB9AC-3E8A-45F1-9060-4B9BD212FF03}"/>
              </a:ext>
            </a:extLst>
          </p:cNvPr>
          <p:cNvSpPr>
            <a:spLocks xmlns:a="http://schemas.openxmlformats.org/drawingml/2006/main" noGrp="1"/>
          </p:cNvSpPr>
          <p:nvPr/>
        </p:nvSpPr>
        <p:spPr>
          <a:xfrm xmlns:a="http://schemas.openxmlformats.org/drawingml/2006/main">
            <a:off x="502920" y="1901952"/>
            <a:ext cx="2743200" cy="1298448"/>
          </a:xfrm>
          <a:prstGeom xmlns:a="http://schemas.openxmlformats.org/drawingml/2006/main" prst="roundRect">
            <a:avLst>
              <a:gd name="adj" fmla="val 8451"/>
            </a:avLst>
          </a:prstGeom>
          <a:solidFill xmlns:a="http://schemas.openxmlformats.org/drawingml/2006/main">
            <a:srgbClr val="F7F9FB"/>
          </a:solidFill>
          <a:ln xmlns:a="http://schemas.openxmlformats.org/drawingml/2006/main" w="10160">
            <a:solidFill>
              <a:srgbClr val="E1E4EA"/>
            </a:solidFill>
            <a:prstDash val="solid"/>
          </a:ln>
        </p:spPr>
      </p:sp>
      <p:sp>
        <p:nvSpPr>
          <p:cNvPr id="11" name="Text 9">
            <a:extLst xmlns:a="http://schemas.openxmlformats.org/drawingml/2006/main">
              <a:ext uri="{FF2B5EF4-FFF2-40B4-BE49-F238E27FC236}">
                <a16:creationId xmlns:a16="http://schemas.microsoft.com/office/drawing/2014/main" id="{E1B9715F-DD49-4AE0-8E17-EAD9B3CC59DB}"/>
              </a:ext>
            </a:extLst>
          </p:cNvPr>
          <p:cNvSpPr>
            <a:spLocks xmlns:a="http://schemas.openxmlformats.org/drawingml/2006/main" noGrp="1"/>
          </p:cNvSpPr>
          <p:nvPr/>
        </p:nvSpPr>
        <p:spPr>
          <a:xfrm xmlns:a="http://schemas.openxmlformats.org/drawingml/2006/main">
            <a:off x="749808" y="2121408"/>
            <a:ext cx="1097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59E0B"/>
                </a:solidFill>
                <a:latin typeface="Segoe UI"/>
                <a:ea typeface="Segoe UI"/>
                <a:cs typeface="Segoe UI"/>
              </a:rPr>
              <a:t>OUR COMPANY</a:t>
            </a:r>
            <a:endParaRPr sz="900"/>
          </a:p>
        </p:txBody>
      </p:sp>
      <p:sp>
        <p:nvSpPr>
          <p:cNvPr id="12" name="Text 10">
            <a:extLst xmlns:a="http://schemas.openxmlformats.org/drawingml/2006/main">
              <a:ext uri="{FF2B5EF4-FFF2-40B4-BE49-F238E27FC236}">
                <a16:creationId xmlns:a16="http://schemas.microsoft.com/office/drawing/2014/main" id="{F3FB7658-7CB4-4FB5-BF12-BC01973D07F3}"/>
              </a:ext>
            </a:extLst>
          </p:cNvPr>
          <p:cNvSpPr>
            <a:spLocks xmlns:a="http://schemas.openxmlformats.org/drawingml/2006/main" noGrp="1"/>
          </p:cNvSpPr>
          <p:nvPr/>
        </p:nvSpPr>
        <p:spPr>
          <a:xfrm xmlns:a="http://schemas.openxmlformats.org/drawingml/2006/main">
            <a:off x="749808" y="2414016"/>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C1C1C"/>
                </a:solidFill>
                <a:latin typeface="Segoe UI"/>
                <a:ea typeface="Segoe UI"/>
                <a:cs typeface="Segoe UI"/>
              </a:rPr>
              <a:t>HeatSafe Technologies</a:t>
            </a:r>
            <a:endParaRPr sz="1600"/>
          </a:p>
        </p:txBody>
      </p:sp>
      <p:sp>
        <p:nvSpPr>
          <p:cNvPr id="13" name="Text 11">
            <a:extLst xmlns:a="http://schemas.openxmlformats.org/drawingml/2006/main">
              <a:ext uri="{FF2B5EF4-FFF2-40B4-BE49-F238E27FC236}">
                <a16:creationId xmlns:a16="http://schemas.microsoft.com/office/drawing/2014/main" id="{D5FDD286-1941-4559-9587-9C6B9A5D14A4}"/>
              </a:ext>
            </a:extLst>
          </p:cNvPr>
          <p:cNvSpPr>
            <a:spLocks xmlns:a="http://schemas.openxmlformats.org/drawingml/2006/main" noGrp="1"/>
          </p:cNvSpPr>
          <p:nvPr/>
        </p:nvSpPr>
        <p:spPr>
          <a:xfrm xmlns:a="http://schemas.openxmlformats.org/drawingml/2006/main">
            <a:off x="749808" y="2779776"/>
            <a:ext cx="2057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70">
                <a:solidFill>
                  <a:srgbClr val="6B7280"/>
                </a:solidFill>
                <a:latin typeface="Segoe UI"/>
                <a:ea typeface="Segoe UI"/>
                <a:cs typeface="Segoe UI"/>
              </a:rPr>
              <a:t>Voice layer, source logic, live context and safety guardrails.</a:t>
            </a:r>
            <a:endParaRPr sz="970"/>
          </a:p>
        </p:txBody>
      </p:sp>
      <p:sp>
        <p:nvSpPr>
          <p:cNvPr id="14" name="Shape 12">
            <a:extLst xmlns:a="http://schemas.openxmlformats.org/drawingml/2006/main">
              <a:ext uri="{FF2B5EF4-FFF2-40B4-BE49-F238E27FC236}">
                <a16:creationId xmlns:a16="http://schemas.microsoft.com/office/drawing/2014/main" id="{C15E7BA6-B3AE-49E6-ADCC-73B5844828C6}"/>
              </a:ext>
            </a:extLst>
          </p:cNvPr>
          <p:cNvSpPr>
            <a:spLocks xmlns:a="http://schemas.openxmlformats.org/drawingml/2006/main" noGrp="1"/>
          </p:cNvSpPr>
          <p:nvPr/>
        </p:nvSpPr>
        <p:spPr>
          <a:xfrm xmlns:a="http://schemas.openxmlformats.org/drawingml/2006/main">
            <a:off x="502920" y="3438144"/>
            <a:ext cx="2743200" cy="1901952"/>
          </a:xfrm>
          <a:prstGeom xmlns:a="http://schemas.openxmlformats.org/drawingml/2006/main" prst="roundRect">
            <a:avLst>
              <a:gd name="adj" fmla="val 5769"/>
            </a:avLst>
          </a:prstGeom>
          <a:solidFill xmlns:a="http://schemas.openxmlformats.org/drawingml/2006/main">
            <a:srgbClr val="F4F4F5"/>
          </a:solidFill>
          <a:ln xmlns:a="http://schemas.openxmlformats.org/drawingml/2006/main" w="10160">
            <a:solidFill>
              <a:srgbClr val="E1E4EA"/>
            </a:solidFill>
            <a:prstDash val="solid"/>
          </a:ln>
        </p:spPr>
      </p:sp>
      <p:sp>
        <p:nvSpPr>
          <p:cNvPr id="15" name="Text 13">
            <a:extLst xmlns:a="http://schemas.openxmlformats.org/drawingml/2006/main">
              <a:ext uri="{FF2B5EF4-FFF2-40B4-BE49-F238E27FC236}">
                <a16:creationId xmlns:a16="http://schemas.microsoft.com/office/drawing/2014/main" id="{0C58120C-9C20-4B4A-86DB-FAFCAFE34DA4}"/>
              </a:ext>
            </a:extLst>
          </p:cNvPr>
          <p:cNvSpPr>
            <a:spLocks xmlns:a="http://schemas.openxmlformats.org/drawingml/2006/main" noGrp="1"/>
          </p:cNvSpPr>
          <p:nvPr/>
        </p:nvSpPr>
        <p:spPr>
          <a:xfrm xmlns:a="http://schemas.openxmlformats.org/drawingml/2006/main">
            <a:off x="749808" y="3675888"/>
            <a:ext cx="12344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3B82F6"/>
                </a:solidFill>
                <a:latin typeface="Segoe UI"/>
                <a:ea typeface="Segoe UI"/>
                <a:cs typeface="Segoe UI"/>
              </a:rPr>
              <a:t>FICTIONAL CLIENT</a:t>
            </a:r>
            <a:endParaRPr sz="900"/>
          </a:p>
        </p:txBody>
      </p:sp>
      <p:sp>
        <p:nvSpPr>
          <p:cNvPr id="16" name="Text 14">
            <a:extLst xmlns:a="http://schemas.openxmlformats.org/drawingml/2006/main">
              <a:ext uri="{FF2B5EF4-FFF2-40B4-BE49-F238E27FC236}">
                <a16:creationId xmlns:a16="http://schemas.microsoft.com/office/drawing/2014/main" id="{5099BB1B-4468-4A36-8487-C8F126CC787A}"/>
              </a:ext>
            </a:extLst>
          </p:cNvPr>
          <p:cNvSpPr>
            <a:spLocks xmlns:a="http://schemas.openxmlformats.org/drawingml/2006/main" noGrp="1"/>
          </p:cNvSpPr>
          <p:nvPr/>
        </p:nvSpPr>
        <p:spPr>
          <a:xfrm xmlns:a="http://schemas.openxmlformats.org/drawingml/2006/main">
            <a:off x="749808" y="3950208"/>
            <a:ext cx="214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C1C1C"/>
                </a:solidFill>
                <a:latin typeface="Segoe UI"/>
                <a:ea typeface="Segoe UI"/>
                <a:cs typeface="Segoe UI"/>
              </a:rPr>
              <a:t>Meridian Construction LLC</a:t>
            </a:r>
            <a:endParaRPr sz="1600"/>
          </a:p>
        </p:txBody>
      </p:sp>
      <p:sp>
        <p:nvSpPr>
          <p:cNvPr id="17" name="Text 15">
            <a:extLst xmlns:a="http://schemas.openxmlformats.org/drawingml/2006/main">
              <a:ext uri="{FF2B5EF4-FFF2-40B4-BE49-F238E27FC236}">
                <a16:creationId xmlns:a16="http://schemas.microsoft.com/office/drawing/2014/main" id="{A380994B-1504-4E3F-9EEB-2D76AA7C5FD7}"/>
              </a:ext>
            </a:extLst>
          </p:cNvPr>
          <p:cNvSpPr>
            <a:spLocks xmlns:a="http://schemas.openxmlformats.org/drawingml/2006/main" noGrp="1"/>
          </p:cNvSpPr>
          <p:nvPr/>
        </p:nvSpPr>
        <p:spPr>
          <a:xfrm xmlns:a="http://schemas.openxmlformats.org/drawingml/2006/main">
            <a:off x="731520" y="4453128"/>
            <a:ext cx="2057400" cy="6858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50">
                <a:solidFill>
                  <a:srgbClr val="1C1C1C"/>
                </a:solidFill>
                <a:latin typeface="Segoe UI"/>
                <a:ea typeface="Segoe UI"/>
                <a:cs typeface="Segoe UI"/>
              </a:rPr>
              <a:t>500 workers</a:t>
            </a:r>
            <a:endParaRPr sz="1050"/>
          </a:p>
          <a:p xmlns:a="http://schemas.openxmlformats.org/drawingml/2006/main">
            <a:pPr marL="152400" indent="-152400">
              <a:buSzPct val="100000"/>
              <a:buChar char="•"/>
            </a:pPr>
            <a:r>
              <a:rPr sz="1050">
                <a:solidFill>
                  <a:srgbClr val="1C1C1C"/>
                </a:solidFill>
                <a:latin typeface="Segoe UI"/>
                <a:ea typeface="Segoe UI"/>
                <a:cs typeface="Segoe UI"/>
              </a:rPr>
              <a:t>Dubai construction site</a:t>
            </a:r>
            <a:endParaRPr sz="1050"/>
          </a:p>
          <a:p xmlns:a="http://schemas.openxmlformats.org/drawingml/2006/main">
            <a:pPr marL="152400" indent="-152400">
              <a:buSzPct val="100000"/>
              <a:buChar char="•"/>
            </a:pPr>
            <a:r>
              <a:rPr sz="1050">
                <a:solidFill>
                  <a:srgbClr val="1C1C1C"/>
                </a:solidFill>
                <a:latin typeface="Segoe UI"/>
                <a:ea typeface="Segoe UI"/>
                <a:cs typeface="Segoe UI"/>
              </a:rPr>
              <a:t>3 pre-loaded SOPs</a:t>
            </a:r>
            <a:endParaRPr sz="1050"/>
          </a:p>
          <a:p xmlns:a="http://schemas.openxmlformats.org/drawingml/2006/main">
            <a:pPr marL="152400" indent="-152400">
              <a:buSzPct val="100000"/>
              <a:buChar char="•"/>
            </a:pPr>
            <a:r>
              <a:rPr sz="1050">
                <a:solidFill>
                  <a:srgbClr val="1C1C1C"/>
                </a:solidFill>
                <a:latin typeface="Segoe UI"/>
                <a:ea typeface="Segoe UI"/>
                <a:cs typeface="Segoe UI"/>
              </a:rPr>
              <a:t>Strict 30 km/h scaffold limit</a:t>
            </a:r>
            <a:endParaRPr sz="1050"/>
          </a:p>
        </p:txBody>
      </p:sp>
      <p:sp>
        <p:nvSpPr>
          <p:cNvPr id="18" name="Shape 16">
            <a:extLst xmlns:a="http://schemas.openxmlformats.org/drawingml/2006/main">
              <a:ext uri="{FF2B5EF4-FFF2-40B4-BE49-F238E27FC236}">
                <a16:creationId xmlns:a16="http://schemas.microsoft.com/office/drawing/2014/main" id="{966A5767-50C0-41A5-9562-0BAF83584D76}"/>
              </a:ext>
            </a:extLst>
          </p:cNvPr>
          <p:cNvSpPr>
            <a:spLocks xmlns:a="http://schemas.openxmlformats.org/drawingml/2006/main" noGrp="1"/>
          </p:cNvSpPr>
          <p:nvPr/>
        </p:nvSpPr>
        <p:spPr>
          <a:xfrm xmlns:a="http://schemas.openxmlformats.org/drawingml/2006/main">
            <a:off x="3767328" y="1847088"/>
            <a:ext cx="4041648" cy="4361688"/>
          </a:xfrm>
          <a:prstGeom xmlns:a="http://schemas.openxmlformats.org/drawingml/2006/main" prst="roundRect">
            <a:avLst/>
          </a:prstGeom>
          <a:solidFill xmlns:a="http://schemas.openxmlformats.org/drawingml/2006/main">
            <a:srgbClr val="F4F4F5"/>
          </a:solidFill>
          <a:ln xmlns:a="http://schemas.openxmlformats.org/drawingml/2006/main" w="15240">
            <a:solidFill>
              <a:srgbClr val="C8CBD0"/>
            </a:solidFill>
            <a:prstDash val="solid"/>
          </a:ln>
        </p:spPr>
      </p:sp>
      <p:sp>
        <p:nvSpPr>
          <p:cNvPr id="19" name="Shape 17">
            <a:extLst xmlns:a="http://schemas.openxmlformats.org/drawingml/2006/main">
              <a:ext uri="{FF2B5EF4-FFF2-40B4-BE49-F238E27FC236}">
                <a16:creationId xmlns:a16="http://schemas.microsoft.com/office/drawing/2014/main" id="{BBD38E64-C8E8-4C44-AFD0-2B13E355DFBD}"/>
              </a:ext>
            </a:extLst>
          </p:cNvPr>
          <p:cNvSpPr>
            <a:spLocks xmlns:a="http://schemas.openxmlformats.org/drawingml/2006/main" noGrp="1"/>
          </p:cNvSpPr>
          <p:nvPr/>
        </p:nvSpPr>
        <p:spPr>
          <a:xfrm xmlns:a="http://schemas.openxmlformats.org/drawingml/2006/main">
            <a:off x="5102352" y="1965960"/>
            <a:ext cx="1353312" cy="146304"/>
          </a:xfrm>
          <a:prstGeom xmlns:a="http://schemas.openxmlformats.org/drawingml/2006/main" prst="roundRect">
            <a:avLst/>
          </a:prstGeom>
          <a:solidFill xmlns:a="http://schemas.openxmlformats.org/drawingml/2006/main">
            <a:srgbClr val="C8CBD0"/>
          </a:solidFill>
          <a:ln xmlns:a="http://schemas.openxmlformats.org/drawingml/2006/main" w="12700">
            <a:solidFill>
              <a:srgbClr val="C8CBD0"/>
            </a:solidFill>
            <a:prstDash val="solid"/>
          </a:ln>
        </p:spPr>
      </p:sp>
      <p:sp>
        <p:nvSpPr>
          <p:cNvPr id="20" name="Text 18">
            <a:extLst xmlns:a="http://schemas.openxmlformats.org/drawingml/2006/main">
              <a:ext uri="{FF2B5EF4-FFF2-40B4-BE49-F238E27FC236}">
                <a16:creationId xmlns:a16="http://schemas.microsoft.com/office/drawing/2014/main" id="{832C4D70-5508-4376-A587-348BAE92F0E8}"/>
              </a:ext>
            </a:extLst>
          </p:cNvPr>
          <p:cNvSpPr>
            <a:spLocks xmlns:a="http://schemas.openxmlformats.org/drawingml/2006/main" noGrp="1"/>
          </p:cNvSpPr>
          <p:nvPr/>
        </p:nvSpPr>
        <p:spPr>
          <a:xfrm xmlns:a="http://schemas.openxmlformats.org/drawingml/2006/main">
            <a:off x="4041648" y="2267712"/>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C1C1C"/>
                </a:solidFill>
                <a:latin typeface="Segoe UI"/>
                <a:ea typeface="Segoe UI"/>
                <a:cs typeface="Segoe UI"/>
              </a:rPr>
              <a:t>HeatSafe</a:t>
            </a:r>
            <a:endParaRPr sz="1500"/>
          </a:p>
        </p:txBody>
      </p:sp>
      <p:sp>
        <p:nvSpPr>
          <p:cNvPr id="21" name="Text 19">
            <a:extLst xmlns:a="http://schemas.openxmlformats.org/drawingml/2006/main">
              <a:ext uri="{FF2B5EF4-FFF2-40B4-BE49-F238E27FC236}">
                <a16:creationId xmlns:a16="http://schemas.microsoft.com/office/drawing/2014/main" id="{69FF1AA0-3AEE-4295-A0A0-12FAE6D0CFB8}"/>
              </a:ext>
            </a:extLst>
          </p:cNvPr>
          <p:cNvSpPr>
            <a:spLocks xmlns:a="http://schemas.openxmlformats.org/drawingml/2006/main" noGrp="1"/>
          </p:cNvSpPr>
          <p:nvPr/>
        </p:nvSpPr>
        <p:spPr>
          <a:xfrm xmlns:a="http://schemas.openxmlformats.org/drawingml/2006/main">
            <a:off x="5504688" y="2295144"/>
            <a:ext cx="1810512"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80" b="1">
                <a:solidFill>
                  <a:srgbClr val="3B82F6"/>
                </a:solidFill>
                <a:latin typeface="Segoe UI"/>
                <a:ea typeface="Segoe UI"/>
                <a:cs typeface="Segoe UI"/>
              </a:rPr>
              <a:t>MERIDIAN SITE • DUBAI</a:t>
            </a:r>
            <a:endParaRPr sz="780"/>
          </a:p>
        </p:txBody>
      </p:sp>
      <p:sp>
        <p:nvSpPr>
          <p:cNvPr id="22" name="Shape 20">
            <a:extLst xmlns:a="http://schemas.openxmlformats.org/drawingml/2006/main">
              <a:ext uri="{FF2B5EF4-FFF2-40B4-BE49-F238E27FC236}">
                <a16:creationId xmlns:a16="http://schemas.microsoft.com/office/drawing/2014/main" id="{C64A56CC-3150-43AA-808B-7AFDD179477F}"/>
              </a:ext>
            </a:extLst>
          </p:cNvPr>
          <p:cNvSpPr>
            <a:spLocks xmlns:a="http://schemas.openxmlformats.org/drawingml/2006/main" noGrp="1"/>
          </p:cNvSpPr>
          <p:nvPr/>
        </p:nvSpPr>
        <p:spPr>
          <a:xfrm xmlns:a="http://schemas.openxmlformats.org/drawingml/2006/main">
            <a:off x="4041648" y="2697480"/>
            <a:ext cx="3493008" cy="667512"/>
          </a:xfrm>
          <a:prstGeom xmlns:a="http://schemas.openxmlformats.org/drawingml/2006/main" prst="roundRect">
            <a:avLst>
              <a:gd name="adj" fmla="val 16438"/>
            </a:avLst>
          </a:prstGeom>
          <a:solidFill xmlns:a="http://schemas.openxmlformats.org/drawingml/2006/main">
            <a:srgbClr val="F7F9FB"/>
          </a:solidFill>
          <a:ln xmlns:a="http://schemas.openxmlformats.org/drawingml/2006/main" w="10160">
            <a:solidFill>
              <a:srgbClr val="E1E4EA"/>
            </a:solidFill>
            <a:prstDash val="solid"/>
          </a:ln>
        </p:spPr>
      </p:sp>
      <p:sp>
        <p:nvSpPr>
          <p:cNvPr id="23" name="Text 21">
            <a:extLst xmlns:a="http://schemas.openxmlformats.org/drawingml/2006/main">
              <a:ext uri="{FF2B5EF4-FFF2-40B4-BE49-F238E27FC236}">
                <a16:creationId xmlns:a16="http://schemas.microsoft.com/office/drawing/2014/main" id="{FC9DCDF2-097B-4372-991E-376A1C600C10}"/>
              </a:ext>
            </a:extLst>
          </p:cNvPr>
          <p:cNvSpPr>
            <a:spLocks xmlns:a="http://schemas.openxmlformats.org/drawingml/2006/main" noGrp="1"/>
          </p:cNvSpPr>
          <p:nvPr/>
        </p:nvSpPr>
        <p:spPr>
          <a:xfrm xmlns:a="http://schemas.openxmlformats.org/drawingml/2006/main">
            <a:off x="4224528" y="2898648"/>
            <a:ext cx="31272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1C1C1C"/>
                </a:solidFill>
                <a:latin typeface="Segoe UI"/>
                <a:ea typeface="Segoe UI"/>
                <a:cs typeface="Segoe UI"/>
              </a:rPr>
              <a:t>“What should we be working on this morning?”</a:t>
            </a:r>
            <a:endParaRPr sz="1150"/>
          </a:p>
        </p:txBody>
      </p:sp>
      <p:sp>
        <p:nvSpPr>
          <p:cNvPr id="24" name="Shape 22">
            <a:extLst xmlns:a="http://schemas.openxmlformats.org/drawingml/2006/main">
              <a:ext uri="{FF2B5EF4-FFF2-40B4-BE49-F238E27FC236}">
                <a16:creationId xmlns:a16="http://schemas.microsoft.com/office/drawing/2014/main" id="{5FC29A63-D1F5-4EBF-8EEA-EE58C47A59B5}"/>
              </a:ext>
            </a:extLst>
          </p:cNvPr>
          <p:cNvSpPr>
            <a:spLocks xmlns:a="http://schemas.openxmlformats.org/drawingml/2006/main" noGrp="1"/>
          </p:cNvSpPr>
          <p:nvPr/>
        </p:nvSpPr>
        <p:spPr>
          <a:xfrm xmlns:a="http://schemas.openxmlformats.org/drawingml/2006/main">
            <a:off x="4041648" y="3566160"/>
            <a:ext cx="3493008" cy="1508760"/>
          </a:xfrm>
          <a:prstGeom xmlns:a="http://schemas.openxmlformats.org/drawingml/2006/main" prst="roundRect">
            <a:avLst>
              <a:gd name="adj" fmla="val 7273"/>
            </a:avLst>
          </a:prstGeom>
          <a:solidFill xmlns:a="http://schemas.openxmlformats.org/drawingml/2006/main">
            <a:srgbClr val="E8F1FF"/>
          </a:solidFill>
          <a:ln xmlns:a="http://schemas.openxmlformats.org/drawingml/2006/main" w="10160">
            <a:solidFill>
              <a:srgbClr val="3B82F6"/>
            </a:solidFill>
            <a:prstDash val="solid"/>
          </a:ln>
        </p:spPr>
      </p:sp>
      <p:sp>
        <p:nvSpPr>
          <p:cNvPr id="25" name="Text 23">
            <a:extLst xmlns:a="http://schemas.openxmlformats.org/drawingml/2006/main">
              <a:ext uri="{FF2B5EF4-FFF2-40B4-BE49-F238E27FC236}">
                <a16:creationId xmlns:a16="http://schemas.microsoft.com/office/drawing/2014/main" id="{C1D0F911-8481-4AA4-BD57-FF24A4D27163}"/>
              </a:ext>
            </a:extLst>
          </p:cNvPr>
          <p:cNvSpPr>
            <a:spLocks xmlns:a="http://schemas.openxmlformats.org/drawingml/2006/main" noGrp="1"/>
          </p:cNvSpPr>
          <p:nvPr/>
        </p:nvSpPr>
        <p:spPr>
          <a:xfrm xmlns:a="http://schemas.openxmlformats.org/drawingml/2006/main">
            <a:off x="4251960" y="3767328"/>
            <a:ext cx="3063240" cy="106070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buNone/>
            </a:pPr>
            <a:r>
              <a:rPr sz="1080">
                <a:solidFill>
                  <a:srgbClr val="1C1C1C"/>
                </a:solidFill>
                <a:latin typeface="Segoe UI"/>
                <a:ea typeface="Segoe UI"/>
                <a:cs typeface="Segoe UI"/>
              </a:rPr>
              <a:t>Wind is 34 km/h. Meridian’s Working at Height SOP sets the scaffold limit at 30 km/h. External guidance is less strict, so I am following Meridian’s policy. Scaffold work should be suspended. Confirm with your supervisor.</a:t>
            </a:r>
            <a:endParaRPr sz="1080"/>
          </a:p>
        </p:txBody>
      </p:sp>
      <p:sp>
        <p:nvSpPr>
          <p:cNvPr id="26" name="Text 24">
            <a:extLst xmlns:a="http://schemas.openxmlformats.org/drawingml/2006/main">
              <a:ext uri="{FF2B5EF4-FFF2-40B4-BE49-F238E27FC236}">
                <a16:creationId xmlns:a16="http://schemas.microsoft.com/office/drawing/2014/main" id="{D5F814D0-295B-4655-85C6-4AADFFB23B42}"/>
              </a:ext>
            </a:extLst>
          </p:cNvPr>
          <p:cNvSpPr>
            <a:spLocks xmlns:a="http://schemas.openxmlformats.org/drawingml/2006/main" noGrp="1"/>
          </p:cNvSpPr>
          <p:nvPr/>
        </p:nvSpPr>
        <p:spPr>
          <a:xfrm xmlns:a="http://schemas.openxmlformats.org/drawingml/2006/main">
            <a:off x="4261104" y="4910328"/>
            <a:ext cx="301752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3B82F6"/>
                </a:solidFill>
                <a:latin typeface="Segoe UI"/>
                <a:ea typeface="Segoe UI"/>
                <a:cs typeface="Segoe UI"/>
              </a:rPr>
              <a:t>Source: Meridian Working at Height SOP, section 4.2</a:t>
            </a:r>
            <a:endParaRPr sz="750"/>
          </a:p>
        </p:txBody>
      </p:sp>
      <p:sp>
        <p:nvSpPr>
          <p:cNvPr id="30" name="Shape 28">
            <a:extLst xmlns:a="http://schemas.openxmlformats.org/drawingml/2006/main">
              <a:ext uri="{FF2B5EF4-FFF2-40B4-BE49-F238E27FC236}">
                <a16:creationId xmlns:a16="http://schemas.microsoft.com/office/drawing/2014/main" id="{F6637B3F-BF2C-45D2-85BE-80022973B1FC}"/>
              </a:ext>
            </a:extLst>
          </p:cNvPr>
          <p:cNvSpPr>
            <a:spLocks xmlns:a="http://schemas.openxmlformats.org/drawingml/2006/main" noGrp="1"/>
          </p:cNvSpPr>
          <p:nvPr/>
        </p:nvSpPr>
        <p:spPr>
          <a:xfrm xmlns:a="http://schemas.openxmlformats.org/drawingml/2006/main">
            <a:off x="8165592" y="1901952"/>
            <a:ext cx="3520440" cy="4306824"/>
          </a:xfrm>
          <a:prstGeom xmlns:a="http://schemas.openxmlformats.org/drawingml/2006/main" prst="roundRect">
            <a:avLst>
              <a:gd name="adj" fmla="val 3117"/>
            </a:avLst>
          </a:prstGeom>
          <a:solidFill xmlns:a="http://schemas.openxmlformats.org/drawingml/2006/main">
            <a:srgbClr val="F7F9FB"/>
          </a:solidFill>
          <a:ln xmlns:a="http://schemas.openxmlformats.org/drawingml/2006/main" w="10160">
            <a:solidFill>
              <a:srgbClr val="E1E4EA"/>
            </a:solidFill>
            <a:prstDash val="solid"/>
          </a:ln>
        </p:spPr>
      </p:sp>
      <p:sp>
        <p:nvSpPr>
          <p:cNvPr id="31" name="Text 29">
            <a:extLst xmlns:a="http://schemas.openxmlformats.org/drawingml/2006/main">
              <a:ext uri="{FF2B5EF4-FFF2-40B4-BE49-F238E27FC236}">
                <a16:creationId xmlns:a16="http://schemas.microsoft.com/office/drawing/2014/main" id="{E9415021-1129-4F33-9689-D7381BE777ED}"/>
              </a:ext>
            </a:extLst>
          </p:cNvPr>
          <p:cNvSpPr>
            <a:spLocks xmlns:a="http://schemas.openxmlformats.org/drawingml/2006/main" noGrp="1"/>
          </p:cNvSpPr>
          <p:nvPr/>
        </p:nvSpPr>
        <p:spPr>
          <a:xfrm xmlns:a="http://schemas.openxmlformats.org/drawingml/2006/main">
            <a:off x="8458200" y="2157984"/>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6B7280"/>
                </a:solidFill>
                <a:latin typeface="Segoe UI"/>
                <a:ea typeface="Segoe UI"/>
                <a:cs typeface="Segoe UI"/>
              </a:rPr>
              <a:t>WHAT THE DEMO PROVES</a:t>
            </a:r>
            <a:endParaRPr sz="950"/>
          </a:p>
        </p:txBody>
      </p:sp>
      <p:sp>
        <p:nvSpPr>
          <p:cNvPr id="32" name="Shape 30">
            <a:extLst xmlns:a="http://schemas.openxmlformats.org/drawingml/2006/main">
              <a:ext uri="{FF2B5EF4-FFF2-40B4-BE49-F238E27FC236}">
                <a16:creationId xmlns:a16="http://schemas.microsoft.com/office/drawing/2014/main" id="{F6F8662F-E3F9-42AE-BC45-951FD79F33F0}"/>
              </a:ext>
            </a:extLst>
          </p:cNvPr>
          <p:cNvSpPr>
            <a:spLocks xmlns:a="http://schemas.openxmlformats.org/drawingml/2006/main" noGrp="1"/>
          </p:cNvSpPr>
          <p:nvPr/>
        </p:nvSpPr>
        <p:spPr>
          <a:xfrm xmlns:a="http://schemas.openxmlformats.org/drawingml/2006/main">
            <a:off x="8449056" y="2578608"/>
            <a:ext cx="347472" cy="34747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33" name="Text 31">
            <a:extLst xmlns:a="http://schemas.openxmlformats.org/drawingml/2006/main">
              <a:ext uri="{FF2B5EF4-FFF2-40B4-BE49-F238E27FC236}">
                <a16:creationId xmlns:a16="http://schemas.microsoft.com/office/drawing/2014/main" id="{0980BE50-77E9-4901-B894-5DC224E3B570}"/>
              </a:ext>
            </a:extLst>
          </p:cNvPr>
          <p:cNvSpPr>
            <a:spLocks xmlns:a="http://schemas.openxmlformats.org/drawingml/2006/main" noGrp="1"/>
          </p:cNvSpPr>
          <p:nvPr/>
        </p:nvSpPr>
        <p:spPr>
          <a:xfrm xmlns:a="http://schemas.openxmlformats.org/drawingml/2006/main">
            <a:off x="8449056" y="2628900"/>
            <a:ext cx="3474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1</a:t>
            </a:r>
            <a:endParaRPr sz="1400"/>
          </a:p>
        </p:txBody>
      </p:sp>
      <p:sp>
        <p:nvSpPr>
          <p:cNvPr id="34" name="Text 32">
            <a:extLst xmlns:a="http://schemas.openxmlformats.org/drawingml/2006/main">
              <a:ext uri="{FF2B5EF4-FFF2-40B4-BE49-F238E27FC236}">
                <a16:creationId xmlns:a16="http://schemas.microsoft.com/office/drawing/2014/main" id="{238AC4CD-6D61-48DB-A517-D6307F2E37E6}"/>
              </a:ext>
            </a:extLst>
          </p:cNvPr>
          <p:cNvSpPr>
            <a:spLocks xmlns:a="http://schemas.openxmlformats.org/drawingml/2006/main" noGrp="1"/>
          </p:cNvSpPr>
          <p:nvPr/>
        </p:nvSpPr>
        <p:spPr>
          <a:xfrm xmlns:a="http://schemas.openxmlformats.org/drawingml/2006/main">
            <a:off x="8924544" y="2551176"/>
            <a:ext cx="2240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40" b="1">
                <a:solidFill>
                  <a:srgbClr val="1C1C1C"/>
                </a:solidFill>
                <a:latin typeface="Segoe UI"/>
                <a:ea typeface="Segoe UI"/>
                <a:cs typeface="Segoe UI"/>
              </a:rPr>
              <a:t>Hands-free Q&amp;A</a:t>
            </a:r>
            <a:endParaRPr sz="1040"/>
          </a:p>
        </p:txBody>
      </p:sp>
      <p:sp>
        <p:nvSpPr>
          <p:cNvPr id="35" name="Text 33">
            <a:extLst xmlns:a="http://schemas.openxmlformats.org/drawingml/2006/main">
              <a:ext uri="{FF2B5EF4-FFF2-40B4-BE49-F238E27FC236}">
                <a16:creationId xmlns:a16="http://schemas.microsoft.com/office/drawing/2014/main" id="{9C2C77B0-FD0B-492E-9684-8347E74BC14F}"/>
              </a:ext>
            </a:extLst>
          </p:cNvPr>
          <p:cNvSpPr>
            <a:spLocks xmlns:a="http://schemas.openxmlformats.org/drawingml/2006/main" noGrp="1"/>
          </p:cNvSpPr>
          <p:nvPr/>
        </p:nvSpPr>
        <p:spPr>
          <a:xfrm xmlns:a="http://schemas.openxmlformats.org/drawingml/2006/main">
            <a:off x="8924544" y="275234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60">
                <a:solidFill>
                  <a:srgbClr val="6B7280"/>
                </a:solidFill>
                <a:latin typeface="Segoe UI"/>
                <a:ea typeface="Segoe UI"/>
                <a:cs typeface="Segoe UI"/>
              </a:rPr>
              <a:t>Worker speaks while hands are occupied.</a:t>
            </a:r>
            <a:endParaRPr sz="860"/>
          </a:p>
        </p:txBody>
      </p:sp>
      <p:sp>
        <p:nvSpPr>
          <p:cNvPr id="36" name="Shape 34">
            <a:extLst xmlns:a="http://schemas.openxmlformats.org/drawingml/2006/main">
              <a:ext uri="{FF2B5EF4-FFF2-40B4-BE49-F238E27FC236}">
                <a16:creationId xmlns:a16="http://schemas.microsoft.com/office/drawing/2014/main" id="{F60400B3-6A01-40F7-9538-A03DFB98D292}"/>
              </a:ext>
            </a:extLst>
          </p:cNvPr>
          <p:cNvSpPr>
            <a:spLocks xmlns:a="http://schemas.openxmlformats.org/drawingml/2006/main" noGrp="1"/>
          </p:cNvSpPr>
          <p:nvPr/>
        </p:nvSpPr>
        <p:spPr>
          <a:xfrm xmlns:a="http://schemas.openxmlformats.org/drawingml/2006/main">
            <a:off x="8449056" y="3182112"/>
            <a:ext cx="347472" cy="34747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37" name="Text 35">
            <a:extLst xmlns:a="http://schemas.openxmlformats.org/drawingml/2006/main">
              <a:ext uri="{FF2B5EF4-FFF2-40B4-BE49-F238E27FC236}">
                <a16:creationId xmlns:a16="http://schemas.microsoft.com/office/drawing/2014/main" id="{60244235-D192-49EC-8DC6-4797EC6C40C1}"/>
              </a:ext>
            </a:extLst>
          </p:cNvPr>
          <p:cNvSpPr>
            <a:spLocks xmlns:a="http://schemas.openxmlformats.org/drawingml/2006/main" noGrp="1"/>
          </p:cNvSpPr>
          <p:nvPr/>
        </p:nvSpPr>
        <p:spPr>
          <a:xfrm xmlns:a="http://schemas.openxmlformats.org/drawingml/2006/main">
            <a:off x="8449056" y="3232404"/>
            <a:ext cx="3474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2</a:t>
            </a:r>
            <a:endParaRPr sz="1400"/>
          </a:p>
        </p:txBody>
      </p:sp>
      <p:sp>
        <p:nvSpPr>
          <p:cNvPr id="38" name="Text 36">
            <a:extLst xmlns:a="http://schemas.openxmlformats.org/drawingml/2006/main">
              <a:ext uri="{FF2B5EF4-FFF2-40B4-BE49-F238E27FC236}">
                <a16:creationId xmlns:a16="http://schemas.microsoft.com/office/drawing/2014/main" id="{35EBEAAA-0F80-47A8-90C5-788D31929F73}"/>
              </a:ext>
            </a:extLst>
          </p:cNvPr>
          <p:cNvSpPr>
            <a:spLocks xmlns:a="http://schemas.openxmlformats.org/drawingml/2006/main" noGrp="1"/>
          </p:cNvSpPr>
          <p:nvPr/>
        </p:nvSpPr>
        <p:spPr>
          <a:xfrm xmlns:a="http://schemas.openxmlformats.org/drawingml/2006/main">
            <a:off x="8924544" y="3154680"/>
            <a:ext cx="2240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40" b="1">
                <a:solidFill>
                  <a:srgbClr val="1C1C1C"/>
                </a:solidFill>
                <a:latin typeface="Segoe UI"/>
                <a:ea typeface="Segoe UI"/>
                <a:cs typeface="Segoe UI"/>
              </a:rPr>
              <a:t>Live context</a:t>
            </a:r>
            <a:endParaRPr sz="1040"/>
          </a:p>
        </p:txBody>
      </p:sp>
      <p:sp>
        <p:nvSpPr>
          <p:cNvPr id="39" name="Text 37">
            <a:extLst xmlns:a="http://schemas.openxmlformats.org/drawingml/2006/main">
              <a:ext uri="{FF2B5EF4-FFF2-40B4-BE49-F238E27FC236}">
                <a16:creationId xmlns:a16="http://schemas.microsoft.com/office/drawing/2014/main" id="{78B1533C-CE3F-488B-B9A4-3F43DBD6F6CB}"/>
              </a:ext>
            </a:extLst>
          </p:cNvPr>
          <p:cNvSpPr>
            <a:spLocks xmlns:a="http://schemas.openxmlformats.org/drawingml/2006/main" noGrp="1"/>
          </p:cNvSpPr>
          <p:nvPr/>
        </p:nvSpPr>
        <p:spPr>
          <a:xfrm xmlns:a="http://schemas.openxmlformats.org/drawingml/2006/main">
            <a:off x="8924544" y="335584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60">
                <a:solidFill>
                  <a:srgbClr val="6B7280"/>
                </a:solidFill>
                <a:latin typeface="Segoe UI"/>
                <a:ea typeface="Segoe UI"/>
                <a:cs typeface="Segoe UI"/>
              </a:rPr>
              <a:t>Wind changes the operational answer.</a:t>
            </a:r>
            <a:endParaRPr sz="860"/>
          </a:p>
        </p:txBody>
      </p:sp>
      <p:sp>
        <p:nvSpPr>
          <p:cNvPr id="40" name="Shape 38">
            <a:extLst xmlns:a="http://schemas.openxmlformats.org/drawingml/2006/main">
              <a:ext uri="{FF2B5EF4-FFF2-40B4-BE49-F238E27FC236}">
                <a16:creationId xmlns:a16="http://schemas.microsoft.com/office/drawing/2014/main" id="{335D7294-6D8B-470E-87CB-F4175B18E227}"/>
              </a:ext>
            </a:extLst>
          </p:cNvPr>
          <p:cNvSpPr>
            <a:spLocks xmlns:a="http://schemas.openxmlformats.org/drawingml/2006/main" noGrp="1"/>
          </p:cNvSpPr>
          <p:nvPr/>
        </p:nvSpPr>
        <p:spPr>
          <a:xfrm xmlns:a="http://schemas.openxmlformats.org/drawingml/2006/main">
            <a:off x="8449056" y="3785616"/>
            <a:ext cx="347472" cy="347472"/>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41" name="Text 39">
            <a:extLst xmlns:a="http://schemas.openxmlformats.org/drawingml/2006/main">
              <a:ext uri="{FF2B5EF4-FFF2-40B4-BE49-F238E27FC236}">
                <a16:creationId xmlns:a16="http://schemas.microsoft.com/office/drawing/2014/main" id="{6CB3D00C-7355-4FDF-BB43-141966D5D633}"/>
              </a:ext>
            </a:extLst>
          </p:cNvPr>
          <p:cNvSpPr>
            <a:spLocks xmlns:a="http://schemas.openxmlformats.org/drawingml/2006/main" noGrp="1"/>
          </p:cNvSpPr>
          <p:nvPr/>
        </p:nvSpPr>
        <p:spPr>
          <a:xfrm xmlns:a="http://schemas.openxmlformats.org/drawingml/2006/main">
            <a:off x="8449056" y="3835908"/>
            <a:ext cx="3474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3</a:t>
            </a:r>
            <a:endParaRPr sz="1400"/>
          </a:p>
        </p:txBody>
      </p:sp>
      <p:sp>
        <p:nvSpPr>
          <p:cNvPr id="42" name="Text 40">
            <a:extLst xmlns:a="http://schemas.openxmlformats.org/drawingml/2006/main">
              <a:ext uri="{FF2B5EF4-FFF2-40B4-BE49-F238E27FC236}">
                <a16:creationId xmlns:a16="http://schemas.microsoft.com/office/drawing/2014/main" id="{CA56368B-FA57-4699-BEF3-8D441F59494C}"/>
              </a:ext>
            </a:extLst>
          </p:cNvPr>
          <p:cNvSpPr>
            <a:spLocks xmlns:a="http://schemas.openxmlformats.org/drawingml/2006/main" noGrp="1"/>
          </p:cNvSpPr>
          <p:nvPr/>
        </p:nvSpPr>
        <p:spPr>
          <a:xfrm xmlns:a="http://schemas.openxmlformats.org/drawingml/2006/main">
            <a:off x="8924544" y="3758184"/>
            <a:ext cx="2240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40" b="1">
                <a:solidFill>
                  <a:srgbClr val="1C1C1C"/>
                </a:solidFill>
                <a:latin typeface="Segoe UI"/>
                <a:ea typeface="Segoe UI"/>
                <a:cs typeface="Segoe UI"/>
              </a:rPr>
              <a:t>SOP overrides the web</a:t>
            </a:r>
            <a:endParaRPr sz="1040"/>
          </a:p>
        </p:txBody>
      </p:sp>
      <p:sp>
        <p:nvSpPr>
          <p:cNvPr id="43" name="Text 41">
            <a:extLst xmlns:a="http://schemas.openxmlformats.org/drawingml/2006/main">
              <a:ext uri="{FF2B5EF4-FFF2-40B4-BE49-F238E27FC236}">
                <a16:creationId xmlns:a16="http://schemas.microsoft.com/office/drawing/2014/main" id="{2D3840B5-F111-46A7-92E0-F63558776661}"/>
              </a:ext>
            </a:extLst>
          </p:cNvPr>
          <p:cNvSpPr>
            <a:spLocks xmlns:a="http://schemas.openxmlformats.org/drawingml/2006/main" noGrp="1"/>
          </p:cNvSpPr>
          <p:nvPr/>
        </p:nvSpPr>
        <p:spPr>
          <a:xfrm xmlns:a="http://schemas.openxmlformats.org/drawingml/2006/main">
            <a:off x="8924544" y="395935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60">
                <a:solidFill>
                  <a:srgbClr val="6B7280"/>
                </a:solidFill>
                <a:latin typeface="Segoe UI"/>
                <a:ea typeface="Segoe UI"/>
                <a:cs typeface="Segoe UI"/>
              </a:rPr>
              <a:t>Meridian’s stricter threshold wins.</a:t>
            </a:r>
            <a:endParaRPr sz="860"/>
          </a:p>
        </p:txBody>
      </p:sp>
      <p:sp>
        <p:nvSpPr>
          <p:cNvPr id="44" name="Shape 42">
            <a:extLst xmlns:a="http://schemas.openxmlformats.org/drawingml/2006/main">
              <a:ext uri="{FF2B5EF4-FFF2-40B4-BE49-F238E27FC236}">
                <a16:creationId xmlns:a16="http://schemas.microsoft.com/office/drawing/2014/main" id="{D34724E4-F22F-487B-BF7A-0FA72E60309D}"/>
              </a:ext>
            </a:extLst>
          </p:cNvPr>
          <p:cNvSpPr>
            <a:spLocks xmlns:a="http://schemas.openxmlformats.org/drawingml/2006/main" noGrp="1"/>
          </p:cNvSpPr>
          <p:nvPr/>
        </p:nvSpPr>
        <p:spPr>
          <a:xfrm xmlns:a="http://schemas.openxmlformats.org/drawingml/2006/main">
            <a:off x="8449056" y="4389120"/>
            <a:ext cx="347472" cy="34747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45" name="Text 43">
            <a:extLst xmlns:a="http://schemas.openxmlformats.org/drawingml/2006/main">
              <a:ext uri="{FF2B5EF4-FFF2-40B4-BE49-F238E27FC236}">
                <a16:creationId xmlns:a16="http://schemas.microsoft.com/office/drawing/2014/main" id="{A67987BB-831D-4A5C-90DC-8B6EB658044D}"/>
              </a:ext>
            </a:extLst>
          </p:cNvPr>
          <p:cNvSpPr>
            <a:spLocks xmlns:a="http://schemas.openxmlformats.org/drawingml/2006/main" noGrp="1"/>
          </p:cNvSpPr>
          <p:nvPr/>
        </p:nvSpPr>
        <p:spPr>
          <a:xfrm xmlns:a="http://schemas.openxmlformats.org/drawingml/2006/main">
            <a:off x="8449056" y="4439412"/>
            <a:ext cx="3474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4</a:t>
            </a:r>
            <a:endParaRPr sz="1400"/>
          </a:p>
        </p:txBody>
      </p:sp>
      <p:sp>
        <p:nvSpPr>
          <p:cNvPr id="46" name="Text 44">
            <a:extLst xmlns:a="http://schemas.openxmlformats.org/drawingml/2006/main">
              <a:ext uri="{FF2B5EF4-FFF2-40B4-BE49-F238E27FC236}">
                <a16:creationId xmlns:a16="http://schemas.microsoft.com/office/drawing/2014/main" id="{4E30161D-1E44-409D-97C2-2FC5135B87A5}"/>
              </a:ext>
            </a:extLst>
          </p:cNvPr>
          <p:cNvSpPr>
            <a:spLocks xmlns:a="http://schemas.openxmlformats.org/drawingml/2006/main" noGrp="1"/>
          </p:cNvSpPr>
          <p:nvPr/>
        </p:nvSpPr>
        <p:spPr>
          <a:xfrm xmlns:a="http://schemas.openxmlformats.org/drawingml/2006/main">
            <a:off x="8924544" y="4361688"/>
            <a:ext cx="2240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40" b="1">
                <a:solidFill>
                  <a:srgbClr val="1C1C1C"/>
                </a:solidFill>
                <a:latin typeface="Segoe UI"/>
                <a:ea typeface="Segoe UI"/>
                <a:cs typeface="Segoe UI"/>
              </a:rPr>
              <a:t>Source named aloud</a:t>
            </a:r>
            <a:endParaRPr sz="1040"/>
          </a:p>
        </p:txBody>
      </p:sp>
      <p:sp>
        <p:nvSpPr>
          <p:cNvPr id="47" name="Text 45">
            <a:extLst xmlns:a="http://schemas.openxmlformats.org/drawingml/2006/main">
              <a:ext uri="{FF2B5EF4-FFF2-40B4-BE49-F238E27FC236}">
                <a16:creationId xmlns:a16="http://schemas.microsoft.com/office/drawing/2014/main" id="{FEE30243-5291-4B36-B6B0-CA9495518FEF}"/>
              </a:ext>
            </a:extLst>
          </p:cNvPr>
          <p:cNvSpPr>
            <a:spLocks xmlns:a="http://schemas.openxmlformats.org/drawingml/2006/main" noGrp="1"/>
          </p:cNvSpPr>
          <p:nvPr/>
        </p:nvSpPr>
        <p:spPr>
          <a:xfrm xmlns:a="http://schemas.openxmlformats.org/drawingml/2006/main">
            <a:off x="8924544" y="456285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60">
                <a:solidFill>
                  <a:srgbClr val="6B7280"/>
                </a:solidFill>
                <a:latin typeface="Segoe UI"/>
                <a:ea typeface="Segoe UI"/>
                <a:cs typeface="Segoe UI"/>
              </a:rPr>
              <a:t>The answer states the exact document.</a:t>
            </a:r>
            <a:endParaRPr sz="860"/>
          </a:p>
        </p:txBody>
      </p:sp>
      <p:sp>
        <p:nvSpPr>
          <p:cNvPr id="48" name="Shape 46">
            <a:extLst xmlns:a="http://schemas.openxmlformats.org/drawingml/2006/main">
              <a:ext uri="{FF2B5EF4-FFF2-40B4-BE49-F238E27FC236}">
                <a16:creationId xmlns:a16="http://schemas.microsoft.com/office/drawing/2014/main" id="{874DBAF5-2DB4-4921-B1F3-11F7CA0F010A}"/>
              </a:ext>
            </a:extLst>
          </p:cNvPr>
          <p:cNvSpPr>
            <a:spLocks xmlns:a="http://schemas.openxmlformats.org/drawingml/2006/main" noGrp="1"/>
          </p:cNvSpPr>
          <p:nvPr/>
        </p:nvSpPr>
        <p:spPr>
          <a:xfrm xmlns:a="http://schemas.openxmlformats.org/drawingml/2006/main">
            <a:off x="8449056" y="4992624"/>
            <a:ext cx="347472" cy="34747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49" name="Text 47">
            <a:extLst xmlns:a="http://schemas.openxmlformats.org/drawingml/2006/main">
              <a:ext uri="{FF2B5EF4-FFF2-40B4-BE49-F238E27FC236}">
                <a16:creationId xmlns:a16="http://schemas.microsoft.com/office/drawing/2014/main" id="{CDF56903-E297-4373-9E57-CAB8DC23E01D}"/>
              </a:ext>
            </a:extLst>
          </p:cNvPr>
          <p:cNvSpPr>
            <a:spLocks xmlns:a="http://schemas.openxmlformats.org/drawingml/2006/main" noGrp="1"/>
          </p:cNvSpPr>
          <p:nvPr/>
        </p:nvSpPr>
        <p:spPr>
          <a:xfrm xmlns:a="http://schemas.openxmlformats.org/drawingml/2006/main">
            <a:off x="8449056" y="5042916"/>
            <a:ext cx="34747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5</a:t>
            </a:r>
            <a:endParaRPr sz="1400"/>
          </a:p>
        </p:txBody>
      </p:sp>
      <p:sp>
        <p:nvSpPr>
          <p:cNvPr id="50" name="Text 48">
            <a:extLst xmlns:a="http://schemas.openxmlformats.org/drawingml/2006/main">
              <a:ext uri="{FF2B5EF4-FFF2-40B4-BE49-F238E27FC236}">
                <a16:creationId xmlns:a16="http://schemas.microsoft.com/office/drawing/2014/main" id="{7A750A14-DBA2-471C-B44F-5DFEE01EF511}"/>
              </a:ext>
            </a:extLst>
          </p:cNvPr>
          <p:cNvSpPr>
            <a:spLocks xmlns:a="http://schemas.openxmlformats.org/drawingml/2006/main" noGrp="1"/>
          </p:cNvSpPr>
          <p:nvPr/>
        </p:nvSpPr>
        <p:spPr>
          <a:xfrm xmlns:a="http://schemas.openxmlformats.org/drawingml/2006/main">
            <a:off x="8924544" y="4965192"/>
            <a:ext cx="2240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40" b="1">
                <a:solidFill>
                  <a:srgbClr val="1C1C1C"/>
                </a:solidFill>
                <a:latin typeface="Segoe UI"/>
                <a:ea typeface="Segoe UI"/>
                <a:cs typeface="Segoe UI"/>
              </a:rPr>
              <a:t>Refusal and escalation</a:t>
            </a:r>
            <a:endParaRPr sz="1040"/>
          </a:p>
        </p:txBody>
      </p:sp>
      <p:sp>
        <p:nvSpPr>
          <p:cNvPr id="51" name="Text 49">
            <a:extLst xmlns:a="http://schemas.openxmlformats.org/drawingml/2006/main">
              <a:ext uri="{FF2B5EF4-FFF2-40B4-BE49-F238E27FC236}">
                <a16:creationId xmlns:a16="http://schemas.microsoft.com/office/drawing/2014/main" id="{A3BEBA73-B2EF-4840-B06E-059E0661CBA1}"/>
              </a:ext>
            </a:extLst>
          </p:cNvPr>
          <p:cNvSpPr>
            <a:spLocks xmlns:a="http://schemas.openxmlformats.org/drawingml/2006/main" noGrp="1"/>
          </p:cNvSpPr>
          <p:nvPr/>
        </p:nvSpPr>
        <p:spPr>
          <a:xfrm xmlns:a="http://schemas.openxmlformats.org/drawingml/2006/main">
            <a:off x="8924544" y="516636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60">
                <a:solidFill>
                  <a:srgbClr val="6B7280"/>
                </a:solidFill>
                <a:latin typeface="Segoe UI"/>
                <a:ea typeface="Segoe UI"/>
                <a:cs typeface="Segoe UI"/>
              </a:rPr>
              <a:t>Unknown procedures are not invented.</a:t>
            </a:r>
            <a:endParaRPr sz="860"/>
          </a:p>
        </p:txBody>
      </p:sp>
      <p:sp>
        <p:nvSpPr>
          <p:cNvPr id="52" name="Shape 50">
            <a:extLst xmlns:a="http://schemas.openxmlformats.org/drawingml/2006/main">
              <a:ext uri="{FF2B5EF4-FFF2-40B4-BE49-F238E27FC236}">
                <a16:creationId xmlns:a16="http://schemas.microsoft.com/office/drawing/2014/main" id="{9C12CA2A-1ACA-46D6-81E3-090A4CD6E581}"/>
              </a:ext>
            </a:extLst>
          </p:cNvPr>
          <p:cNvSpPr>
            <a:spLocks xmlns:a="http://schemas.openxmlformats.org/drawingml/2006/main" noGrp="1"/>
          </p:cNvSpPr>
          <p:nvPr/>
        </p:nvSpPr>
        <p:spPr>
          <a:xfrm xmlns:a="http://schemas.openxmlformats.org/drawingml/2006/main">
            <a:off x="8458200" y="5705856"/>
            <a:ext cx="2926080" cy="310896"/>
          </a:xfrm>
          <a:prstGeom xmlns:a="http://schemas.openxmlformats.org/drawingml/2006/main" prst="roundRect">
            <a:avLst/>
          </a:prstGeom>
          <a:solidFill xmlns:a="http://schemas.openxmlformats.org/drawingml/2006/main">
            <a:srgbClr val="FDEEEE"/>
          </a:solidFill>
          <a:ln xmlns:a="http://schemas.openxmlformats.org/drawingml/2006/main" w="12700">
            <a:solidFill>
              <a:srgbClr val="EF4444"/>
            </a:solidFill>
            <a:prstDash val="solid"/>
          </a:ln>
        </p:spPr>
      </p:sp>
      <p:sp>
        <p:nvSpPr>
          <p:cNvPr id="53" name="Text 51">
            <a:extLst xmlns:a="http://schemas.openxmlformats.org/drawingml/2006/main">
              <a:ext uri="{FF2B5EF4-FFF2-40B4-BE49-F238E27FC236}">
                <a16:creationId xmlns:a16="http://schemas.microsoft.com/office/drawing/2014/main" id="{12C483E6-6B47-4B76-ABB8-A59E63F38011}"/>
              </a:ext>
            </a:extLst>
          </p:cNvPr>
          <p:cNvSpPr>
            <a:spLocks xmlns:a="http://schemas.openxmlformats.org/drawingml/2006/main" noGrp="1"/>
          </p:cNvSpPr>
          <p:nvPr/>
        </p:nvSpPr>
        <p:spPr>
          <a:xfrm xmlns:a="http://schemas.openxmlformats.org/drawingml/2006/main">
            <a:off x="8458200" y="5797296"/>
            <a:ext cx="29260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EF4444"/>
                </a:solidFill>
                <a:latin typeface="Segoe UI"/>
                <a:ea typeface="Segoe UI"/>
                <a:cs typeface="Segoe UI"/>
              </a:rPr>
              <a:t>Unknown answer → ask the supervisor</a:t>
            </a:r>
            <a:endParaRPr sz="850"/>
          </a:p>
        </p:txBody>
      </p:sp>
      <p:sp>
        <p:nvSpPr>
          <p:cNvPr id="54" name="Text 52">
            <a:extLst xmlns:a="http://schemas.openxmlformats.org/drawingml/2006/main">
              <a:ext uri="{FF2B5EF4-FFF2-40B4-BE49-F238E27FC236}">
                <a16:creationId xmlns:a16="http://schemas.microsoft.com/office/drawing/2014/main" id="{75411B75-B3CB-4DAE-986A-D4ED2EC35191}"/>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55" name="Text 53">
            <a:extLst xmlns:a="http://schemas.openxmlformats.org/drawingml/2006/main">
              <a:ext uri="{FF2B5EF4-FFF2-40B4-BE49-F238E27FC236}">
                <a16:creationId xmlns:a16="http://schemas.microsoft.com/office/drawing/2014/main" id="{180251AB-4C6F-4B33-88AB-9CD00E7DFE3F}"/>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Demo data is fictional and designed to test retrieval, precedence and refusal behaviour.</a:t>
            </a:r>
            <a:endParaRPr sz="670"/>
          </a:p>
        </p:txBody>
      </p:sp>
      <p:sp>
        <p:nvSpPr>
          <p:cNvPr id="56" name="Slide Number Placeholder 0">
            <a:extLst xmlns:a="http://schemas.openxmlformats.org/drawingml/2006/main">
              <a:ext uri="{FF2B5EF4-FFF2-40B4-BE49-F238E27FC236}">
                <a16:creationId xmlns:a16="http://schemas.microsoft.com/office/drawing/2014/main" id="{8ADFC030-4A1C-4ABE-A9E7-6B681672F746}"/>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7</a:t>
            </a:fld>
            <a:endParaRP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e77ad30bb2e649ce"/>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4741338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E59E77B7-2EED-47C8-B84C-C1C1F8B8ED39}"/>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Business model: per worker, protected by a site minimum</a:t>
            </a:r>
            <a:endParaRPr sz="2700"/>
          </a:p>
        </p:txBody>
      </p:sp>
      <p:sp>
        <p:nvSpPr>
          <p:cNvPr id="8" name="Text 6">
            <a:extLst xmlns:a="http://schemas.openxmlformats.org/drawingml/2006/main">
              <a:ext uri="{FF2B5EF4-FFF2-40B4-BE49-F238E27FC236}">
                <a16:creationId xmlns:a16="http://schemas.microsoft.com/office/drawing/2014/main" id="{A2D7F6D6-EA48-41B1-B3E5-56F441D8A848}"/>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A B2B SaaS model aligns pricing with workforce scale while preserving healthy contract value.</a:t>
            </a:r>
            <a:endParaRPr sz="1250"/>
          </a:p>
        </p:txBody>
      </p:sp>
      <p:sp>
        <p:nvSpPr>
          <p:cNvPr id="9" name="Shape 7">
            <a:extLst xmlns:a="http://schemas.openxmlformats.org/drawingml/2006/main">
              <a:ext uri="{FF2B5EF4-FFF2-40B4-BE49-F238E27FC236}">
                <a16:creationId xmlns:a16="http://schemas.microsoft.com/office/drawing/2014/main" id="{30D0D9AB-3969-4FFF-801F-2308E38BAEE9}"/>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4F6206FC-86BB-42D6-8243-6FDCDD73DE22}"/>
              </a:ext>
            </a:extLst>
          </p:cNvPr>
          <p:cNvSpPr>
            <a:spLocks xmlns:a="http://schemas.openxmlformats.org/drawingml/2006/main" noGrp="1"/>
          </p:cNvSpPr>
          <p:nvPr/>
        </p:nvSpPr>
        <p:spPr>
          <a:xfrm xmlns:a="http://schemas.openxmlformats.org/drawingml/2006/main">
            <a:off x="502920" y="1920240"/>
            <a:ext cx="3182112" cy="3529584"/>
          </a:xfrm>
          <a:prstGeom xmlns:a="http://schemas.openxmlformats.org/drawingml/2006/main" prst="roundRect">
            <a:avLst>
              <a:gd name="adj" fmla="val 3448"/>
            </a:avLst>
          </a:prstGeom>
          <a:solidFill xmlns:a="http://schemas.openxmlformats.org/drawingml/2006/main">
            <a:srgbClr val="F7F9FB"/>
          </a:solidFill>
          <a:ln xmlns:a="http://schemas.openxmlformats.org/drawingml/2006/main" w="10160">
            <a:solidFill>
              <a:srgbClr val="E1E4EA"/>
            </a:solidFill>
            <a:prstDash val="solid"/>
          </a:ln>
        </p:spPr>
      </p:sp>
      <p:sp>
        <p:nvSpPr>
          <p:cNvPr id="11" name="Text 9">
            <a:extLst xmlns:a="http://schemas.openxmlformats.org/drawingml/2006/main">
              <a:ext uri="{FF2B5EF4-FFF2-40B4-BE49-F238E27FC236}">
                <a16:creationId xmlns:a16="http://schemas.microsoft.com/office/drawing/2014/main" id="{2DC5CD9F-3199-42B8-94E0-8378C077C074}"/>
              </a:ext>
            </a:extLst>
          </p:cNvPr>
          <p:cNvSpPr>
            <a:spLocks xmlns:a="http://schemas.openxmlformats.org/drawingml/2006/main" noGrp="1"/>
          </p:cNvSpPr>
          <p:nvPr/>
        </p:nvSpPr>
        <p:spPr>
          <a:xfrm xmlns:a="http://schemas.openxmlformats.org/drawingml/2006/main">
            <a:off x="777240" y="2203704"/>
            <a:ext cx="26334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59E0B"/>
                </a:solidFill>
                <a:latin typeface="Segoe UI"/>
                <a:ea typeface="Segoe UI"/>
                <a:cs typeface="Segoe UI"/>
              </a:rPr>
              <a:t>PILOT</a:t>
            </a:r>
            <a:endParaRPr sz="1000"/>
          </a:p>
        </p:txBody>
      </p:sp>
      <p:sp>
        <p:nvSpPr>
          <p:cNvPr id="12" name="Text 10">
            <a:extLst xmlns:a="http://schemas.openxmlformats.org/drawingml/2006/main">
              <a:ext uri="{FF2B5EF4-FFF2-40B4-BE49-F238E27FC236}">
                <a16:creationId xmlns:a16="http://schemas.microsoft.com/office/drawing/2014/main" id="{94CB92A2-D17B-48AB-9BDE-3C3F647A311B}"/>
              </a:ext>
            </a:extLst>
          </p:cNvPr>
          <p:cNvSpPr>
            <a:spLocks xmlns:a="http://schemas.openxmlformats.org/drawingml/2006/main" noGrp="1"/>
          </p:cNvSpPr>
          <p:nvPr/>
        </p:nvSpPr>
        <p:spPr>
          <a:xfrm xmlns:a="http://schemas.openxmlformats.org/drawingml/2006/main">
            <a:off x="777240" y="2633472"/>
            <a:ext cx="2633472"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C1C1C"/>
                </a:solidFill>
                <a:latin typeface="Segoe UI"/>
                <a:ea typeface="Segoe UI"/>
                <a:cs typeface="Segoe UI"/>
              </a:rPr>
              <a:t>AED 5,000</a:t>
            </a:r>
            <a:endParaRPr sz="2700"/>
          </a:p>
        </p:txBody>
      </p:sp>
      <p:sp>
        <p:nvSpPr>
          <p:cNvPr id="13" name="Text 11">
            <a:extLst xmlns:a="http://schemas.openxmlformats.org/drawingml/2006/main">
              <a:ext uri="{FF2B5EF4-FFF2-40B4-BE49-F238E27FC236}">
                <a16:creationId xmlns:a16="http://schemas.microsoft.com/office/drawing/2014/main" id="{3EAE71BC-77F9-48E3-8BA3-656C9A83598F}"/>
              </a:ext>
            </a:extLst>
          </p:cNvPr>
          <p:cNvSpPr>
            <a:spLocks xmlns:a="http://schemas.openxmlformats.org/drawingml/2006/main" noGrp="1"/>
          </p:cNvSpPr>
          <p:nvPr/>
        </p:nvSpPr>
        <p:spPr>
          <a:xfrm xmlns:a="http://schemas.openxmlformats.org/drawingml/2006/main">
            <a:off x="777240" y="3191256"/>
            <a:ext cx="26334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a:solidFill>
                  <a:srgbClr val="6B7280"/>
                </a:solidFill>
                <a:latin typeface="Segoe UI"/>
                <a:ea typeface="Segoe UI"/>
                <a:cs typeface="Segoe UI"/>
              </a:rPr>
              <a:t>per site / month</a:t>
            </a:r>
            <a:endParaRPr sz="1020"/>
          </a:p>
        </p:txBody>
      </p:sp>
      <p:sp>
        <p:nvSpPr>
          <p:cNvPr id="14" name="Shape 12">
            <a:extLst xmlns:a="http://schemas.openxmlformats.org/drawingml/2006/main">
              <a:ext uri="{FF2B5EF4-FFF2-40B4-BE49-F238E27FC236}">
                <a16:creationId xmlns:a16="http://schemas.microsoft.com/office/drawing/2014/main" id="{88255F19-9D50-4792-8D84-71DE88D0CCD0}"/>
              </a:ext>
            </a:extLst>
          </p:cNvPr>
          <p:cNvSpPr>
            <a:spLocks xmlns:a="http://schemas.openxmlformats.org/drawingml/2006/main" noGrp="1"/>
          </p:cNvSpPr>
          <p:nvPr/>
        </p:nvSpPr>
        <p:spPr>
          <a:xfrm xmlns:a="http://schemas.openxmlformats.org/drawingml/2006/main">
            <a:off x="886968" y="3538728"/>
            <a:ext cx="2414016"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5" name="Text 13">
            <a:extLst xmlns:a="http://schemas.openxmlformats.org/drawingml/2006/main">
              <a:ext uri="{FF2B5EF4-FFF2-40B4-BE49-F238E27FC236}">
                <a16:creationId xmlns:a16="http://schemas.microsoft.com/office/drawing/2014/main" id="{4C6A433B-7451-4D48-B0EE-45A6D8990C4F}"/>
              </a:ext>
            </a:extLst>
          </p:cNvPr>
          <p:cNvSpPr>
            <a:spLocks xmlns:a="http://schemas.openxmlformats.org/drawingml/2006/main" noGrp="1"/>
          </p:cNvSpPr>
          <p:nvPr/>
        </p:nvSpPr>
        <p:spPr>
          <a:xfrm xmlns:a="http://schemas.openxmlformats.org/drawingml/2006/main">
            <a:off x="850392" y="3785616"/>
            <a:ext cx="2468880" cy="10515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70">
                <a:solidFill>
                  <a:srgbClr val="1C1C1C"/>
                </a:solidFill>
                <a:latin typeface="Segoe UI"/>
                <a:ea typeface="Segoe UI"/>
                <a:cs typeface="Segoe UI"/>
              </a:rPr>
              <a:t>Up to 100 workers</a:t>
            </a:r>
            <a:endParaRPr sz="1070"/>
          </a:p>
          <a:p xmlns:a="http://schemas.openxmlformats.org/drawingml/2006/main">
            <a:pPr marL="152400" indent="-152400">
              <a:buSzPct val="100000"/>
              <a:buChar char="•"/>
            </a:pPr>
            <a:r>
              <a:rPr sz="1070">
                <a:solidFill>
                  <a:srgbClr val="1C1C1C"/>
                </a:solidFill>
                <a:latin typeface="Segoe UI"/>
                <a:ea typeface="Segoe UI"/>
                <a:cs typeface="Segoe UI"/>
              </a:rPr>
              <a:t>One site</a:t>
            </a:r>
            <a:endParaRPr sz="1070"/>
          </a:p>
          <a:p xmlns:a="http://schemas.openxmlformats.org/drawingml/2006/main">
            <a:pPr marL="152400" indent="-152400">
              <a:buSzPct val="100000"/>
              <a:buChar char="•"/>
            </a:pPr>
            <a:r>
              <a:rPr sz="1070">
                <a:solidFill>
                  <a:srgbClr val="1C1C1C"/>
                </a:solidFill>
                <a:latin typeface="Segoe UI"/>
                <a:ea typeface="Segoe UI"/>
                <a:cs typeface="Segoe UI"/>
              </a:rPr>
              <a:t>3 SOPs + 200+ languages</a:t>
            </a:r>
            <a:endParaRPr sz="1070"/>
          </a:p>
          <a:p xmlns:a="http://schemas.openxmlformats.org/drawingml/2006/main">
            <a:pPr marL="152400" indent="-152400">
              <a:buSzPct val="100000"/>
              <a:buChar char="•"/>
            </a:pPr>
            <a:r>
              <a:rPr sz="1070">
                <a:solidFill>
                  <a:srgbClr val="1C1C1C"/>
                </a:solidFill>
                <a:latin typeface="Segoe UI"/>
                <a:ea typeface="Segoe UI"/>
                <a:cs typeface="Segoe UI"/>
              </a:rPr>
              <a:t>60-day paid pilot</a:t>
            </a:r>
            <a:endParaRPr sz="1070"/>
          </a:p>
        </p:txBody>
      </p:sp>
      <p:sp>
        <p:nvSpPr>
          <p:cNvPr id="16" name="Shape 14">
            <a:extLst xmlns:a="http://schemas.openxmlformats.org/drawingml/2006/main">
              <a:ext uri="{FF2B5EF4-FFF2-40B4-BE49-F238E27FC236}">
                <a16:creationId xmlns:a16="http://schemas.microsoft.com/office/drawing/2014/main" id="{5090EF79-613D-4F58-97E7-0FFFD412BEC5}"/>
              </a:ext>
            </a:extLst>
          </p:cNvPr>
          <p:cNvSpPr>
            <a:spLocks xmlns:a="http://schemas.openxmlformats.org/drawingml/2006/main" noGrp="1"/>
          </p:cNvSpPr>
          <p:nvPr/>
        </p:nvSpPr>
        <p:spPr>
          <a:xfrm xmlns:a="http://schemas.openxmlformats.org/drawingml/2006/main">
            <a:off x="4069080" y="1920240"/>
            <a:ext cx="3182112" cy="3529584"/>
          </a:xfrm>
          <a:prstGeom xmlns:a="http://schemas.openxmlformats.org/drawingml/2006/main" prst="roundRect">
            <a:avLst>
              <a:gd name="adj" fmla="val 3448"/>
            </a:avLst>
          </a:prstGeom>
          <a:solidFill xmlns:a="http://schemas.openxmlformats.org/drawingml/2006/main">
            <a:srgbClr val="E8F1FF"/>
          </a:solidFill>
          <a:ln xmlns:a="http://schemas.openxmlformats.org/drawingml/2006/main" w="10160">
            <a:solidFill>
              <a:srgbClr val="3B82F6"/>
            </a:solidFill>
            <a:prstDash val="solid"/>
          </a:ln>
        </p:spPr>
      </p:sp>
      <p:sp>
        <p:nvSpPr>
          <p:cNvPr id="17" name="Text 15">
            <a:extLst xmlns:a="http://schemas.openxmlformats.org/drawingml/2006/main">
              <a:ext uri="{FF2B5EF4-FFF2-40B4-BE49-F238E27FC236}">
                <a16:creationId xmlns:a16="http://schemas.microsoft.com/office/drawing/2014/main" id="{E8FCA8CD-7260-49CC-86D0-1B9E5DCC56ED}"/>
              </a:ext>
            </a:extLst>
          </p:cNvPr>
          <p:cNvSpPr>
            <a:spLocks xmlns:a="http://schemas.openxmlformats.org/drawingml/2006/main" noGrp="1"/>
          </p:cNvSpPr>
          <p:nvPr/>
        </p:nvSpPr>
        <p:spPr>
          <a:xfrm xmlns:a="http://schemas.openxmlformats.org/drawingml/2006/main">
            <a:off x="4343400" y="2203704"/>
            <a:ext cx="26334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B82F6"/>
                </a:solidFill>
                <a:latin typeface="Segoe UI"/>
                <a:ea typeface="Segoe UI"/>
                <a:cs typeface="Segoe UI"/>
              </a:rPr>
              <a:t>STANDARD</a:t>
            </a:r>
            <a:endParaRPr sz="1000"/>
          </a:p>
        </p:txBody>
      </p:sp>
      <p:sp>
        <p:nvSpPr>
          <p:cNvPr id="18" name="Text 16">
            <a:extLst xmlns:a="http://schemas.openxmlformats.org/drawingml/2006/main">
              <a:ext uri="{FF2B5EF4-FFF2-40B4-BE49-F238E27FC236}">
                <a16:creationId xmlns:a16="http://schemas.microsoft.com/office/drawing/2014/main" id="{FBB6E45A-00E6-4C2D-9367-8AE87EC42828}"/>
              </a:ext>
            </a:extLst>
          </p:cNvPr>
          <p:cNvSpPr>
            <a:spLocks xmlns:a="http://schemas.openxmlformats.org/drawingml/2006/main" noGrp="1"/>
          </p:cNvSpPr>
          <p:nvPr/>
        </p:nvSpPr>
        <p:spPr>
          <a:xfrm xmlns:a="http://schemas.openxmlformats.org/drawingml/2006/main">
            <a:off x="4343400" y="2633472"/>
            <a:ext cx="2633472"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C1C1C"/>
                </a:solidFill>
                <a:latin typeface="Segoe UI"/>
                <a:ea typeface="Segoe UI"/>
                <a:cs typeface="Segoe UI"/>
              </a:rPr>
              <a:t>AED 35</a:t>
            </a:r>
            <a:endParaRPr sz="2700"/>
          </a:p>
        </p:txBody>
      </p:sp>
      <p:sp>
        <p:nvSpPr>
          <p:cNvPr id="19" name="Text 17">
            <a:extLst xmlns:a="http://schemas.openxmlformats.org/drawingml/2006/main">
              <a:ext uri="{FF2B5EF4-FFF2-40B4-BE49-F238E27FC236}">
                <a16:creationId xmlns:a16="http://schemas.microsoft.com/office/drawing/2014/main" id="{A4A7E2EB-4BA6-4E4F-B2DE-D3CE8E1192CF}"/>
              </a:ext>
            </a:extLst>
          </p:cNvPr>
          <p:cNvSpPr>
            <a:spLocks xmlns:a="http://schemas.openxmlformats.org/drawingml/2006/main" noGrp="1"/>
          </p:cNvSpPr>
          <p:nvPr/>
        </p:nvSpPr>
        <p:spPr>
          <a:xfrm xmlns:a="http://schemas.openxmlformats.org/drawingml/2006/main">
            <a:off x="4343400" y="3191256"/>
            <a:ext cx="26334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a:solidFill>
                  <a:srgbClr val="6B7280"/>
                </a:solidFill>
                <a:latin typeface="Segoe UI"/>
                <a:ea typeface="Segoe UI"/>
                <a:cs typeface="Segoe UI"/>
              </a:rPr>
              <a:t>per worker / month</a:t>
            </a:r>
            <a:endParaRPr sz="1020"/>
          </a:p>
        </p:txBody>
      </p:sp>
      <p:sp>
        <p:nvSpPr>
          <p:cNvPr id="20" name="Shape 18">
            <a:extLst xmlns:a="http://schemas.openxmlformats.org/drawingml/2006/main">
              <a:ext uri="{FF2B5EF4-FFF2-40B4-BE49-F238E27FC236}">
                <a16:creationId xmlns:a16="http://schemas.microsoft.com/office/drawing/2014/main" id="{C318A34E-E6CA-4447-8A12-CEB0924A3664}"/>
              </a:ext>
            </a:extLst>
          </p:cNvPr>
          <p:cNvSpPr>
            <a:spLocks xmlns:a="http://schemas.openxmlformats.org/drawingml/2006/main" noGrp="1"/>
          </p:cNvSpPr>
          <p:nvPr/>
        </p:nvSpPr>
        <p:spPr>
          <a:xfrm xmlns:a="http://schemas.openxmlformats.org/drawingml/2006/main">
            <a:off x="4453128" y="3538728"/>
            <a:ext cx="2414016"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21" name="Text 19">
            <a:extLst xmlns:a="http://schemas.openxmlformats.org/drawingml/2006/main">
              <a:ext uri="{FF2B5EF4-FFF2-40B4-BE49-F238E27FC236}">
                <a16:creationId xmlns:a16="http://schemas.microsoft.com/office/drawing/2014/main" id="{FFC5F991-63DE-4616-8864-93E8524BD05A}"/>
              </a:ext>
            </a:extLst>
          </p:cNvPr>
          <p:cNvSpPr>
            <a:spLocks xmlns:a="http://schemas.openxmlformats.org/drawingml/2006/main" noGrp="1"/>
          </p:cNvSpPr>
          <p:nvPr/>
        </p:nvSpPr>
        <p:spPr>
          <a:xfrm xmlns:a="http://schemas.openxmlformats.org/drawingml/2006/main">
            <a:off x="4416552" y="3785616"/>
            <a:ext cx="2468880" cy="10515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70">
                <a:solidFill>
                  <a:srgbClr val="1C1C1C"/>
                </a:solidFill>
                <a:latin typeface="Segoe UI"/>
                <a:ea typeface="Segoe UI"/>
                <a:cs typeface="Segoe UI"/>
              </a:rPr>
              <a:t>Minimum 250 workers per site</a:t>
            </a:r>
            <a:endParaRPr sz="1070"/>
          </a:p>
          <a:p xmlns:a="http://schemas.openxmlformats.org/drawingml/2006/main">
            <a:pPr marL="152400" indent="-152400">
              <a:buSzPct val="100000"/>
              <a:buChar char="•"/>
            </a:pPr>
            <a:r>
              <a:rPr sz="1070">
                <a:solidFill>
                  <a:srgbClr val="1C1C1C"/>
                </a:solidFill>
                <a:latin typeface="Segoe UI"/>
                <a:ea typeface="Segoe UI"/>
                <a:cs typeface="Segoe UI"/>
              </a:rPr>
              <a:t>Voice + weather + SOP retrieval</a:t>
            </a:r>
            <a:endParaRPr sz="1070"/>
          </a:p>
          <a:p xmlns:a="http://schemas.openxmlformats.org/drawingml/2006/main">
            <a:pPr marL="152400" indent="-152400">
              <a:buSzPct val="100000"/>
              <a:buChar char="•"/>
            </a:pPr>
            <a:r>
              <a:rPr sz="1070">
                <a:solidFill>
                  <a:srgbClr val="1C1C1C"/>
                </a:solidFill>
                <a:latin typeface="Segoe UI"/>
                <a:ea typeface="Segoe UI"/>
                <a:cs typeface="Segoe UI"/>
              </a:rPr>
              <a:t>Basic usage and source logs</a:t>
            </a:r>
            <a:endParaRPr sz="1070"/>
          </a:p>
          <a:p xmlns:a="http://schemas.openxmlformats.org/drawingml/2006/main">
            <a:pPr marL="152400" indent="-152400">
              <a:buSzPct val="100000"/>
              <a:buChar char="•"/>
            </a:pPr>
            <a:r>
              <a:rPr sz="1070">
                <a:solidFill>
                  <a:srgbClr val="1C1C1C"/>
                </a:solidFill>
                <a:latin typeface="Segoe UI"/>
                <a:ea typeface="Segoe UI"/>
                <a:cs typeface="Segoe UI"/>
              </a:rPr>
              <a:t>Annual contract after pilot</a:t>
            </a:r>
            <a:endParaRPr sz="1070"/>
          </a:p>
        </p:txBody>
      </p:sp>
      <p:sp>
        <p:nvSpPr>
          <p:cNvPr id="22" name="Shape 20">
            <a:extLst xmlns:a="http://schemas.openxmlformats.org/drawingml/2006/main">
              <a:ext uri="{FF2B5EF4-FFF2-40B4-BE49-F238E27FC236}">
                <a16:creationId xmlns:a16="http://schemas.microsoft.com/office/drawing/2014/main" id="{23A35E7C-2AAF-4234-AFE5-1DA29AB96EA1}"/>
              </a:ext>
            </a:extLst>
          </p:cNvPr>
          <p:cNvSpPr>
            <a:spLocks xmlns:a="http://schemas.openxmlformats.org/drawingml/2006/main" noGrp="1"/>
          </p:cNvSpPr>
          <p:nvPr/>
        </p:nvSpPr>
        <p:spPr>
          <a:xfrm xmlns:a="http://schemas.openxmlformats.org/drawingml/2006/main">
            <a:off x="5029200" y="5001768"/>
            <a:ext cx="1261872" cy="256032"/>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23" name="Text 21">
            <a:extLst xmlns:a="http://schemas.openxmlformats.org/drawingml/2006/main">
              <a:ext uri="{FF2B5EF4-FFF2-40B4-BE49-F238E27FC236}">
                <a16:creationId xmlns:a16="http://schemas.microsoft.com/office/drawing/2014/main" id="{47FF0111-193D-4EF2-AAA4-B7A70F84F0B5}"/>
              </a:ext>
            </a:extLst>
          </p:cNvPr>
          <p:cNvSpPr>
            <a:spLocks xmlns:a="http://schemas.openxmlformats.org/drawingml/2006/main" noGrp="1"/>
          </p:cNvSpPr>
          <p:nvPr/>
        </p:nvSpPr>
        <p:spPr>
          <a:xfrm xmlns:a="http://schemas.openxmlformats.org/drawingml/2006/main">
            <a:off x="5029200" y="5010912"/>
            <a:ext cx="12618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1C1C1C"/>
                </a:solidFill>
                <a:latin typeface="Segoe UI"/>
                <a:ea typeface="Segoe UI"/>
                <a:cs typeface="Segoe UI"/>
              </a:rPr>
              <a:t>CORE OFFER</a:t>
            </a:r>
            <a:endParaRPr sz="820"/>
          </a:p>
        </p:txBody>
      </p:sp>
      <p:sp>
        <p:nvSpPr>
          <p:cNvPr id="24" name="Shape 22">
            <a:extLst xmlns:a="http://schemas.openxmlformats.org/drawingml/2006/main">
              <a:ext uri="{FF2B5EF4-FFF2-40B4-BE49-F238E27FC236}">
                <a16:creationId xmlns:a16="http://schemas.microsoft.com/office/drawing/2014/main" id="{5A4B7032-A5A9-4164-AC0C-33495C40D13D}"/>
              </a:ext>
            </a:extLst>
          </p:cNvPr>
          <p:cNvSpPr>
            <a:spLocks xmlns:a="http://schemas.openxmlformats.org/drawingml/2006/main" noGrp="1"/>
          </p:cNvSpPr>
          <p:nvPr/>
        </p:nvSpPr>
        <p:spPr>
          <a:xfrm xmlns:a="http://schemas.openxmlformats.org/drawingml/2006/main">
            <a:off x="7635240" y="1920240"/>
            <a:ext cx="3182112" cy="3529584"/>
          </a:xfrm>
          <a:prstGeom xmlns:a="http://schemas.openxmlformats.org/drawingml/2006/main" prst="roundRect">
            <a:avLst>
              <a:gd name="adj" fmla="val 3448"/>
            </a:avLst>
          </a:prstGeom>
          <a:solidFill xmlns:a="http://schemas.openxmlformats.org/drawingml/2006/main">
            <a:srgbClr val="F7F9FB"/>
          </a:solidFill>
          <a:ln xmlns:a="http://schemas.openxmlformats.org/drawingml/2006/main" w="10160">
            <a:solidFill>
              <a:srgbClr val="E1E4EA"/>
            </a:solidFill>
            <a:prstDash val="solid"/>
          </a:ln>
        </p:spPr>
      </p:sp>
      <p:sp>
        <p:nvSpPr>
          <p:cNvPr id="25" name="Text 23">
            <a:extLst xmlns:a="http://schemas.openxmlformats.org/drawingml/2006/main">
              <a:ext uri="{FF2B5EF4-FFF2-40B4-BE49-F238E27FC236}">
                <a16:creationId xmlns:a16="http://schemas.microsoft.com/office/drawing/2014/main" id="{C3DDF350-908F-4640-BD66-D36487FDBC17}"/>
              </a:ext>
            </a:extLst>
          </p:cNvPr>
          <p:cNvSpPr>
            <a:spLocks xmlns:a="http://schemas.openxmlformats.org/drawingml/2006/main" noGrp="1"/>
          </p:cNvSpPr>
          <p:nvPr/>
        </p:nvSpPr>
        <p:spPr>
          <a:xfrm xmlns:a="http://schemas.openxmlformats.org/drawingml/2006/main">
            <a:off x="7909560" y="2203704"/>
            <a:ext cx="26334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59E0B"/>
                </a:solidFill>
                <a:latin typeface="Segoe UI"/>
                <a:ea typeface="Segoe UI"/>
                <a:cs typeface="Segoe UI"/>
              </a:rPr>
              <a:t>ENTERPRISE</a:t>
            </a:r>
            <a:endParaRPr sz="1000"/>
          </a:p>
        </p:txBody>
      </p:sp>
      <p:sp>
        <p:nvSpPr>
          <p:cNvPr id="26" name="Text 24">
            <a:extLst xmlns:a="http://schemas.openxmlformats.org/drawingml/2006/main">
              <a:ext uri="{FF2B5EF4-FFF2-40B4-BE49-F238E27FC236}">
                <a16:creationId xmlns:a16="http://schemas.microsoft.com/office/drawing/2014/main" id="{D9BB7A02-FE80-44CE-BAA6-AC0B50A5F89C}"/>
              </a:ext>
            </a:extLst>
          </p:cNvPr>
          <p:cNvSpPr>
            <a:spLocks xmlns:a="http://schemas.openxmlformats.org/drawingml/2006/main" noGrp="1"/>
          </p:cNvSpPr>
          <p:nvPr/>
        </p:nvSpPr>
        <p:spPr>
          <a:xfrm xmlns:a="http://schemas.openxmlformats.org/drawingml/2006/main">
            <a:off x="7909560" y="2633472"/>
            <a:ext cx="2633472"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C1C1C"/>
                </a:solidFill>
                <a:latin typeface="Segoe UI"/>
                <a:ea typeface="Segoe UI"/>
                <a:cs typeface="Segoe UI"/>
              </a:rPr>
              <a:t>AED 25–30</a:t>
            </a:r>
            <a:endParaRPr sz="2700"/>
          </a:p>
        </p:txBody>
      </p:sp>
      <p:sp>
        <p:nvSpPr>
          <p:cNvPr id="27" name="Text 25">
            <a:extLst xmlns:a="http://schemas.openxmlformats.org/drawingml/2006/main">
              <a:ext uri="{FF2B5EF4-FFF2-40B4-BE49-F238E27FC236}">
                <a16:creationId xmlns:a16="http://schemas.microsoft.com/office/drawing/2014/main" id="{4BF08D76-44DA-4C98-8BB7-F40A83B9A50D}"/>
              </a:ext>
            </a:extLst>
          </p:cNvPr>
          <p:cNvSpPr>
            <a:spLocks xmlns:a="http://schemas.openxmlformats.org/drawingml/2006/main" noGrp="1"/>
          </p:cNvSpPr>
          <p:nvPr/>
        </p:nvSpPr>
        <p:spPr>
          <a:xfrm xmlns:a="http://schemas.openxmlformats.org/drawingml/2006/main">
            <a:off x="7909560" y="3191256"/>
            <a:ext cx="26334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a:solidFill>
                  <a:srgbClr val="6B7280"/>
                </a:solidFill>
                <a:latin typeface="Segoe UI"/>
                <a:ea typeface="Segoe UI"/>
                <a:cs typeface="Segoe UI"/>
              </a:rPr>
              <a:t>per worker / month</a:t>
            </a:r>
            <a:endParaRPr sz="1020"/>
          </a:p>
        </p:txBody>
      </p:sp>
      <p:sp>
        <p:nvSpPr>
          <p:cNvPr id="28" name="Shape 26">
            <a:extLst xmlns:a="http://schemas.openxmlformats.org/drawingml/2006/main">
              <a:ext uri="{FF2B5EF4-FFF2-40B4-BE49-F238E27FC236}">
                <a16:creationId xmlns:a16="http://schemas.microsoft.com/office/drawing/2014/main" id="{49BFE138-8584-4318-989F-3A5411C888D2}"/>
              </a:ext>
            </a:extLst>
          </p:cNvPr>
          <p:cNvSpPr>
            <a:spLocks xmlns:a="http://schemas.openxmlformats.org/drawingml/2006/main" noGrp="1"/>
          </p:cNvSpPr>
          <p:nvPr/>
        </p:nvSpPr>
        <p:spPr>
          <a:xfrm xmlns:a="http://schemas.openxmlformats.org/drawingml/2006/main">
            <a:off x="8019288" y="3538728"/>
            <a:ext cx="2414016"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29" name="Text 27">
            <a:extLst xmlns:a="http://schemas.openxmlformats.org/drawingml/2006/main">
              <a:ext uri="{FF2B5EF4-FFF2-40B4-BE49-F238E27FC236}">
                <a16:creationId xmlns:a16="http://schemas.microsoft.com/office/drawing/2014/main" id="{E926D36B-F611-4E97-A209-8FCBFBC312E5}"/>
              </a:ext>
            </a:extLst>
          </p:cNvPr>
          <p:cNvSpPr>
            <a:spLocks xmlns:a="http://schemas.openxmlformats.org/drawingml/2006/main" noGrp="1"/>
          </p:cNvSpPr>
          <p:nvPr/>
        </p:nvSpPr>
        <p:spPr>
          <a:xfrm xmlns:a="http://schemas.openxmlformats.org/drawingml/2006/main">
            <a:off x="7982712" y="3785616"/>
            <a:ext cx="2468880" cy="10515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70">
                <a:solidFill>
                  <a:srgbClr val="1C1C1C"/>
                </a:solidFill>
                <a:latin typeface="Segoe UI"/>
                <a:ea typeface="Segoe UI"/>
                <a:cs typeface="Segoe UI"/>
              </a:rPr>
              <a:t>1,000+ workers</a:t>
            </a:r>
            <a:endParaRPr sz="1070"/>
          </a:p>
          <a:p xmlns:a="http://schemas.openxmlformats.org/drawingml/2006/main">
            <a:pPr marL="152400" indent="-152400">
              <a:buSzPct val="100000"/>
              <a:buChar char="•"/>
            </a:pPr>
            <a:r>
              <a:rPr sz="1070">
                <a:solidFill>
                  <a:srgbClr val="1C1C1C"/>
                </a:solidFill>
                <a:latin typeface="Segoe UI"/>
                <a:ea typeface="Segoe UI"/>
                <a:cs typeface="Segoe UI"/>
              </a:rPr>
              <a:t>Multi-site deployment</a:t>
            </a:r>
            <a:endParaRPr sz="1070"/>
          </a:p>
          <a:p xmlns:a="http://schemas.openxmlformats.org/drawingml/2006/main">
            <a:pPr marL="152400" indent="-152400">
              <a:buSzPct val="100000"/>
              <a:buChar char="•"/>
            </a:pPr>
            <a:r>
              <a:rPr sz="1070">
                <a:solidFill>
                  <a:srgbClr val="1C1C1C"/>
                </a:solidFill>
                <a:latin typeface="Segoe UI"/>
                <a:ea typeface="Segoe UI"/>
                <a:cs typeface="Segoe UI"/>
              </a:rPr>
              <a:t>SSO, audit logs and APIs</a:t>
            </a:r>
            <a:endParaRPr sz="1070"/>
          </a:p>
          <a:p xmlns:a="http://schemas.openxmlformats.org/drawingml/2006/main">
            <a:pPr marL="152400" indent="-152400">
              <a:buSzPct val="100000"/>
              <a:buChar char="•"/>
            </a:pPr>
            <a:r>
              <a:rPr sz="1070">
                <a:solidFill>
                  <a:srgbClr val="1C1C1C"/>
                </a:solidFill>
                <a:latin typeface="Segoe UI"/>
                <a:ea typeface="Segoe UI"/>
                <a:cs typeface="Segoe UI"/>
              </a:rPr>
              <a:t>Advanced governance and custom rules</a:t>
            </a:r>
            <a:endParaRPr sz="1070"/>
          </a:p>
        </p:txBody>
      </p:sp>
      <p:sp>
        <p:nvSpPr>
          <p:cNvPr id="30" name="Shape 28">
            <a:extLst xmlns:a="http://schemas.openxmlformats.org/drawingml/2006/main">
              <a:ext uri="{FF2B5EF4-FFF2-40B4-BE49-F238E27FC236}">
                <a16:creationId xmlns:a16="http://schemas.microsoft.com/office/drawing/2014/main" id="{17FB3F73-8C16-44DB-9B8D-F8F5412ADCBD}"/>
              </a:ext>
            </a:extLst>
          </p:cNvPr>
          <p:cNvSpPr>
            <a:spLocks xmlns:a="http://schemas.openxmlformats.org/drawingml/2006/main" noGrp="1"/>
          </p:cNvSpPr>
          <p:nvPr/>
        </p:nvSpPr>
        <p:spPr>
          <a:xfrm xmlns:a="http://schemas.openxmlformats.org/drawingml/2006/main">
            <a:off x="502920" y="5687568"/>
            <a:ext cx="11173968" cy="530352"/>
          </a:xfrm>
          <a:prstGeom xmlns:a="http://schemas.openxmlformats.org/drawingml/2006/main" prst="roundRect">
            <a:avLst>
              <a:gd name="adj" fmla="val 20690"/>
            </a:avLst>
          </a:prstGeom>
          <a:solidFill xmlns:a="http://schemas.openxmlformats.org/drawingml/2006/main">
            <a:srgbClr val="F4F4F5"/>
          </a:solidFill>
          <a:ln xmlns:a="http://schemas.openxmlformats.org/drawingml/2006/main" w="10160">
            <a:solidFill>
              <a:srgbClr val="E1E4EA"/>
            </a:solidFill>
            <a:prstDash val="solid"/>
          </a:ln>
        </p:spPr>
      </p:sp>
      <p:sp>
        <p:nvSpPr>
          <p:cNvPr id="31" name="Text 29">
            <a:extLst xmlns:a="http://schemas.openxmlformats.org/drawingml/2006/main">
              <a:ext uri="{FF2B5EF4-FFF2-40B4-BE49-F238E27FC236}">
                <a16:creationId xmlns:a16="http://schemas.microsoft.com/office/drawing/2014/main" id="{E44DE220-58EB-4486-8A1B-4B35361C6D2E}"/>
              </a:ext>
            </a:extLst>
          </p:cNvPr>
          <p:cNvSpPr>
            <a:spLocks xmlns:a="http://schemas.openxmlformats.org/drawingml/2006/main" noGrp="1"/>
          </p:cNvSpPr>
          <p:nvPr/>
        </p:nvSpPr>
        <p:spPr>
          <a:xfrm xmlns:a="http://schemas.openxmlformats.org/drawingml/2006/main">
            <a:off x="786384" y="584301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10" b="1">
                <a:solidFill>
                  <a:srgbClr val="1C1C1C"/>
                </a:solidFill>
                <a:latin typeface="Segoe UI"/>
                <a:ea typeface="Segoe UI"/>
                <a:cs typeface="Segoe UI"/>
              </a:rPr>
              <a:t>One-time onboarding: AED 15,000–50,000 depending on SOP volume, language packs, integrations and site configuration.</a:t>
            </a:r>
            <a:endParaRPr sz="1110"/>
          </a:p>
        </p:txBody>
      </p:sp>
      <p:sp>
        <p:nvSpPr>
          <p:cNvPr id="32" name="Text 30">
            <a:extLst xmlns:a="http://schemas.openxmlformats.org/drawingml/2006/main">
              <a:ext uri="{FF2B5EF4-FFF2-40B4-BE49-F238E27FC236}">
                <a16:creationId xmlns:a16="http://schemas.microsoft.com/office/drawing/2014/main" id="{4BA8FB33-BEB0-410E-930A-2A69C57EE3E0}"/>
              </a:ext>
            </a:extLst>
          </p:cNvPr>
          <p:cNvSpPr>
            <a:spLocks xmlns:a="http://schemas.openxmlformats.org/drawingml/2006/main" noGrp="1"/>
          </p:cNvSpPr>
          <p:nvPr/>
        </p:nvSpPr>
        <p:spPr>
          <a:xfrm xmlns:a="http://schemas.openxmlformats.org/drawingml/2006/main">
            <a:off x="8302752" y="5843016"/>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20">
                <a:solidFill>
                  <a:srgbClr val="3B82F6"/>
                </a:solidFill>
                <a:latin typeface="Segoe UI"/>
                <a:ea typeface="Segoe UI"/>
                <a:cs typeface="Segoe UI"/>
              </a:rPr>
              <a:t>Buyer: Head of HSE  •  Operations Director  •  Site Director  •  COO</a:t>
            </a:r>
            <a:endParaRPr sz="920"/>
          </a:p>
        </p:txBody>
      </p:sp>
      <p:sp>
        <p:nvSpPr>
          <p:cNvPr id="33" name="Text 31">
            <a:extLst xmlns:a="http://schemas.openxmlformats.org/drawingml/2006/main">
              <a:ext uri="{FF2B5EF4-FFF2-40B4-BE49-F238E27FC236}">
                <a16:creationId xmlns:a16="http://schemas.microsoft.com/office/drawing/2014/main" id="{8048251E-62C3-4E6A-9A3D-F33A8EE987ED}"/>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34" name="Text 32">
            <a:extLst xmlns:a="http://schemas.openxmlformats.org/drawingml/2006/main">
              <a:ext uri="{FF2B5EF4-FFF2-40B4-BE49-F238E27FC236}">
                <a16:creationId xmlns:a16="http://schemas.microsoft.com/office/drawing/2014/main" id="{4352A7D1-79C4-40F8-BDA8-7DDA475B7B08}"/>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Illustrative pricing for the business model. Final pricing should be validated through UAE pilot interviews.</a:t>
            </a:r>
            <a:endParaRPr sz="670"/>
          </a:p>
        </p:txBody>
      </p:sp>
      <p:sp>
        <p:nvSpPr>
          <p:cNvPr id="35" name="Slide Number Placeholder 0">
            <a:extLst xmlns:a="http://schemas.openxmlformats.org/drawingml/2006/main">
              <a:ext uri="{FF2B5EF4-FFF2-40B4-BE49-F238E27FC236}">
                <a16:creationId xmlns:a16="http://schemas.microsoft.com/office/drawing/2014/main" id="{8036B070-5542-49BC-8C21-E4BCD4A67B74}"/>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8</a:t>
            </a:fld>
            <a:endParaRP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e54811eedcbb446e"/>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203436431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724D0A00-2266-497D-995A-1C214F645842}"/>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Illustrative economics: Meridian at 500 workers</a:t>
            </a:r>
            <a:endParaRPr sz="2700"/>
          </a:p>
        </p:txBody>
      </p:sp>
      <p:sp>
        <p:nvSpPr>
          <p:cNvPr id="8" name="Text 6">
            <a:extLst xmlns:a="http://schemas.openxmlformats.org/drawingml/2006/main">
              <a:ext uri="{FF2B5EF4-FFF2-40B4-BE49-F238E27FC236}">
                <a16:creationId xmlns:a16="http://schemas.microsoft.com/office/drawing/2014/main" id="{B20C6B74-D5F7-49A9-8147-B4ADA47933FC}"/>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A conservative usage model produces strong platform margins and measurable customer value.</a:t>
            </a:r>
            <a:endParaRPr sz="1250"/>
          </a:p>
        </p:txBody>
      </p:sp>
      <p:sp>
        <p:nvSpPr>
          <p:cNvPr id="9" name="Shape 7">
            <a:extLst xmlns:a="http://schemas.openxmlformats.org/drawingml/2006/main">
              <a:ext uri="{FF2B5EF4-FFF2-40B4-BE49-F238E27FC236}">
                <a16:creationId xmlns:a16="http://schemas.microsoft.com/office/drawing/2014/main" id="{9669E77E-3813-4590-B66F-D40B6468BD85}"/>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7A4E0E79-5FBA-4AC5-B3E5-022DCB44C8C0}"/>
              </a:ext>
            </a:extLst>
          </p:cNvPr>
          <p:cNvSpPr>
            <a:spLocks xmlns:a="http://schemas.openxmlformats.org/drawingml/2006/main" noGrp="1"/>
          </p:cNvSpPr>
          <p:nvPr/>
        </p:nvSpPr>
        <p:spPr>
          <a:xfrm xmlns:a="http://schemas.openxmlformats.org/drawingml/2006/main">
            <a:off x="502920" y="1901952"/>
            <a:ext cx="5349240" cy="4160520"/>
          </a:xfrm>
          <a:prstGeom xmlns:a="http://schemas.openxmlformats.org/drawingml/2006/main" prst="roundRect">
            <a:avLst>
              <a:gd name="adj" fmla="val 2637"/>
            </a:avLst>
          </a:prstGeom>
          <a:solidFill xmlns:a="http://schemas.openxmlformats.org/drawingml/2006/main">
            <a:srgbClr val="F7F9FB"/>
          </a:solidFill>
          <a:ln xmlns:a="http://schemas.openxmlformats.org/drawingml/2006/main" w="10160">
            <a:solidFill>
              <a:srgbClr val="E1E4EA"/>
            </a:solidFill>
            <a:prstDash val="solid"/>
          </a:ln>
        </p:spPr>
      </p:sp>
      <p:sp>
        <p:nvSpPr>
          <p:cNvPr id="11" name="Text 9">
            <a:extLst xmlns:a="http://schemas.openxmlformats.org/drawingml/2006/main">
              <a:ext uri="{FF2B5EF4-FFF2-40B4-BE49-F238E27FC236}">
                <a16:creationId xmlns:a16="http://schemas.microsoft.com/office/drawing/2014/main" id="{571F5A4A-CCFF-4802-8BFE-E1FB2F3669A8}"/>
              </a:ext>
            </a:extLst>
          </p:cNvPr>
          <p:cNvSpPr>
            <a:spLocks xmlns:a="http://schemas.openxmlformats.org/drawingml/2006/main" noGrp="1"/>
          </p:cNvSpPr>
          <p:nvPr/>
        </p:nvSpPr>
        <p:spPr>
          <a:xfrm xmlns:a="http://schemas.openxmlformats.org/drawingml/2006/main">
            <a:off x="822960" y="2157984"/>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F59E0B"/>
                </a:solidFill>
                <a:latin typeface="Segoe UI"/>
                <a:ea typeface="Segoe UI"/>
                <a:cs typeface="Segoe UI"/>
              </a:rPr>
              <a:t>HEATSAFE UNIT ECONOMICS</a:t>
            </a:r>
            <a:endParaRPr sz="1000"/>
          </a:p>
        </p:txBody>
      </p:sp>
      <p:sp>
        <p:nvSpPr>
          <p:cNvPr id="12" name="Text 10">
            <a:extLst xmlns:a="http://schemas.openxmlformats.org/drawingml/2006/main">
              <a:ext uri="{FF2B5EF4-FFF2-40B4-BE49-F238E27FC236}">
                <a16:creationId xmlns:a16="http://schemas.microsoft.com/office/drawing/2014/main" id="{51685630-84A5-4A31-B172-E8A363369EBD}"/>
              </a:ext>
            </a:extLst>
          </p:cNvPr>
          <p:cNvSpPr>
            <a:spLocks xmlns:a="http://schemas.openxmlformats.org/drawingml/2006/main" noGrp="1"/>
          </p:cNvSpPr>
          <p:nvPr/>
        </p:nvSpPr>
        <p:spPr>
          <a:xfrm xmlns:a="http://schemas.openxmlformats.org/drawingml/2006/main">
            <a:off x="822960" y="2606040"/>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280"/>
                </a:solidFill>
                <a:latin typeface="Segoe UI"/>
                <a:ea typeface="Segoe UI"/>
                <a:cs typeface="Segoe UI"/>
              </a:rPr>
              <a:t>Monthly revenue</a:t>
            </a:r>
            <a:endParaRPr sz="1100"/>
          </a:p>
        </p:txBody>
      </p:sp>
      <p:sp>
        <p:nvSpPr>
          <p:cNvPr id="13" name="Text 11">
            <a:extLst xmlns:a="http://schemas.openxmlformats.org/drawingml/2006/main">
              <a:ext uri="{FF2B5EF4-FFF2-40B4-BE49-F238E27FC236}">
                <a16:creationId xmlns:a16="http://schemas.microsoft.com/office/drawing/2014/main" id="{16ADCA5E-64C4-4959-AED3-E04611503095}"/>
              </a:ext>
            </a:extLst>
          </p:cNvPr>
          <p:cNvSpPr>
            <a:spLocks xmlns:a="http://schemas.openxmlformats.org/drawingml/2006/main" noGrp="1"/>
          </p:cNvSpPr>
          <p:nvPr/>
        </p:nvSpPr>
        <p:spPr>
          <a:xfrm xmlns:a="http://schemas.openxmlformats.org/drawingml/2006/main">
            <a:off x="3246120" y="2587752"/>
            <a:ext cx="20116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a:solidFill>
                  <a:srgbClr val="1C1C1C"/>
                </a:solidFill>
                <a:latin typeface="Segoe UI"/>
                <a:ea typeface="Segoe UI"/>
                <a:cs typeface="Segoe UI"/>
              </a:rPr>
              <a:t>AED 17,500</a:t>
            </a:r>
            <a:endParaRPr sz="1500"/>
          </a:p>
        </p:txBody>
      </p:sp>
      <p:sp>
        <p:nvSpPr>
          <p:cNvPr id="14" name="Shape 12">
            <a:extLst xmlns:a="http://schemas.openxmlformats.org/drawingml/2006/main">
              <a:ext uri="{FF2B5EF4-FFF2-40B4-BE49-F238E27FC236}">
                <a16:creationId xmlns:a16="http://schemas.microsoft.com/office/drawing/2014/main" id="{87F54367-5F7D-44C8-8C56-3311D20A1E62}"/>
              </a:ext>
            </a:extLst>
          </p:cNvPr>
          <p:cNvSpPr>
            <a:spLocks xmlns:a="http://schemas.openxmlformats.org/drawingml/2006/main" noGrp="1"/>
          </p:cNvSpPr>
          <p:nvPr/>
        </p:nvSpPr>
        <p:spPr>
          <a:xfrm xmlns:a="http://schemas.openxmlformats.org/drawingml/2006/main">
            <a:off x="822960" y="2926080"/>
            <a:ext cx="4434840" cy="0"/>
          </a:xfrm>
          <a:prstGeom xmlns:a="http://schemas.openxmlformats.org/drawingml/2006/main" prst="line">
            <a:avLst/>
          </a:prstGeom>
          <a:noFill xmlns:a="http://schemas.openxmlformats.org/drawingml/2006/main"/>
          <a:ln xmlns:a="http://schemas.openxmlformats.org/drawingml/2006/main" w="8890">
            <a:solidFill>
              <a:srgbClr val="E1E4EA"/>
            </a:solidFill>
            <a:prstDash val="solid"/>
          </a:ln>
        </p:spPr>
      </p:sp>
      <p:sp>
        <p:nvSpPr>
          <p:cNvPr id="15" name="Text 13">
            <a:extLst xmlns:a="http://schemas.openxmlformats.org/drawingml/2006/main">
              <a:ext uri="{FF2B5EF4-FFF2-40B4-BE49-F238E27FC236}">
                <a16:creationId xmlns:a16="http://schemas.microsoft.com/office/drawing/2014/main" id="{181EEC29-3E23-4C37-9849-9C547D54062E}"/>
              </a:ext>
            </a:extLst>
          </p:cNvPr>
          <p:cNvSpPr>
            <a:spLocks xmlns:a="http://schemas.openxmlformats.org/drawingml/2006/main" noGrp="1"/>
          </p:cNvSpPr>
          <p:nvPr/>
        </p:nvSpPr>
        <p:spPr>
          <a:xfrm xmlns:a="http://schemas.openxmlformats.org/drawingml/2006/main">
            <a:off x="822960" y="3136392"/>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280"/>
                </a:solidFill>
                <a:latin typeface="Segoe UI"/>
                <a:ea typeface="Segoe UI"/>
                <a:cs typeface="Segoe UI"/>
              </a:rPr>
              <a:t>Runtime COGS</a:t>
            </a:r>
            <a:endParaRPr sz="1100"/>
          </a:p>
        </p:txBody>
      </p:sp>
      <p:sp>
        <p:nvSpPr>
          <p:cNvPr id="16" name="Text 14">
            <a:extLst xmlns:a="http://schemas.openxmlformats.org/drawingml/2006/main">
              <a:ext uri="{FF2B5EF4-FFF2-40B4-BE49-F238E27FC236}">
                <a16:creationId xmlns:a16="http://schemas.microsoft.com/office/drawing/2014/main" id="{51DFC367-10EF-4C2E-B98D-79A1DE0061BC}"/>
              </a:ext>
            </a:extLst>
          </p:cNvPr>
          <p:cNvSpPr>
            <a:spLocks xmlns:a="http://schemas.openxmlformats.org/drawingml/2006/main" noGrp="1"/>
          </p:cNvSpPr>
          <p:nvPr/>
        </p:nvSpPr>
        <p:spPr>
          <a:xfrm xmlns:a="http://schemas.openxmlformats.org/drawingml/2006/main">
            <a:off x="3246120" y="3118104"/>
            <a:ext cx="20116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a:solidFill>
                  <a:srgbClr val="1C1C1C"/>
                </a:solidFill>
                <a:latin typeface="Segoe UI"/>
                <a:ea typeface="Segoe UI"/>
                <a:cs typeface="Segoe UI"/>
              </a:rPr>
              <a:t>AED 3,016</a:t>
            </a:r>
            <a:endParaRPr sz="1500"/>
          </a:p>
        </p:txBody>
      </p:sp>
      <p:sp>
        <p:nvSpPr>
          <p:cNvPr id="17" name="Shape 15">
            <a:extLst xmlns:a="http://schemas.openxmlformats.org/drawingml/2006/main">
              <a:ext uri="{FF2B5EF4-FFF2-40B4-BE49-F238E27FC236}">
                <a16:creationId xmlns:a16="http://schemas.microsoft.com/office/drawing/2014/main" id="{47CE0C64-D115-4330-9633-79F71FC556D3}"/>
              </a:ext>
            </a:extLst>
          </p:cNvPr>
          <p:cNvSpPr>
            <a:spLocks xmlns:a="http://schemas.openxmlformats.org/drawingml/2006/main" noGrp="1"/>
          </p:cNvSpPr>
          <p:nvPr/>
        </p:nvSpPr>
        <p:spPr>
          <a:xfrm xmlns:a="http://schemas.openxmlformats.org/drawingml/2006/main">
            <a:off x="822960" y="3456432"/>
            <a:ext cx="4434840" cy="0"/>
          </a:xfrm>
          <a:prstGeom xmlns:a="http://schemas.openxmlformats.org/drawingml/2006/main" prst="line">
            <a:avLst/>
          </a:prstGeom>
          <a:noFill xmlns:a="http://schemas.openxmlformats.org/drawingml/2006/main"/>
          <a:ln xmlns:a="http://schemas.openxmlformats.org/drawingml/2006/main" w="8890">
            <a:solidFill>
              <a:srgbClr val="E1E4EA"/>
            </a:solidFill>
            <a:prstDash val="solid"/>
          </a:ln>
        </p:spPr>
      </p:sp>
      <p:sp>
        <p:nvSpPr>
          <p:cNvPr id="18" name="Text 16">
            <a:extLst xmlns:a="http://schemas.openxmlformats.org/drawingml/2006/main">
              <a:ext uri="{FF2B5EF4-FFF2-40B4-BE49-F238E27FC236}">
                <a16:creationId xmlns:a16="http://schemas.microsoft.com/office/drawing/2014/main" id="{0886A128-D179-408D-9077-6ECB049FE27E}"/>
              </a:ext>
            </a:extLst>
          </p:cNvPr>
          <p:cNvSpPr>
            <a:spLocks xmlns:a="http://schemas.openxmlformats.org/drawingml/2006/main" noGrp="1"/>
          </p:cNvSpPr>
          <p:nvPr/>
        </p:nvSpPr>
        <p:spPr>
          <a:xfrm xmlns:a="http://schemas.openxmlformats.org/drawingml/2006/main">
            <a:off x="822960" y="3666744"/>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280"/>
                </a:solidFill>
                <a:latin typeface="Segoe UI"/>
                <a:ea typeface="Segoe UI"/>
                <a:cs typeface="Segoe UI"/>
              </a:rPr>
              <a:t>Gross profit</a:t>
            </a:r>
            <a:endParaRPr sz="1100"/>
          </a:p>
        </p:txBody>
      </p:sp>
      <p:sp>
        <p:nvSpPr>
          <p:cNvPr id="19" name="Text 17">
            <a:extLst xmlns:a="http://schemas.openxmlformats.org/drawingml/2006/main">
              <a:ext uri="{FF2B5EF4-FFF2-40B4-BE49-F238E27FC236}">
                <a16:creationId xmlns:a16="http://schemas.microsoft.com/office/drawing/2014/main" id="{D1C2C902-BAFF-4781-AD48-05619F86A569}"/>
              </a:ext>
            </a:extLst>
          </p:cNvPr>
          <p:cNvSpPr>
            <a:spLocks xmlns:a="http://schemas.openxmlformats.org/drawingml/2006/main" noGrp="1"/>
          </p:cNvSpPr>
          <p:nvPr/>
        </p:nvSpPr>
        <p:spPr>
          <a:xfrm xmlns:a="http://schemas.openxmlformats.org/drawingml/2006/main">
            <a:off x="3246120" y="3648456"/>
            <a:ext cx="20116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a:solidFill>
                  <a:srgbClr val="1C1C1C"/>
                </a:solidFill>
                <a:latin typeface="Segoe UI"/>
                <a:ea typeface="Segoe UI"/>
                <a:cs typeface="Segoe UI"/>
              </a:rPr>
              <a:t>AED 14,484</a:t>
            </a:r>
            <a:endParaRPr sz="1500"/>
          </a:p>
        </p:txBody>
      </p:sp>
      <p:sp>
        <p:nvSpPr>
          <p:cNvPr id="20" name="Shape 18">
            <a:extLst xmlns:a="http://schemas.openxmlformats.org/drawingml/2006/main">
              <a:ext uri="{FF2B5EF4-FFF2-40B4-BE49-F238E27FC236}">
                <a16:creationId xmlns:a16="http://schemas.microsoft.com/office/drawing/2014/main" id="{99C6FC87-E810-48F7-9AC4-99C5040BA3C7}"/>
              </a:ext>
            </a:extLst>
          </p:cNvPr>
          <p:cNvSpPr>
            <a:spLocks xmlns:a="http://schemas.openxmlformats.org/drawingml/2006/main" noGrp="1"/>
          </p:cNvSpPr>
          <p:nvPr/>
        </p:nvSpPr>
        <p:spPr>
          <a:xfrm xmlns:a="http://schemas.openxmlformats.org/drawingml/2006/main">
            <a:off x="822960" y="3986784"/>
            <a:ext cx="4434840" cy="0"/>
          </a:xfrm>
          <a:prstGeom xmlns:a="http://schemas.openxmlformats.org/drawingml/2006/main" prst="line">
            <a:avLst/>
          </a:prstGeom>
          <a:noFill xmlns:a="http://schemas.openxmlformats.org/drawingml/2006/main"/>
          <a:ln xmlns:a="http://schemas.openxmlformats.org/drawingml/2006/main" w="8890">
            <a:solidFill>
              <a:srgbClr val="E1E4EA"/>
            </a:solidFill>
            <a:prstDash val="solid"/>
          </a:ln>
        </p:spPr>
      </p:sp>
      <p:sp>
        <p:nvSpPr>
          <p:cNvPr id="21" name="Text 19">
            <a:extLst xmlns:a="http://schemas.openxmlformats.org/drawingml/2006/main">
              <a:ext uri="{FF2B5EF4-FFF2-40B4-BE49-F238E27FC236}">
                <a16:creationId xmlns:a16="http://schemas.microsoft.com/office/drawing/2014/main" id="{9134CDBB-38A4-493A-ACD6-5E5D0DFE3C71}"/>
              </a:ext>
            </a:extLst>
          </p:cNvPr>
          <p:cNvSpPr>
            <a:spLocks xmlns:a="http://schemas.openxmlformats.org/drawingml/2006/main" noGrp="1"/>
          </p:cNvSpPr>
          <p:nvPr/>
        </p:nvSpPr>
        <p:spPr>
          <a:xfrm xmlns:a="http://schemas.openxmlformats.org/drawingml/2006/main">
            <a:off x="822960" y="4197096"/>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280"/>
                </a:solidFill>
                <a:latin typeface="Segoe UI"/>
                <a:ea typeface="Segoe UI"/>
                <a:cs typeface="Segoe UI"/>
              </a:rPr>
              <a:t>Platform gross margin</a:t>
            </a:r>
            <a:endParaRPr sz="1100"/>
          </a:p>
        </p:txBody>
      </p:sp>
      <p:sp>
        <p:nvSpPr>
          <p:cNvPr id="22" name="Text 20">
            <a:extLst xmlns:a="http://schemas.openxmlformats.org/drawingml/2006/main">
              <a:ext uri="{FF2B5EF4-FFF2-40B4-BE49-F238E27FC236}">
                <a16:creationId xmlns:a16="http://schemas.microsoft.com/office/drawing/2014/main" id="{2399F7E4-6DC1-4128-874E-48A2CBDCD5F7}"/>
              </a:ext>
            </a:extLst>
          </p:cNvPr>
          <p:cNvSpPr>
            <a:spLocks xmlns:a="http://schemas.openxmlformats.org/drawingml/2006/main" noGrp="1"/>
          </p:cNvSpPr>
          <p:nvPr/>
        </p:nvSpPr>
        <p:spPr>
          <a:xfrm xmlns:a="http://schemas.openxmlformats.org/drawingml/2006/main">
            <a:off x="3246120" y="4178808"/>
            <a:ext cx="20116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a:solidFill>
                  <a:srgbClr val="3B82F6"/>
                </a:solidFill>
                <a:latin typeface="Segoe UI"/>
                <a:ea typeface="Segoe UI"/>
                <a:cs typeface="Segoe UI"/>
              </a:rPr>
              <a:t>83%</a:t>
            </a:r>
            <a:endParaRPr sz="1500"/>
          </a:p>
        </p:txBody>
      </p:sp>
      <p:sp>
        <p:nvSpPr>
          <p:cNvPr id="23" name="Shape 21">
            <a:extLst xmlns:a="http://schemas.openxmlformats.org/drawingml/2006/main">
              <a:ext uri="{FF2B5EF4-FFF2-40B4-BE49-F238E27FC236}">
                <a16:creationId xmlns:a16="http://schemas.microsoft.com/office/drawing/2014/main" id="{34188CBE-08DC-4961-A4E2-4737038E8650}"/>
              </a:ext>
            </a:extLst>
          </p:cNvPr>
          <p:cNvSpPr>
            <a:spLocks xmlns:a="http://schemas.openxmlformats.org/drawingml/2006/main" noGrp="1"/>
          </p:cNvSpPr>
          <p:nvPr/>
        </p:nvSpPr>
        <p:spPr>
          <a:xfrm xmlns:a="http://schemas.openxmlformats.org/drawingml/2006/main">
            <a:off x="822960" y="4517136"/>
            <a:ext cx="4434840" cy="0"/>
          </a:xfrm>
          <a:prstGeom xmlns:a="http://schemas.openxmlformats.org/drawingml/2006/main" prst="line">
            <a:avLst/>
          </a:prstGeom>
          <a:noFill xmlns:a="http://schemas.openxmlformats.org/drawingml/2006/main"/>
          <a:ln xmlns:a="http://schemas.openxmlformats.org/drawingml/2006/main" w="8890">
            <a:solidFill>
              <a:srgbClr val="E1E4EA"/>
            </a:solidFill>
            <a:prstDash val="solid"/>
          </a:ln>
        </p:spPr>
      </p:sp>
      <p:sp>
        <p:nvSpPr>
          <p:cNvPr id="24" name="Text 22">
            <a:extLst xmlns:a="http://schemas.openxmlformats.org/drawingml/2006/main">
              <a:ext uri="{FF2B5EF4-FFF2-40B4-BE49-F238E27FC236}">
                <a16:creationId xmlns:a16="http://schemas.microsoft.com/office/drawing/2014/main" id="{8EA7DA6E-C94A-487E-B655-6FF35E5CE1DC}"/>
              </a:ext>
            </a:extLst>
          </p:cNvPr>
          <p:cNvSpPr>
            <a:spLocks xmlns:a="http://schemas.openxmlformats.org/drawingml/2006/main" noGrp="1"/>
          </p:cNvSpPr>
          <p:nvPr/>
        </p:nvSpPr>
        <p:spPr>
          <a:xfrm xmlns:a="http://schemas.openxmlformats.org/drawingml/2006/main">
            <a:off x="822960" y="4727448"/>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B7280"/>
                </a:solidFill>
                <a:latin typeface="Segoe UI"/>
                <a:ea typeface="Segoe UI"/>
                <a:cs typeface="Segoe UI"/>
              </a:rPr>
              <a:t>Annual recurring revenue</a:t>
            </a:r>
            <a:endParaRPr sz="1100"/>
          </a:p>
        </p:txBody>
      </p:sp>
      <p:sp>
        <p:nvSpPr>
          <p:cNvPr id="25" name="Text 23">
            <a:extLst xmlns:a="http://schemas.openxmlformats.org/drawingml/2006/main">
              <a:ext uri="{FF2B5EF4-FFF2-40B4-BE49-F238E27FC236}">
                <a16:creationId xmlns:a16="http://schemas.microsoft.com/office/drawing/2014/main" id="{444766FA-B2E0-4AB9-B94F-5483B8F6A2F7}"/>
              </a:ext>
            </a:extLst>
          </p:cNvPr>
          <p:cNvSpPr>
            <a:spLocks xmlns:a="http://schemas.openxmlformats.org/drawingml/2006/main" noGrp="1"/>
          </p:cNvSpPr>
          <p:nvPr/>
        </p:nvSpPr>
        <p:spPr>
          <a:xfrm xmlns:a="http://schemas.openxmlformats.org/drawingml/2006/main">
            <a:off x="3246120" y="4709160"/>
            <a:ext cx="20116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a:solidFill>
                  <a:srgbClr val="1C1C1C"/>
                </a:solidFill>
                <a:latin typeface="Segoe UI"/>
                <a:ea typeface="Segoe UI"/>
                <a:cs typeface="Segoe UI"/>
              </a:rPr>
              <a:t>AED 210,000</a:t>
            </a:r>
            <a:endParaRPr sz="1500"/>
          </a:p>
        </p:txBody>
      </p:sp>
      <p:sp>
        <p:nvSpPr>
          <p:cNvPr id="26" name="Shape 24">
            <a:extLst xmlns:a="http://schemas.openxmlformats.org/drawingml/2006/main">
              <a:ext uri="{FF2B5EF4-FFF2-40B4-BE49-F238E27FC236}">
                <a16:creationId xmlns:a16="http://schemas.microsoft.com/office/drawing/2014/main" id="{A645F500-D78C-401F-AD98-514C813B9AF9}"/>
              </a:ext>
            </a:extLst>
          </p:cNvPr>
          <p:cNvSpPr>
            <a:spLocks xmlns:a="http://schemas.openxmlformats.org/drawingml/2006/main" noGrp="1"/>
          </p:cNvSpPr>
          <p:nvPr/>
        </p:nvSpPr>
        <p:spPr>
          <a:xfrm xmlns:a="http://schemas.openxmlformats.org/drawingml/2006/main">
            <a:off x="822960" y="5047488"/>
            <a:ext cx="4434840" cy="0"/>
          </a:xfrm>
          <a:prstGeom xmlns:a="http://schemas.openxmlformats.org/drawingml/2006/main" prst="line">
            <a:avLst/>
          </a:prstGeom>
          <a:noFill xmlns:a="http://schemas.openxmlformats.org/drawingml/2006/main"/>
          <a:ln xmlns:a="http://schemas.openxmlformats.org/drawingml/2006/main" w="8890">
            <a:solidFill>
              <a:srgbClr val="E1E4EA"/>
            </a:solidFill>
            <a:prstDash val="solid"/>
          </a:ln>
        </p:spPr>
      </p:sp>
      <p:sp>
        <p:nvSpPr>
          <p:cNvPr id="27" name="Text 25">
            <a:extLst xmlns:a="http://schemas.openxmlformats.org/drawingml/2006/main">
              <a:ext uri="{FF2B5EF4-FFF2-40B4-BE49-F238E27FC236}">
                <a16:creationId xmlns:a16="http://schemas.microsoft.com/office/drawing/2014/main" id="{3BE57AC7-25D4-4E60-A22E-C0CBA246EC9D}"/>
              </a:ext>
            </a:extLst>
          </p:cNvPr>
          <p:cNvSpPr>
            <a:spLocks xmlns:a="http://schemas.openxmlformats.org/drawingml/2006/main" noGrp="1"/>
          </p:cNvSpPr>
          <p:nvPr/>
        </p:nvSpPr>
        <p:spPr>
          <a:xfrm xmlns:a="http://schemas.openxmlformats.org/drawingml/2006/main">
            <a:off x="841248" y="5440680"/>
            <a:ext cx="2286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6B7280"/>
                </a:solidFill>
                <a:latin typeface="Segoe UI"/>
                <a:ea typeface="Segoe UI"/>
                <a:cs typeface="Segoe UI"/>
              </a:rPr>
              <a:t>Estimated monthly platform cost</a:t>
            </a:r>
            <a:endParaRPr sz="950"/>
          </a:p>
        </p:txBody>
      </p:sp>
      <p:sp>
        <p:nvSpPr>
          <p:cNvPr id="28" name="Shape 26">
            <a:extLst xmlns:a="http://schemas.openxmlformats.org/drawingml/2006/main">
              <a:ext uri="{FF2B5EF4-FFF2-40B4-BE49-F238E27FC236}">
                <a16:creationId xmlns:a16="http://schemas.microsoft.com/office/drawing/2014/main" id="{0F307E7B-A2F8-48FB-8D92-0799D157DCA4}"/>
              </a:ext>
            </a:extLst>
          </p:cNvPr>
          <p:cNvSpPr>
            <a:spLocks xmlns:a="http://schemas.openxmlformats.org/drawingml/2006/main" noGrp="1"/>
          </p:cNvSpPr>
          <p:nvPr/>
        </p:nvSpPr>
        <p:spPr>
          <a:xfrm xmlns:a="http://schemas.openxmlformats.org/drawingml/2006/main">
            <a:off x="2816352" y="5431536"/>
            <a:ext cx="1180246" cy="219456"/>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29" name="Shape 27">
            <a:extLst xmlns:a="http://schemas.openxmlformats.org/drawingml/2006/main">
              <a:ext uri="{FF2B5EF4-FFF2-40B4-BE49-F238E27FC236}">
                <a16:creationId xmlns:a16="http://schemas.microsoft.com/office/drawing/2014/main" id="{727FE0CA-69BD-405C-89DF-B8C9CE6A5941}"/>
              </a:ext>
            </a:extLst>
          </p:cNvPr>
          <p:cNvSpPr>
            <a:spLocks xmlns:a="http://schemas.openxmlformats.org/drawingml/2006/main" noGrp="1"/>
          </p:cNvSpPr>
          <p:nvPr/>
        </p:nvSpPr>
        <p:spPr>
          <a:xfrm xmlns:a="http://schemas.openxmlformats.org/drawingml/2006/main">
            <a:off x="3996598" y="5431536"/>
            <a:ext cx="439479" cy="219456"/>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30" name="Shape 28">
            <a:extLst xmlns:a="http://schemas.openxmlformats.org/drawingml/2006/main">
              <a:ext uri="{FF2B5EF4-FFF2-40B4-BE49-F238E27FC236}">
                <a16:creationId xmlns:a16="http://schemas.microsoft.com/office/drawing/2014/main" id="{22C747B9-7D34-40EF-B66A-82376ABE9FA6}"/>
              </a:ext>
            </a:extLst>
          </p:cNvPr>
          <p:cNvSpPr>
            <a:spLocks xmlns:a="http://schemas.openxmlformats.org/drawingml/2006/main" noGrp="1"/>
          </p:cNvSpPr>
          <p:nvPr/>
        </p:nvSpPr>
        <p:spPr>
          <a:xfrm xmlns:a="http://schemas.openxmlformats.org/drawingml/2006/main">
            <a:off x="4436077" y="5431536"/>
            <a:ext cx="803435" cy="219456"/>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31" name="Text 29">
            <a:extLst xmlns:a="http://schemas.openxmlformats.org/drawingml/2006/main">
              <a:ext uri="{FF2B5EF4-FFF2-40B4-BE49-F238E27FC236}">
                <a16:creationId xmlns:a16="http://schemas.microsoft.com/office/drawing/2014/main" id="{3F464CAC-D527-4B6E-9E9E-5789101CEEDF}"/>
              </a:ext>
            </a:extLst>
          </p:cNvPr>
          <p:cNvSpPr>
            <a:spLocks xmlns:a="http://schemas.openxmlformats.org/drawingml/2006/main" noGrp="1"/>
          </p:cNvSpPr>
          <p:nvPr/>
        </p:nvSpPr>
        <p:spPr>
          <a:xfrm xmlns:a="http://schemas.openxmlformats.org/drawingml/2006/main">
            <a:off x="841248" y="5742432"/>
            <a:ext cx="45262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90">
                <a:solidFill>
                  <a:srgbClr val="6B7280"/>
                </a:solidFill>
                <a:latin typeface="Segoe UI"/>
                <a:ea typeface="Segoe UI"/>
                <a:cs typeface="Segoe UI"/>
              </a:rPr>
              <a:t>AED 1,469 ElevenLabs  •  AED 547 Context.dev  •  AED 1,000 weather, LLM and hosting</a:t>
            </a:r>
            <a:endParaRPr sz="790"/>
          </a:p>
        </p:txBody>
      </p:sp>
      <p:sp>
        <p:nvSpPr>
          <p:cNvPr id="32" name="Shape 30">
            <a:extLst xmlns:a="http://schemas.openxmlformats.org/drawingml/2006/main">
              <a:ext uri="{FF2B5EF4-FFF2-40B4-BE49-F238E27FC236}">
                <a16:creationId xmlns:a16="http://schemas.microsoft.com/office/drawing/2014/main" id="{ABF831F4-D8F6-481E-A7E0-1C425406CB70}"/>
              </a:ext>
            </a:extLst>
          </p:cNvPr>
          <p:cNvSpPr>
            <a:spLocks xmlns:a="http://schemas.openxmlformats.org/drawingml/2006/main" noGrp="1"/>
          </p:cNvSpPr>
          <p:nvPr/>
        </p:nvSpPr>
        <p:spPr>
          <a:xfrm xmlns:a="http://schemas.openxmlformats.org/drawingml/2006/main">
            <a:off x="6144768" y="1901952"/>
            <a:ext cx="5532120" cy="4160520"/>
          </a:xfrm>
          <a:prstGeom xmlns:a="http://schemas.openxmlformats.org/drawingml/2006/main" prst="roundRect">
            <a:avLst>
              <a:gd name="adj" fmla="val 2637"/>
            </a:avLst>
          </a:prstGeom>
          <a:solidFill xmlns:a="http://schemas.openxmlformats.org/drawingml/2006/main">
            <a:srgbClr val="F4F4F5"/>
          </a:solidFill>
          <a:ln xmlns:a="http://schemas.openxmlformats.org/drawingml/2006/main" w="10160">
            <a:solidFill>
              <a:srgbClr val="E1E4EA"/>
            </a:solidFill>
            <a:prstDash val="solid"/>
          </a:ln>
        </p:spPr>
      </p:sp>
      <p:sp>
        <p:nvSpPr>
          <p:cNvPr id="33" name="Text 31">
            <a:extLst xmlns:a="http://schemas.openxmlformats.org/drawingml/2006/main">
              <a:ext uri="{FF2B5EF4-FFF2-40B4-BE49-F238E27FC236}">
                <a16:creationId xmlns:a16="http://schemas.microsoft.com/office/drawing/2014/main" id="{8DA529D3-732D-42CA-8FEE-C1A2A2B787B9}"/>
              </a:ext>
            </a:extLst>
          </p:cNvPr>
          <p:cNvSpPr>
            <a:spLocks xmlns:a="http://schemas.openxmlformats.org/drawingml/2006/main" noGrp="1"/>
          </p:cNvSpPr>
          <p:nvPr/>
        </p:nvSpPr>
        <p:spPr>
          <a:xfrm xmlns:a="http://schemas.openxmlformats.org/drawingml/2006/main">
            <a:off x="6473952" y="2157984"/>
            <a:ext cx="1828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3B82F6"/>
                </a:solidFill>
                <a:latin typeface="Segoe UI"/>
                <a:ea typeface="Segoe UI"/>
                <a:cs typeface="Segoe UI"/>
              </a:rPr>
              <a:t>CUSTOMER ROI</a:t>
            </a:r>
            <a:endParaRPr sz="1000"/>
          </a:p>
        </p:txBody>
      </p:sp>
      <p:sp>
        <p:nvSpPr>
          <p:cNvPr id="34" name="Text 32">
            <a:extLst xmlns:a="http://schemas.openxmlformats.org/drawingml/2006/main">
              <a:ext uri="{FF2B5EF4-FFF2-40B4-BE49-F238E27FC236}">
                <a16:creationId xmlns:a16="http://schemas.microsoft.com/office/drawing/2014/main" id="{10E7AB54-160D-4C92-ADA7-18E2862DD702}"/>
              </a:ext>
            </a:extLst>
          </p:cNvPr>
          <p:cNvSpPr>
            <a:spLocks xmlns:a="http://schemas.openxmlformats.org/drawingml/2006/main" noGrp="1"/>
          </p:cNvSpPr>
          <p:nvPr/>
        </p:nvSpPr>
        <p:spPr>
          <a:xfrm xmlns:a="http://schemas.openxmlformats.org/drawingml/2006/main">
            <a:off x="6473952" y="2596896"/>
            <a:ext cx="14173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3B82F6"/>
                </a:solidFill>
                <a:latin typeface="Segoe UI"/>
                <a:ea typeface="Segoe UI"/>
                <a:cs typeface="Segoe UI"/>
              </a:rPr>
              <a:t>10 min</a:t>
            </a:r>
            <a:endParaRPr sz="2700"/>
          </a:p>
        </p:txBody>
      </p:sp>
      <p:sp>
        <p:nvSpPr>
          <p:cNvPr id="35" name="Text 33">
            <a:extLst xmlns:a="http://schemas.openxmlformats.org/drawingml/2006/main">
              <a:ext uri="{FF2B5EF4-FFF2-40B4-BE49-F238E27FC236}">
                <a16:creationId xmlns:a16="http://schemas.microsoft.com/office/drawing/2014/main" id="{A2302154-A0EA-4DBC-8AF2-FDDB4A182F74}"/>
              </a:ext>
            </a:extLst>
          </p:cNvPr>
          <p:cNvSpPr>
            <a:spLocks xmlns:a="http://schemas.openxmlformats.org/drawingml/2006/main" noGrp="1"/>
          </p:cNvSpPr>
          <p:nvPr/>
        </p:nvSpPr>
        <p:spPr>
          <a:xfrm xmlns:a="http://schemas.openxmlformats.org/drawingml/2006/main">
            <a:off x="7863840" y="2715768"/>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20" b="1">
                <a:solidFill>
                  <a:srgbClr val="1C1C1C"/>
                </a:solidFill>
                <a:latin typeface="Segoe UI"/>
                <a:ea typeface="Segoe UI"/>
                <a:cs typeface="Segoe UI"/>
              </a:rPr>
              <a:t>saved per worker per day</a:t>
            </a:r>
            <a:endParaRPr sz="1220"/>
          </a:p>
        </p:txBody>
      </p:sp>
      <p:sp>
        <p:nvSpPr>
          <p:cNvPr id="36" name="Text 34">
            <a:extLst xmlns:a="http://schemas.openxmlformats.org/drawingml/2006/main">
              <a:ext uri="{FF2B5EF4-FFF2-40B4-BE49-F238E27FC236}">
                <a16:creationId xmlns:a16="http://schemas.microsoft.com/office/drawing/2014/main" id="{2B24999C-0996-4BDE-AF24-56C97C7EA460}"/>
              </a:ext>
            </a:extLst>
          </p:cNvPr>
          <p:cNvSpPr>
            <a:spLocks xmlns:a="http://schemas.openxmlformats.org/drawingml/2006/main" noGrp="1"/>
          </p:cNvSpPr>
          <p:nvPr/>
        </p:nvSpPr>
        <p:spPr>
          <a:xfrm xmlns:a="http://schemas.openxmlformats.org/drawingml/2006/main">
            <a:off x="6473952" y="3163824"/>
            <a:ext cx="4343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20">
                <a:solidFill>
                  <a:srgbClr val="6B7280"/>
                </a:solidFill>
                <a:latin typeface="Segoe UI"/>
                <a:ea typeface="Segoe UI"/>
                <a:cs typeface="Segoe UI"/>
              </a:rPr>
              <a:t>This is only around 15% of the 5.5 hours per week observed in industry research.</a:t>
            </a:r>
            <a:endParaRPr sz="1020"/>
          </a:p>
        </p:txBody>
      </p:sp>
      <p:sp>
        <p:nvSpPr>
          <p:cNvPr id="37" name="Shape 35">
            <a:extLst xmlns:a="http://schemas.openxmlformats.org/drawingml/2006/main">
              <a:ext uri="{FF2B5EF4-FFF2-40B4-BE49-F238E27FC236}">
                <a16:creationId xmlns:a16="http://schemas.microsoft.com/office/drawing/2014/main" id="{66C8DDAF-F0B8-44C2-985B-F5299699F86D}"/>
              </a:ext>
            </a:extLst>
          </p:cNvPr>
          <p:cNvSpPr>
            <a:spLocks xmlns:a="http://schemas.openxmlformats.org/drawingml/2006/main" noGrp="1"/>
          </p:cNvSpPr>
          <p:nvPr/>
        </p:nvSpPr>
        <p:spPr>
          <a:xfrm xmlns:a="http://schemas.openxmlformats.org/drawingml/2006/main">
            <a:off x="6473952" y="3639312"/>
            <a:ext cx="452628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38" name="Text 36">
            <a:extLst xmlns:a="http://schemas.openxmlformats.org/drawingml/2006/main">
              <a:ext uri="{FF2B5EF4-FFF2-40B4-BE49-F238E27FC236}">
                <a16:creationId xmlns:a16="http://schemas.microsoft.com/office/drawing/2014/main" id="{4A4A83DE-E68C-4E4F-93DE-79787250A75A}"/>
              </a:ext>
            </a:extLst>
          </p:cNvPr>
          <p:cNvSpPr>
            <a:spLocks xmlns:a="http://schemas.openxmlformats.org/drawingml/2006/main" noGrp="1"/>
          </p:cNvSpPr>
          <p:nvPr/>
        </p:nvSpPr>
        <p:spPr>
          <a:xfrm xmlns:a="http://schemas.openxmlformats.org/drawingml/2006/main">
            <a:off x="6473952" y="3895344"/>
            <a:ext cx="23317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280"/>
                </a:solidFill>
                <a:latin typeface="Segoe UI"/>
                <a:ea typeface="Segoe UI"/>
                <a:cs typeface="Segoe UI"/>
              </a:rPr>
              <a:t>Hours recovered / month</a:t>
            </a:r>
            <a:endParaRPr sz="1050"/>
          </a:p>
        </p:txBody>
      </p:sp>
      <p:sp>
        <p:nvSpPr>
          <p:cNvPr id="39" name="Text 37">
            <a:extLst xmlns:a="http://schemas.openxmlformats.org/drawingml/2006/main">
              <a:ext uri="{FF2B5EF4-FFF2-40B4-BE49-F238E27FC236}">
                <a16:creationId xmlns:a16="http://schemas.microsoft.com/office/drawing/2014/main" id="{046A8342-AFAB-4C4D-9D86-C5D0176BF6F0}"/>
              </a:ext>
            </a:extLst>
          </p:cNvPr>
          <p:cNvSpPr>
            <a:spLocks xmlns:a="http://schemas.openxmlformats.org/drawingml/2006/main" noGrp="1"/>
          </p:cNvSpPr>
          <p:nvPr/>
        </p:nvSpPr>
        <p:spPr>
          <a:xfrm xmlns:a="http://schemas.openxmlformats.org/drawingml/2006/main">
            <a:off x="8915400" y="3877056"/>
            <a:ext cx="1965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50" b="1">
                <a:solidFill>
                  <a:srgbClr val="1C1C1C"/>
                </a:solidFill>
                <a:latin typeface="Segoe UI"/>
                <a:ea typeface="Segoe UI"/>
                <a:cs typeface="Segoe UI"/>
              </a:rPr>
              <a:t>1,833</a:t>
            </a:r>
            <a:endParaRPr sz="1450"/>
          </a:p>
        </p:txBody>
      </p:sp>
      <p:sp>
        <p:nvSpPr>
          <p:cNvPr id="40" name="Text 38">
            <a:extLst xmlns:a="http://schemas.openxmlformats.org/drawingml/2006/main">
              <a:ext uri="{FF2B5EF4-FFF2-40B4-BE49-F238E27FC236}">
                <a16:creationId xmlns:a16="http://schemas.microsoft.com/office/drawing/2014/main" id="{7B276080-D1B3-48F4-AE33-64E8807178AE}"/>
              </a:ext>
            </a:extLst>
          </p:cNvPr>
          <p:cNvSpPr>
            <a:spLocks xmlns:a="http://schemas.openxmlformats.org/drawingml/2006/main" noGrp="1"/>
          </p:cNvSpPr>
          <p:nvPr/>
        </p:nvSpPr>
        <p:spPr>
          <a:xfrm xmlns:a="http://schemas.openxmlformats.org/drawingml/2006/main">
            <a:off x="6473952" y="4325112"/>
            <a:ext cx="23317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280"/>
                </a:solidFill>
                <a:latin typeface="Segoe UI"/>
                <a:ea typeface="Segoe UI"/>
                <a:cs typeface="Segoe UI"/>
              </a:rPr>
              <a:t>Blended labour value</a:t>
            </a:r>
            <a:endParaRPr sz="1050"/>
          </a:p>
        </p:txBody>
      </p:sp>
      <p:sp>
        <p:nvSpPr>
          <p:cNvPr id="41" name="Text 39">
            <a:extLst xmlns:a="http://schemas.openxmlformats.org/drawingml/2006/main">
              <a:ext uri="{FF2B5EF4-FFF2-40B4-BE49-F238E27FC236}">
                <a16:creationId xmlns:a16="http://schemas.microsoft.com/office/drawing/2014/main" id="{92AF22EE-4CC7-416C-8D17-7308CED43560}"/>
              </a:ext>
            </a:extLst>
          </p:cNvPr>
          <p:cNvSpPr>
            <a:spLocks xmlns:a="http://schemas.openxmlformats.org/drawingml/2006/main" noGrp="1"/>
          </p:cNvSpPr>
          <p:nvPr/>
        </p:nvSpPr>
        <p:spPr>
          <a:xfrm xmlns:a="http://schemas.openxmlformats.org/drawingml/2006/main">
            <a:off x="8915400" y="4306824"/>
            <a:ext cx="1965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50" b="1">
                <a:solidFill>
                  <a:srgbClr val="1C1C1C"/>
                </a:solidFill>
                <a:latin typeface="Segoe UI"/>
                <a:ea typeface="Segoe UI"/>
                <a:cs typeface="Segoe UI"/>
              </a:rPr>
              <a:t>AED 55,000</a:t>
            </a:r>
            <a:endParaRPr sz="1450"/>
          </a:p>
        </p:txBody>
      </p:sp>
      <p:sp>
        <p:nvSpPr>
          <p:cNvPr id="42" name="Text 40">
            <a:extLst xmlns:a="http://schemas.openxmlformats.org/drawingml/2006/main">
              <a:ext uri="{FF2B5EF4-FFF2-40B4-BE49-F238E27FC236}">
                <a16:creationId xmlns:a16="http://schemas.microsoft.com/office/drawing/2014/main" id="{083095F6-C692-4F99-AF56-744B9B63A07A}"/>
              </a:ext>
            </a:extLst>
          </p:cNvPr>
          <p:cNvSpPr>
            <a:spLocks xmlns:a="http://schemas.openxmlformats.org/drawingml/2006/main" noGrp="1"/>
          </p:cNvSpPr>
          <p:nvPr/>
        </p:nvSpPr>
        <p:spPr>
          <a:xfrm xmlns:a="http://schemas.openxmlformats.org/drawingml/2006/main">
            <a:off x="6473952" y="4754880"/>
            <a:ext cx="23317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280"/>
                </a:solidFill>
                <a:latin typeface="Segoe UI"/>
                <a:ea typeface="Segoe UI"/>
                <a:cs typeface="Segoe UI"/>
              </a:rPr>
              <a:t>HeatSafe subscription</a:t>
            </a:r>
            <a:endParaRPr sz="1050"/>
          </a:p>
        </p:txBody>
      </p:sp>
      <p:sp>
        <p:nvSpPr>
          <p:cNvPr id="43" name="Text 41">
            <a:extLst xmlns:a="http://schemas.openxmlformats.org/drawingml/2006/main">
              <a:ext uri="{FF2B5EF4-FFF2-40B4-BE49-F238E27FC236}">
                <a16:creationId xmlns:a16="http://schemas.microsoft.com/office/drawing/2014/main" id="{C94C3F50-6A51-4CB0-9659-76DE446F62C9}"/>
              </a:ext>
            </a:extLst>
          </p:cNvPr>
          <p:cNvSpPr>
            <a:spLocks xmlns:a="http://schemas.openxmlformats.org/drawingml/2006/main" noGrp="1"/>
          </p:cNvSpPr>
          <p:nvPr/>
        </p:nvSpPr>
        <p:spPr>
          <a:xfrm xmlns:a="http://schemas.openxmlformats.org/drawingml/2006/main">
            <a:off x="8915400" y="4736592"/>
            <a:ext cx="1965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50" b="1">
                <a:solidFill>
                  <a:srgbClr val="1C1C1C"/>
                </a:solidFill>
                <a:latin typeface="Segoe UI"/>
                <a:ea typeface="Segoe UI"/>
                <a:cs typeface="Segoe UI"/>
              </a:rPr>
              <a:t>AED 17,500</a:t>
            </a:r>
            <a:endParaRPr sz="1450"/>
          </a:p>
        </p:txBody>
      </p:sp>
      <p:sp>
        <p:nvSpPr>
          <p:cNvPr id="44" name="Text 42">
            <a:extLst xmlns:a="http://schemas.openxmlformats.org/drawingml/2006/main">
              <a:ext uri="{FF2B5EF4-FFF2-40B4-BE49-F238E27FC236}">
                <a16:creationId xmlns:a16="http://schemas.microsoft.com/office/drawing/2014/main" id="{6D223E85-F9F4-4708-A9ED-B491888C68D6}"/>
              </a:ext>
            </a:extLst>
          </p:cNvPr>
          <p:cNvSpPr>
            <a:spLocks xmlns:a="http://schemas.openxmlformats.org/drawingml/2006/main" noGrp="1"/>
          </p:cNvSpPr>
          <p:nvPr/>
        </p:nvSpPr>
        <p:spPr>
          <a:xfrm xmlns:a="http://schemas.openxmlformats.org/drawingml/2006/main">
            <a:off x="6473952" y="5184648"/>
            <a:ext cx="23317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B7280"/>
                </a:solidFill>
                <a:latin typeface="Segoe UI"/>
                <a:ea typeface="Segoe UI"/>
                <a:cs typeface="Segoe UI"/>
              </a:rPr>
              <a:t>Value / subscription</a:t>
            </a:r>
            <a:endParaRPr sz="1050"/>
          </a:p>
        </p:txBody>
      </p:sp>
      <p:sp>
        <p:nvSpPr>
          <p:cNvPr id="45" name="Text 43">
            <a:extLst xmlns:a="http://schemas.openxmlformats.org/drawingml/2006/main">
              <a:ext uri="{FF2B5EF4-FFF2-40B4-BE49-F238E27FC236}">
                <a16:creationId xmlns:a16="http://schemas.microsoft.com/office/drawing/2014/main" id="{91BF0135-8BFF-450C-A6A7-150C4815B2ED}"/>
              </a:ext>
            </a:extLst>
          </p:cNvPr>
          <p:cNvSpPr>
            <a:spLocks xmlns:a="http://schemas.openxmlformats.org/drawingml/2006/main" noGrp="1"/>
          </p:cNvSpPr>
          <p:nvPr/>
        </p:nvSpPr>
        <p:spPr>
          <a:xfrm xmlns:a="http://schemas.openxmlformats.org/drawingml/2006/main">
            <a:off x="8915400" y="5166360"/>
            <a:ext cx="1965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50" b="1">
                <a:solidFill>
                  <a:srgbClr val="F59E0B"/>
                </a:solidFill>
                <a:latin typeface="Segoe UI"/>
                <a:ea typeface="Segoe UI"/>
                <a:cs typeface="Segoe UI"/>
              </a:rPr>
              <a:t>3.1×</a:t>
            </a:r>
            <a:endParaRPr sz="1450"/>
          </a:p>
        </p:txBody>
      </p:sp>
      <p:sp>
        <p:nvSpPr>
          <p:cNvPr id="46" name="Shape 44">
            <a:extLst xmlns:a="http://schemas.openxmlformats.org/drawingml/2006/main">
              <a:ext uri="{FF2B5EF4-FFF2-40B4-BE49-F238E27FC236}">
                <a16:creationId xmlns:a16="http://schemas.microsoft.com/office/drawing/2014/main" id="{BDC554D0-6591-45F6-BF0C-856815EA65E9}"/>
              </a:ext>
            </a:extLst>
          </p:cNvPr>
          <p:cNvSpPr>
            <a:spLocks xmlns:a="http://schemas.openxmlformats.org/drawingml/2006/main" noGrp="1"/>
          </p:cNvSpPr>
          <p:nvPr/>
        </p:nvSpPr>
        <p:spPr>
          <a:xfrm xmlns:a="http://schemas.openxmlformats.org/drawingml/2006/main">
            <a:off x="6473952" y="5623560"/>
            <a:ext cx="4526280" cy="292608"/>
          </a:xfrm>
          <a:prstGeom xmlns:a="http://schemas.openxmlformats.org/drawingml/2006/main" prst="roundRect">
            <a:avLst/>
          </a:prstGeom>
          <a:solidFill xmlns:a="http://schemas.openxmlformats.org/drawingml/2006/main">
            <a:srgbClr val="DCFBEE"/>
          </a:solidFill>
          <a:ln xmlns:a="http://schemas.openxmlformats.org/drawingml/2006/main" w="12700">
            <a:solidFill>
              <a:srgbClr val="10B981"/>
            </a:solidFill>
            <a:prstDash val="solid"/>
          </a:ln>
        </p:spPr>
      </p:sp>
      <p:sp>
        <p:nvSpPr>
          <p:cNvPr id="47" name="Text 45">
            <a:extLst xmlns:a="http://schemas.openxmlformats.org/drawingml/2006/main">
              <a:ext uri="{FF2B5EF4-FFF2-40B4-BE49-F238E27FC236}">
                <a16:creationId xmlns:a16="http://schemas.microsoft.com/office/drawing/2014/main" id="{FE8C71DB-FE7E-47CB-B1FD-071115417993}"/>
              </a:ext>
            </a:extLst>
          </p:cNvPr>
          <p:cNvSpPr>
            <a:spLocks xmlns:a="http://schemas.openxmlformats.org/drawingml/2006/main" noGrp="1"/>
          </p:cNvSpPr>
          <p:nvPr/>
        </p:nvSpPr>
        <p:spPr>
          <a:xfrm xmlns:a="http://schemas.openxmlformats.org/drawingml/2006/main">
            <a:off x="6473952" y="5705856"/>
            <a:ext cx="4526280"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0" b="1">
                <a:solidFill>
                  <a:srgbClr val="10B981"/>
                </a:solidFill>
                <a:latin typeface="Segoe UI"/>
                <a:ea typeface="Segoe UI"/>
                <a:cs typeface="Segoe UI"/>
              </a:rPr>
              <a:t>Before avoided incidents, rework, fines and schedule disruption.</a:t>
            </a:r>
            <a:endParaRPr sz="860"/>
          </a:p>
        </p:txBody>
      </p:sp>
      <p:sp>
        <p:nvSpPr>
          <p:cNvPr id="48" name="Text 46">
            <a:extLst xmlns:a="http://schemas.openxmlformats.org/drawingml/2006/main">
              <a:ext uri="{FF2B5EF4-FFF2-40B4-BE49-F238E27FC236}">
                <a16:creationId xmlns:a16="http://schemas.microsoft.com/office/drawing/2014/main" id="{28A457D9-E642-4978-9926-5EBA0B1CD03C}"/>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49" name="Text 47">
            <a:extLst xmlns:a="http://schemas.openxmlformats.org/drawingml/2006/main">
              <a:ext uri="{FF2B5EF4-FFF2-40B4-BE49-F238E27FC236}">
                <a16:creationId xmlns:a16="http://schemas.microsoft.com/office/drawing/2014/main" id="{C6A2DB34-D7BB-4E6B-BAF4-A8533D3D60B8}"/>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Assumptions: 500 workers; AED 35/worker/month; 10 voice min/worker/month; ElevenLabs $0.08/min; Context.dev Pro $149/month.</a:t>
            </a:r>
            <a:endParaRPr sz="670"/>
          </a:p>
        </p:txBody>
      </p:sp>
      <p:sp>
        <p:nvSpPr>
          <p:cNvPr id="50" name="Slide Number Placeholder 0">
            <a:extLst xmlns:a="http://schemas.openxmlformats.org/drawingml/2006/main">
              <a:ext uri="{FF2B5EF4-FFF2-40B4-BE49-F238E27FC236}">
                <a16:creationId xmlns:a16="http://schemas.microsoft.com/office/drawing/2014/main" id="{8377C957-AAF7-43B1-8CAC-A41CC612F038}"/>
              </a:ext>
            </a:extLst>
          </p:cNvPr>
          <p:cNvSpPr>
            <a:spLocks xmlns:a="http://schemas.openxmlformats.org/drawingml/2006/main" noGrp="1"/>
          </p:cNvSpPr>
          <p:nvPr>
            <p:ph type="sldNum" idx="4294967295"/>
          </p:nvPr>
        </p:nvSpPr>
        <p:spPr>
          <a:xfrm xmlns:a="http://schemas.openxmlformats.org/drawingml/2006/main">
            <a:off x="11686032" y="6574536"/>
            <a:ext cx="25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9</a:t>
            </a:fld>
            <a:endParaRP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bf60002f31f44018"/>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16477747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Text 5">
            <a:extLst xmlns:a="http://schemas.openxmlformats.org/drawingml/2006/main">
              <a:ext uri="{FF2B5EF4-FFF2-40B4-BE49-F238E27FC236}">
                <a16:creationId xmlns:a16="http://schemas.microsoft.com/office/drawing/2014/main" id="{59660D25-D3F8-4414-9C3B-1E276FE54967}"/>
              </a:ext>
            </a:extLst>
          </p:cNvPr>
          <p:cNvSpPr>
            <a:spLocks xmlns:a="http://schemas.openxmlformats.org/drawingml/2006/main" noGrp="1"/>
          </p:cNvSpPr>
          <p:nvPr/>
        </p:nvSpPr>
        <p:spPr>
          <a:xfrm xmlns:a="http://schemas.openxmlformats.org/drawingml/2006/main">
            <a:off x="438912" y="822960"/>
            <a:ext cx="10881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C1C1C"/>
                </a:solidFill>
                <a:latin typeface="Segoe UI"/>
                <a:ea typeface="Segoe UI"/>
                <a:cs typeface="Segoe UI"/>
              </a:rPr>
              <a:t>Go-to-market: prove value on one site, then expand</a:t>
            </a:r>
            <a:endParaRPr sz="2700"/>
          </a:p>
        </p:txBody>
      </p:sp>
      <p:sp>
        <p:nvSpPr>
          <p:cNvPr id="8" name="Text 6">
            <a:extLst xmlns:a="http://schemas.openxmlformats.org/drawingml/2006/main">
              <a:ext uri="{FF2B5EF4-FFF2-40B4-BE49-F238E27FC236}">
                <a16:creationId xmlns:a16="http://schemas.microsoft.com/office/drawing/2014/main" id="{F2796640-4592-42AF-A1D0-3705D7F385B5}"/>
              </a:ext>
            </a:extLst>
          </p:cNvPr>
          <p:cNvSpPr>
            <a:spLocks xmlns:a="http://schemas.openxmlformats.org/drawingml/2006/main" noGrp="1"/>
          </p:cNvSpPr>
          <p:nvPr/>
        </p:nvSpPr>
        <p:spPr>
          <a:xfrm xmlns:a="http://schemas.openxmlformats.org/drawingml/2006/main">
            <a:off x="457200" y="1325880"/>
            <a:ext cx="10789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B7280"/>
                </a:solidFill>
                <a:latin typeface="Segoe UI"/>
                <a:ea typeface="Segoe UI"/>
                <a:cs typeface="Segoe UI"/>
              </a:rPr>
              <a:t>The fastest route is a paid UAE pilot with a clear HSE owner and measurable operating outcomes.</a:t>
            </a:r>
            <a:endParaRPr sz="1250"/>
          </a:p>
        </p:txBody>
      </p:sp>
      <p:sp>
        <p:nvSpPr>
          <p:cNvPr id="9" name="Shape 7">
            <a:extLst xmlns:a="http://schemas.openxmlformats.org/drawingml/2006/main">
              <a:ext uri="{FF2B5EF4-FFF2-40B4-BE49-F238E27FC236}">
                <a16:creationId xmlns:a16="http://schemas.microsoft.com/office/drawing/2014/main" id="{18AC710B-7832-43E9-80CD-770C8A4B7F54}"/>
              </a:ext>
            </a:extLst>
          </p:cNvPr>
          <p:cNvSpPr>
            <a:spLocks xmlns:a="http://schemas.openxmlformats.org/drawingml/2006/main" noGrp="1"/>
          </p:cNvSpPr>
          <p:nvPr/>
        </p:nvSpPr>
        <p:spPr>
          <a:xfrm xmlns:a="http://schemas.openxmlformats.org/drawingml/2006/main">
            <a:off x="457200" y="1664208"/>
            <a:ext cx="11201400" cy="0"/>
          </a:xfrm>
          <a:prstGeom xmlns:a="http://schemas.openxmlformats.org/drawingml/2006/main" prst="line">
            <a:avLst/>
          </a:prstGeom>
          <a:noFill xmlns:a="http://schemas.openxmlformats.org/drawingml/2006/main"/>
          <a:ln xmlns:a="http://schemas.openxmlformats.org/drawingml/2006/main" w="12700">
            <a:solidFill>
              <a:srgbClr val="E1E4EA"/>
            </a:solidFill>
            <a:prstDash val="solid"/>
          </a:ln>
        </p:spPr>
      </p:sp>
      <p:sp>
        <p:nvSpPr>
          <p:cNvPr id="10" name="Shape 8">
            <a:extLst xmlns:a="http://schemas.openxmlformats.org/drawingml/2006/main">
              <a:ext uri="{FF2B5EF4-FFF2-40B4-BE49-F238E27FC236}">
                <a16:creationId xmlns:a16="http://schemas.microsoft.com/office/drawing/2014/main" id="{E8A030D3-5953-44E6-B9F6-0DD65A1B9D5C}"/>
              </a:ext>
            </a:extLst>
          </p:cNvPr>
          <p:cNvSpPr>
            <a:spLocks xmlns:a="http://schemas.openxmlformats.org/drawingml/2006/main" noGrp="1"/>
          </p:cNvSpPr>
          <p:nvPr/>
        </p:nvSpPr>
        <p:spPr>
          <a:xfrm xmlns:a="http://schemas.openxmlformats.org/drawingml/2006/main">
            <a:off x="502920" y="1911096"/>
            <a:ext cx="3182112" cy="2487168"/>
          </a:xfrm>
          <a:prstGeom xmlns:a="http://schemas.openxmlformats.org/drawingml/2006/main" prst="roundRect">
            <a:avLst>
              <a:gd name="adj" fmla="val 4412"/>
            </a:avLst>
          </a:prstGeom>
          <a:solidFill xmlns:a="http://schemas.openxmlformats.org/drawingml/2006/main">
            <a:srgbClr val="F7F9FB"/>
          </a:solidFill>
          <a:ln xmlns:a="http://schemas.openxmlformats.org/drawingml/2006/main" w="10160">
            <a:solidFill>
              <a:srgbClr val="E1E4EA"/>
            </a:solidFill>
            <a:prstDash val="solid"/>
          </a:ln>
        </p:spPr>
      </p:sp>
      <p:sp>
        <p:nvSpPr>
          <p:cNvPr id="11" name="Shape 9">
            <a:extLst xmlns:a="http://schemas.openxmlformats.org/drawingml/2006/main">
              <a:ext uri="{FF2B5EF4-FFF2-40B4-BE49-F238E27FC236}">
                <a16:creationId xmlns:a16="http://schemas.microsoft.com/office/drawing/2014/main" id="{4D7DE81B-181A-4CC1-A8A5-98EBDF6F707C}"/>
              </a:ext>
            </a:extLst>
          </p:cNvPr>
          <p:cNvSpPr>
            <a:spLocks xmlns:a="http://schemas.openxmlformats.org/drawingml/2006/main" noGrp="1"/>
          </p:cNvSpPr>
          <p:nvPr/>
        </p:nvSpPr>
        <p:spPr>
          <a:xfrm xmlns:a="http://schemas.openxmlformats.org/drawingml/2006/main">
            <a:off x="777240" y="2157984"/>
            <a:ext cx="475488" cy="47548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2" name="Text 10">
            <a:extLst xmlns:a="http://schemas.openxmlformats.org/drawingml/2006/main">
              <a:ext uri="{FF2B5EF4-FFF2-40B4-BE49-F238E27FC236}">
                <a16:creationId xmlns:a16="http://schemas.microsoft.com/office/drawing/2014/main" id="{5F0B7F1C-0322-46CF-8D54-73DE3C1DB104}"/>
              </a:ext>
            </a:extLst>
          </p:cNvPr>
          <p:cNvSpPr>
            <a:spLocks xmlns:a="http://schemas.openxmlformats.org/drawingml/2006/main" noGrp="1"/>
          </p:cNvSpPr>
          <p:nvPr/>
        </p:nvSpPr>
        <p:spPr>
          <a:xfrm xmlns:a="http://schemas.openxmlformats.org/drawingml/2006/main">
            <a:off x="777240" y="2208276"/>
            <a:ext cx="47548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01</a:t>
            </a:r>
            <a:endParaRPr sz="1400"/>
          </a:p>
        </p:txBody>
      </p:sp>
      <p:sp>
        <p:nvSpPr>
          <p:cNvPr id="13" name="Text 11">
            <a:extLst xmlns:a="http://schemas.openxmlformats.org/drawingml/2006/main">
              <a:ext uri="{FF2B5EF4-FFF2-40B4-BE49-F238E27FC236}">
                <a16:creationId xmlns:a16="http://schemas.microsoft.com/office/drawing/2014/main" id="{67604829-7578-4FB6-9C1E-2B8483EBC372}"/>
              </a:ext>
            </a:extLst>
          </p:cNvPr>
          <p:cNvSpPr>
            <a:spLocks xmlns:a="http://schemas.openxmlformats.org/drawingml/2006/main" noGrp="1"/>
          </p:cNvSpPr>
          <p:nvPr/>
        </p:nvSpPr>
        <p:spPr>
          <a:xfrm xmlns:a="http://schemas.openxmlformats.org/drawingml/2006/main">
            <a:off x="1399032" y="2231136"/>
            <a:ext cx="15087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59E0B"/>
                </a:solidFill>
                <a:latin typeface="Segoe UI"/>
                <a:ea typeface="Segoe UI"/>
                <a:cs typeface="Segoe UI"/>
              </a:rPr>
              <a:t>PILOT</a:t>
            </a:r>
            <a:endParaRPr sz="1150"/>
          </a:p>
        </p:txBody>
      </p:sp>
      <p:sp>
        <p:nvSpPr>
          <p:cNvPr id="14" name="Text 12">
            <a:extLst xmlns:a="http://schemas.openxmlformats.org/drawingml/2006/main">
              <a:ext uri="{FF2B5EF4-FFF2-40B4-BE49-F238E27FC236}">
                <a16:creationId xmlns:a16="http://schemas.microsoft.com/office/drawing/2014/main" id="{258A79B5-676A-4FE7-9768-89115C1DE3CE}"/>
              </a:ext>
            </a:extLst>
          </p:cNvPr>
          <p:cNvSpPr>
            <a:spLocks xmlns:a="http://schemas.openxmlformats.org/drawingml/2006/main" noGrp="1"/>
          </p:cNvSpPr>
          <p:nvPr/>
        </p:nvSpPr>
        <p:spPr>
          <a:xfrm xmlns:a="http://schemas.openxmlformats.org/drawingml/2006/main">
            <a:off x="813816" y="2798064"/>
            <a:ext cx="2514600" cy="98755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80">
                <a:solidFill>
                  <a:srgbClr val="1C1C1C"/>
                </a:solidFill>
                <a:latin typeface="Segoe UI"/>
                <a:ea typeface="Segoe UI"/>
                <a:cs typeface="Segoe UI"/>
              </a:rPr>
              <a:t>One UAE contractor</a:t>
            </a:r>
            <a:endParaRPr sz="1080"/>
          </a:p>
          <a:p xmlns:a="http://schemas.openxmlformats.org/drawingml/2006/main">
            <a:pPr marL="152400" indent="-152400">
              <a:buSzPct val="100000"/>
              <a:buChar char="•"/>
            </a:pPr>
            <a:r>
              <a:rPr sz="1080">
                <a:solidFill>
                  <a:srgbClr val="1C1C1C"/>
                </a:solidFill>
                <a:latin typeface="Segoe UI"/>
                <a:ea typeface="Segoe UI"/>
                <a:cs typeface="Segoe UI"/>
              </a:rPr>
              <a:t>One site, 100–500 workers</a:t>
            </a:r>
            <a:endParaRPr sz="1080"/>
          </a:p>
          <a:p xmlns:a="http://schemas.openxmlformats.org/drawingml/2006/main">
            <a:pPr marL="152400" indent="-152400">
              <a:buSzPct val="100000"/>
              <a:buChar char="•"/>
            </a:pPr>
            <a:r>
              <a:rPr sz="1080">
                <a:solidFill>
                  <a:srgbClr val="1C1C1C"/>
                </a:solidFill>
                <a:latin typeface="Segoe UI"/>
                <a:ea typeface="Segoe UI"/>
                <a:cs typeface="Segoe UI"/>
              </a:rPr>
              <a:t>3 SOPs and 2 use cases</a:t>
            </a:r>
            <a:endParaRPr sz="1080"/>
          </a:p>
          <a:p xmlns:a="http://schemas.openxmlformats.org/drawingml/2006/main">
            <a:pPr marL="152400" indent="-152400">
              <a:buSzPct val="100000"/>
              <a:buChar char="•"/>
            </a:pPr>
            <a:r>
              <a:rPr sz="1080">
                <a:solidFill>
                  <a:srgbClr val="1C1C1C"/>
                </a:solidFill>
                <a:latin typeface="Segoe UI"/>
                <a:ea typeface="Segoe UI"/>
                <a:cs typeface="Segoe UI"/>
              </a:rPr>
              <a:t>60 days + 200+ languages</a:t>
            </a:r>
            <a:endParaRPr sz="1080"/>
          </a:p>
        </p:txBody>
      </p:sp>
      <p:sp>
        <p:nvSpPr>
          <p:cNvPr id="15" name="Shape 13">
            <a:extLst xmlns:a="http://schemas.openxmlformats.org/drawingml/2006/main">
              <a:ext uri="{FF2B5EF4-FFF2-40B4-BE49-F238E27FC236}">
                <a16:creationId xmlns:a16="http://schemas.microsoft.com/office/drawing/2014/main" id="{BADED6EB-4922-4F5D-A1CE-A116C55DD5AF}"/>
              </a:ext>
            </a:extLst>
          </p:cNvPr>
          <p:cNvSpPr>
            <a:spLocks xmlns:a="http://schemas.openxmlformats.org/drawingml/2006/main" noGrp="1"/>
          </p:cNvSpPr>
          <p:nvPr/>
        </p:nvSpPr>
        <p:spPr>
          <a:xfrm xmlns:a="http://schemas.openxmlformats.org/drawingml/2006/main">
            <a:off x="4069080" y="1911096"/>
            <a:ext cx="3182112" cy="2487168"/>
          </a:xfrm>
          <a:prstGeom xmlns:a="http://schemas.openxmlformats.org/drawingml/2006/main" prst="roundRect">
            <a:avLst>
              <a:gd name="adj" fmla="val 4412"/>
            </a:avLst>
          </a:prstGeom>
          <a:solidFill xmlns:a="http://schemas.openxmlformats.org/drawingml/2006/main">
            <a:srgbClr val="F7F9FB"/>
          </a:solidFill>
          <a:ln xmlns:a="http://schemas.openxmlformats.org/drawingml/2006/main" w="10160">
            <a:solidFill>
              <a:srgbClr val="E1E4EA"/>
            </a:solidFill>
            <a:prstDash val="solid"/>
          </a:ln>
        </p:spPr>
      </p:sp>
      <p:sp>
        <p:nvSpPr>
          <p:cNvPr id="16" name="Shape 14">
            <a:extLst xmlns:a="http://schemas.openxmlformats.org/drawingml/2006/main">
              <a:ext uri="{FF2B5EF4-FFF2-40B4-BE49-F238E27FC236}">
                <a16:creationId xmlns:a16="http://schemas.microsoft.com/office/drawing/2014/main" id="{BC35FEBA-2564-4B16-9FCD-2FCAD41C3997}"/>
              </a:ext>
            </a:extLst>
          </p:cNvPr>
          <p:cNvSpPr>
            <a:spLocks xmlns:a="http://schemas.openxmlformats.org/drawingml/2006/main" noGrp="1"/>
          </p:cNvSpPr>
          <p:nvPr/>
        </p:nvSpPr>
        <p:spPr>
          <a:xfrm xmlns:a="http://schemas.openxmlformats.org/drawingml/2006/main">
            <a:off x="4343400" y="2157984"/>
            <a:ext cx="475488" cy="475488"/>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17" name="Text 15">
            <a:extLst xmlns:a="http://schemas.openxmlformats.org/drawingml/2006/main">
              <a:ext uri="{FF2B5EF4-FFF2-40B4-BE49-F238E27FC236}">
                <a16:creationId xmlns:a16="http://schemas.microsoft.com/office/drawing/2014/main" id="{AD858C8A-69E7-4ECD-87DE-A01ED6F3549E}"/>
              </a:ext>
            </a:extLst>
          </p:cNvPr>
          <p:cNvSpPr>
            <a:spLocks xmlns:a="http://schemas.openxmlformats.org/drawingml/2006/main" noGrp="1"/>
          </p:cNvSpPr>
          <p:nvPr/>
        </p:nvSpPr>
        <p:spPr>
          <a:xfrm xmlns:a="http://schemas.openxmlformats.org/drawingml/2006/main">
            <a:off x="4343400" y="2208276"/>
            <a:ext cx="47548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02</a:t>
            </a:r>
            <a:endParaRPr sz="1400"/>
          </a:p>
        </p:txBody>
      </p:sp>
      <p:sp>
        <p:nvSpPr>
          <p:cNvPr id="18" name="Text 16">
            <a:extLst xmlns:a="http://schemas.openxmlformats.org/drawingml/2006/main">
              <a:ext uri="{FF2B5EF4-FFF2-40B4-BE49-F238E27FC236}">
                <a16:creationId xmlns:a16="http://schemas.microsoft.com/office/drawing/2014/main" id="{97376229-012C-4D25-AD66-049009E6AC30}"/>
              </a:ext>
            </a:extLst>
          </p:cNvPr>
          <p:cNvSpPr>
            <a:spLocks xmlns:a="http://schemas.openxmlformats.org/drawingml/2006/main" noGrp="1"/>
          </p:cNvSpPr>
          <p:nvPr/>
        </p:nvSpPr>
        <p:spPr>
          <a:xfrm xmlns:a="http://schemas.openxmlformats.org/drawingml/2006/main">
            <a:off x="4965192" y="2231136"/>
            <a:ext cx="15087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3B82F6"/>
                </a:solidFill>
                <a:latin typeface="Segoe UI"/>
                <a:ea typeface="Segoe UI"/>
                <a:cs typeface="Segoe UI"/>
              </a:rPr>
              <a:t>SCALE</a:t>
            </a:r>
            <a:endParaRPr sz="1150"/>
          </a:p>
        </p:txBody>
      </p:sp>
      <p:sp>
        <p:nvSpPr>
          <p:cNvPr id="19" name="Text 17">
            <a:extLst xmlns:a="http://schemas.openxmlformats.org/drawingml/2006/main">
              <a:ext uri="{FF2B5EF4-FFF2-40B4-BE49-F238E27FC236}">
                <a16:creationId xmlns:a16="http://schemas.microsoft.com/office/drawing/2014/main" id="{5B5E12C2-D074-44C5-A316-33ACED146CCF}"/>
              </a:ext>
            </a:extLst>
          </p:cNvPr>
          <p:cNvSpPr>
            <a:spLocks xmlns:a="http://schemas.openxmlformats.org/drawingml/2006/main" noGrp="1"/>
          </p:cNvSpPr>
          <p:nvPr/>
        </p:nvSpPr>
        <p:spPr>
          <a:xfrm xmlns:a="http://schemas.openxmlformats.org/drawingml/2006/main">
            <a:off x="4379976" y="2798064"/>
            <a:ext cx="2514600" cy="98755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80">
                <a:solidFill>
                  <a:srgbClr val="1C1C1C"/>
                </a:solidFill>
                <a:latin typeface="Segoe UI"/>
                <a:ea typeface="Segoe UI"/>
                <a:cs typeface="Segoe UI"/>
              </a:rPr>
              <a:t>Multi-site rollout</a:t>
            </a:r>
            <a:endParaRPr sz="1080"/>
          </a:p>
          <a:p xmlns:a="http://schemas.openxmlformats.org/drawingml/2006/main">
            <a:pPr marL="152400" indent="-152400">
              <a:buSzPct val="100000"/>
              <a:buChar char="•"/>
            </a:pPr>
            <a:r>
              <a:rPr sz="1080">
                <a:solidFill>
                  <a:srgbClr val="1C1C1C"/>
                </a:solidFill>
                <a:latin typeface="Segoe UI"/>
                <a:ea typeface="Segoe UI"/>
                <a:cs typeface="Segoe UI"/>
              </a:rPr>
              <a:t>Expanded SOP coverage</a:t>
            </a:r>
            <a:endParaRPr sz="1080"/>
          </a:p>
          <a:p xmlns:a="http://schemas.openxmlformats.org/drawingml/2006/main">
            <a:pPr marL="152400" indent="-152400">
              <a:buSzPct val="100000"/>
              <a:buChar char="•"/>
            </a:pPr>
            <a:r>
              <a:rPr sz="1080">
                <a:solidFill>
                  <a:srgbClr val="1C1C1C"/>
                </a:solidFill>
                <a:latin typeface="Segoe UI"/>
                <a:ea typeface="Segoe UI"/>
                <a:cs typeface="Segoe UI"/>
              </a:rPr>
              <a:t>Audit logs and analytics</a:t>
            </a:r>
            <a:endParaRPr sz="1080"/>
          </a:p>
          <a:p xmlns:a="http://schemas.openxmlformats.org/drawingml/2006/main">
            <a:pPr marL="152400" indent="-152400">
              <a:buSzPct val="100000"/>
              <a:buChar char="•"/>
            </a:pPr>
            <a:r>
              <a:rPr sz="1080">
                <a:solidFill>
                  <a:srgbClr val="1C1C1C"/>
                </a:solidFill>
                <a:latin typeface="Segoe UI"/>
                <a:ea typeface="Segoe UI"/>
                <a:cs typeface="Segoe UI"/>
              </a:rPr>
              <a:t>System integrations</a:t>
            </a:r>
            <a:endParaRPr sz="1080"/>
          </a:p>
        </p:txBody>
      </p:sp>
      <p:sp>
        <p:nvSpPr>
          <p:cNvPr id="20" name="Shape 18">
            <a:extLst xmlns:a="http://schemas.openxmlformats.org/drawingml/2006/main">
              <a:ext uri="{FF2B5EF4-FFF2-40B4-BE49-F238E27FC236}">
                <a16:creationId xmlns:a16="http://schemas.microsoft.com/office/drawing/2014/main" id="{ED3CFE68-6AB1-4671-B418-7312897645AA}"/>
              </a:ext>
            </a:extLst>
          </p:cNvPr>
          <p:cNvSpPr>
            <a:spLocks xmlns:a="http://schemas.openxmlformats.org/drawingml/2006/main" noGrp="1"/>
          </p:cNvSpPr>
          <p:nvPr/>
        </p:nvSpPr>
        <p:spPr>
          <a:xfrm xmlns:a="http://schemas.openxmlformats.org/drawingml/2006/main">
            <a:off x="7635240" y="1911096"/>
            <a:ext cx="3182112" cy="2487168"/>
          </a:xfrm>
          <a:prstGeom xmlns:a="http://schemas.openxmlformats.org/drawingml/2006/main" prst="roundRect">
            <a:avLst>
              <a:gd name="adj" fmla="val 4412"/>
            </a:avLst>
          </a:prstGeom>
          <a:solidFill xmlns:a="http://schemas.openxmlformats.org/drawingml/2006/main">
            <a:srgbClr val="F7F9FB"/>
          </a:solidFill>
          <a:ln xmlns:a="http://schemas.openxmlformats.org/drawingml/2006/main" w="10160">
            <a:solidFill>
              <a:srgbClr val="E1E4EA"/>
            </a:solidFill>
            <a:prstDash val="solid"/>
          </a:ln>
        </p:spPr>
      </p:sp>
      <p:sp>
        <p:nvSpPr>
          <p:cNvPr id="21" name="Shape 19">
            <a:extLst xmlns:a="http://schemas.openxmlformats.org/drawingml/2006/main">
              <a:ext uri="{FF2B5EF4-FFF2-40B4-BE49-F238E27FC236}">
                <a16:creationId xmlns:a16="http://schemas.microsoft.com/office/drawing/2014/main" id="{E5B03B48-51DF-4C8F-ADD7-9CA50AE42035}"/>
              </a:ext>
            </a:extLst>
          </p:cNvPr>
          <p:cNvSpPr>
            <a:spLocks xmlns:a="http://schemas.openxmlformats.org/drawingml/2006/main" noGrp="1"/>
          </p:cNvSpPr>
          <p:nvPr/>
        </p:nvSpPr>
        <p:spPr>
          <a:xfrm xmlns:a="http://schemas.openxmlformats.org/drawingml/2006/main">
            <a:off x="7909560" y="2157984"/>
            <a:ext cx="475488" cy="475488"/>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2" name="Text 20">
            <a:extLst xmlns:a="http://schemas.openxmlformats.org/drawingml/2006/main">
              <a:ext uri="{FF2B5EF4-FFF2-40B4-BE49-F238E27FC236}">
                <a16:creationId xmlns:a16="http://schemas.microsoft.com/office/drawing/2014/main" id="{145514E4-4575-40B1-9DB8-E525DC1929A9}"/>
              </a:ext>
            </a:extLst>
          </p:cNvPr>
          <p:cNvSpPr>
            <a:spLocks xmlns:a="http://schemas.openxmlformats.org/drawingml/2006/main" noGrp="1"/>
          </p:cNvSpPr>
          <p:nvPr/>
        </p:nvSpPr>
        <p:spPr>
          <a:xfrm xmlns:a="http://schemas.openxmlformats.org/drawingml/2006/main">
            <a:off x="7909560" y="2208276"/>
            <a:ext cx="47548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C1C1C"/>
                </a:solidFill>
                <a:latin typeface="Segoe UI"/>
                <a:ea typeface="Segoe UI"/>
                <a:cs typeface="Segoe UI"/>
              </a:rPr>
              <a:t>03</a:t>
            </a:r>
            <a:endParaRPr sz="1400"/>
          </a:p>
        </p:txBody>
      </p:sp>
      <p:sp>
        <p:nvSpPr>
          <p:cNvPr id="23" name="Text 21">
            <a:extLst xmlns:a="http://schemas.openxmlformats.org/drawingml/2006/main">
              <a:ext uri="{FF2B5EF4-FFF2-40B4-BE49-F238E27FC236}">
                <a16:creationId xmlns:a16="http://schemas.microsoft.com/office/drawing/2014/main" id="{F75F58D4-5726-44DE-8D29-E3298193FC1C}"/>
              </a:ext>
            </a:extLst>
          </p:cNvPr>
          <p:cNvSpPr>
            <a:spLocks xmlns:a="http://schemas.openxmlformats.org/drawingml/2006/main" noGrp="1"/>
          </p:cNvSpPr>
          <p:nvPr/>
        </p:nvSpPr>
        <p:spPr>
          <a:xfrm xmlns:a="http://schemas.openxmlformats.org/drawingml/2006/main">
            <a:off x="8531352" y="2231136"/>
            <a:ext cx="15087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59E0B"/>
                </a:solidFill>
                <a:latin typeface="Segoe UI"/>
                <a:ea typeface="Segoe UI"/>
                <a:cs typeface="Segoe UI"/>
              </a:rPr>
              <a:t>EXPAND</a:t>
            </a:r>
            <a:endParaRPr sz="1150"/>
          </a:p>
        </p:txBody>
      </p:sp>
      <p:sp>
        <p:nvSpPr>
          <p:cNvPr id="24" name="Text 22">
            <a:extLst xmlns:a="http://schemas.openxmlformats.org/drawingml/2006/main">
              <a:ext uri="{FF2B5EF4-FFF2-40B4-BE49-F238E27FC236}">
                <a16:creationId xmlns:a16="http://schemas.microsoft.com/office/drawing/2014/main" id="{F0F05C0E-8822-43A5-8319-A3C14C68D1D0}"/>
              </a:ext>
            </a:extLst>
          </p:cNvPr>
          <p:cNvSpPr>
            <a:spLocks xmlns:a="http://schemas.openxmlformats.org/drawingml/2006/main" noGrp="1"/>
          </p:cNvSpPr>
          <p:nvPr/>
        </p:nvSpPr>
        <p:spPr>
          <a:xfrm xmlns:a="http://schemas.openxmlformats.org/drawingml/2006/main">
            <a:off x="7946136" y="2798064"/>
            <a:ext cx="2514600" cy="98755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152400" indent="-152400">
              <a:buSzPct val="100000"/>
              <a:buChar char="•"/>
            </a:pPr>
            <a:r>
              <a:rPr sz="1080">
                <a:solidFill>
                  <a:srgbClr val="1C1C1C"/>
                </a:solidFill>
                <a:latin typeface="Segoe UI"/>
                <a:ea typeface="Segoe UI"/>
                <a:cs typeface="Segoe UI"/>
              </a:rPr>
              <a:t>GCC construction</a:t>
            </a:r>
            <a:endParaRPr sz="1080"/>
          </a:p>
          <a:p xmlns:a="http://schemas.openxmlformats.org/drawingml/2006/main">
            <a:pPr marL="152400" indent="-152400">
              <a:buSzPct val="100000"/>
              <a:buChar char="•"/>
            </a:pPr>
            <a:r>
              <a:rPr sz="1080">
                <a:solidFill>
                  <a:srgbClr val="1C1C1C"/>
                </a:solidFill>
                <a:latin typeface="Segoe UI"/>
                <a:ea typeface="Segoe UI"/>
                <a:cs typeface="Segoe UI"/>
              </a:rPr>
              <a:t>Oil &amp; gas and ports</a:t>
            </a:r>
            <a:endParaRPr sz="1080"/>
          </a:p>
          <a:p xmlns:a="http://schemas.openxmlformats.org/drawingml/2006/main">
            <a:pPr marL="152400" indent="-152400">
              <a:buSzPct val="100000"/>
              <a:buChar char="•"/>
            </a:pPr>
            <a:r>
              <a:rPr sz="1080">
                <a:solidFill>
                  <a:srgbClr val="1C1C1C"/>
                </a:solidFill>
                <a:latin typeface="Segoe UI"/>
                <a:ea typeface="Segoe UI"/>
                <a:cs typeface="Segoe UI"/>
              </a:rPr>
              <a:t>Utilities and logistics</a:t>
            </a:r>
            <a:endParaRPr sz="1080"/>
          </a:p>
          <a:p xmlns:a="http://schemas.openxmlformats.org/drawingml/2006/main">
            <a:pPr marL="152400" indent="-152400">
              <a:buSzPct val="100000"/>
              <a:buChar char="•"/>
            </a:pPr>
            <a:r>
              <a:rPr sz="1080">
                <a:solidFill>
                  <a:srgbClr val="1C1C1C"/>
                </a:solidFill>
                <a:latin typeface="Segoe UI"/>
                <a:ea typeface="Segoe UI"/>
                <a:cs typeface="Segoe UI"/>
              </a:rPr>
              <a:t>Extreme-condition safety copilot</a:t>
            </a:r>
            <a:endParaRPr sz="1080"/>
          </a:p>
        </p:txBody>
      </p:sp>
      <p:sp>
        <p:nvSpPr>
          <p:cNvPr id="25" name="Text 23">
            <a:extLst xmlns:a="http://schemas.openxmlformats.org/drawingml/2006/main">
              <a:ext uri="{FF2B5EF4-FFF2-40B4-BE49-F238E27FC236}">
                <a16:creationId xmlns:a16="http://schemas.microsoft.com/office/drawing/2014/main" id="{3D9C1C13-DDC3-4741-87D6-470AC05B9A1A}"/>
              </a:ext>
            </a:extLst>
          </p:cNvPr>
          <p:cNvSpPr>
            <a:spLocks xmlns:a="http://schemas.openxmlformats.org/drawingml/2006/main" noGrp="1"/>
          </p:cNvSpPr>
          <p:nvPr/>
        </p:nvSpPr>
        <p:spPr>
          <a:xfrm xmlns:a="http://schemas.openxmlformats.org/drawingml/2006/main">
            <a:off x="530352" y="4727448"/>
            <a:ext cx="192024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6B7280"/>
                </a:solidFill>
                <a:latin typeface="Segoe UI"/>
                <a:ea typeface="Segoe UI"/>
                <a:cs typeface="Segoe UI"/>
              </a:rPr>
              <a:t>PILOT SCORECARD</a:t>
            </a:r>
            <a:endParaRPr sz="950"/>
          </a:p>
        </p:txBody>
      </p:sp>
      <p:sp>
        <p:nvSpPr>
          <p:cNvPr id="26" name="Shape 24">
            <a:extLst xmlns:a="http://schemas.openxmlformats.org/drawingml/2006/main">
              <a:ext uri="{FF2B5EF4-FFF2-40B4-BE49-F238E27FC236}">
                <a16:creationId xmlns:a16="http://schemas.microsoft.com/office/drawing/2014/main" id="{1D21A0B4-73F2-4CA6-8904-570F1D8DA515}"/>
              </a:ext>
            </a:extLst>
          </p:cNvPr>
          <p:cNvSpPr>
            <a:spLocks xmlns:a="http://schemas.openxmlformats.org/drawingml/2006/main" noGrp="1"/>
          </p:cNvSpPr>
          <p:nvPr/>
        </p:nvSpPr>
        <p:spPr>
          <a:xfrm xmlns:a="http://schemas.openxmlformats.org/drawingml/2006/main">
            <a:off x="502920" y="5074920"/>
            <a:ext cx="196596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27" name="Text 25">
            <a:extLst xmlns:a="http://schemas.openxmlformats.org/drawingml/2006/main">
              <a:ext uri="{FF2B5EF4-FFF2-40B4-BE49-F238E27FC236}">
                <a16:creationId xmlns:a16="http://schemas.microsoft.com/office/drawing/2014/main" id="{B7C20350-6E60-4B4A-A67B-4639B7560217}"/>
              </a:ext>
            </a:extLst>
          </p:cNvPr>
          <p:cNvSpPr>
            <a:spLocks xmlns:a="http://schemas.openxmlformats.org/drawingml/2006/main" noGrp="1"/>
          </p:cNvSpPr>
          <p:nvPr/>
        </p:nvSpPr>
        <p:spPr>
          <a:xfrm xmlns:a="http://schemas.openxmlformats.org/drawingml/2006/main">
            <a:off x="667512" y="5230368"/>
            <a:ext cx="1645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b="1">
                <a:solidFill>
                  <a:srgbClr val="F59E0B"/>
                </a:solidFill>
                <a:latin typeface="Segoe UI"/>
                <a:ea typeface="Segoe UI"/>
                <a:cs typeface="Segoe UI"/>
              </a:rPr>
              <a:t>Accuracy</a:t>
            </a:r>
            <a:endParaRPr sz="1020"/>
          </a:p>
        </p:txBody>
      </p:sp>
      <p:sp>
        <p:nvSpPr>
          <p:cNvPr id="28" name="Text 26">
            <a:extLst xmlns:a="http://schemas.openxmlformats.org/drawingml/2006/main">
              <a:ext uri="{FF2B5EF4-FFF2-40B4-BE49-F238E27FC236}">
                <a16:creationId xmlns:a16="http://schemas.microsoft.com/office/drawing/2014/main" id="{45E0697A-447F-42BB-8C4B-1EED9D4705CB}"/>
              </a:ext>
            </a:extLst>
          </p:cNvPr>
          <p:cNvSpPr>
            <a:spLocks xmlns:a="http://schemas.openxmlformats.org/drawingml/2006/main" noGrp="1"/>
          </p:cNvSpPr>
          <p:nvPr/>
        </p:nvSpPr>
        <p:spPr>
          <a:xfrm xmlns:a="http://schemas.openxmlformats.org/drawingml/2006/main">
            <a:off x="630936" y="5468112"/>
            <a:ext cx="17190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a:solidFill>
                  <a:srgbClr val="6B7280"/>
                </a:solidFill>
                <a:latin typeface="Segoe UI"/>
                <a:ea typeface="Segoe UI"/>
                <a:cs typeface="Segoe UI"/>
              </a:rPr>
              <a:t>Eval pass rate</a:t>
            </a:r>
            <a:endParaRPr sz="820"/>
          </a:p>
        </p:txBody>
      </p:sp>
      <p:sp>
        <p:nvSpPr>
          <p:cNvPr id="29" name="Shape 27">
            <a:extLst xmlns:a="http://schemas.openxmlformats.org/drawingml/2006/main">
              <a:ext uri="{FF2B5EF4-FFF2-40B4-BE49-F238E27FC236}">
                <a16:creationId xmlns:a16="http://schemas.microsoft.com/office/drawing/2014/main" id="{C55E5753-78AD-4268-B911-CE562BD67D7A}"/>
              </a:ext>
            </a:extLst>
          </p:cNvPr>
          <p:cNvSpPr>
            <a:spLocks xmlns:a="http://schemas.openxmlformats.org/drawingml/2006/main" noGrp="1"/>
          </p:cNvSpPr>
          <p:nvPr/>
        </p:nvSpPr>
        <p:spPr>
          <a:xfrm xmlns:a="http://schemas.openxmlformats.org/drawingml/2006/main">
            <a:off x="2734056" y="5074920"/>
            <a:ext cx="196596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30" name="Text 28">
            <a:extLst xmlns:a="http://schemas.openxmlformats.org/drawingml/2006/main">
              <a:ext uri="{FF2B5EF4-FFF2-40B4-BE49-F238E27FC236}">
                <a16:creationId xmlns:a16="http://schemas.microsoft.com/office/drawing/2014/main" id="{A131304A-829C-439B-AC6E-C1CB33D12EBD}"/>
              </a:ext>
            </a:extLst>
          </p:cNvPr>
          <p:cNvSpPr>
            <a:spLocks xmlns:a="http://schemas.openxmlformats.org/drawingml/2006/main" noGrp="1"/>
          </p:cNvSpPr>
          <p:nvPr/>
        </p:nvSpPr>
        <p:spPr>
          <a:xfrm xmlns:a="http://schemas.openxmlformats.org/drawingml/2006/main">
            <a:off x="2898648" y="5230368"/>
            <a:ext cx="1645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b="1">
                <a:solidFill>
                  <a:srgbClr val="3B82F6"/>
                </a:solidFill>
                <a:latin typeface="Segoe UI"/>
                <a:ea typeface="Segoe UI"/>
                <a:cs typeface="Segoe UI"/>
              </a:rPr>
              <a:t>Speed</a:t>
            </a:r>
            <a:endParaRPr sz="1020"/>
          </a:p>
        </p:txBody>
      </p:sp>
      <p:sp>
        <p:nvSpPr>
          <p:cNvPr id="31" name="Text 29">
            <a:extLst xmlns:a="http://schemas.openxmlformats.org/drawingml/2006/main">
              <a:ext uri="{FF2B5EF4-FFF2-40B4-BE49-F238E27FC236}">
                <a16:creationId xmlns:a16="http://schemas.microsoft.com/office/drawing/2014/main" id="{54DAA7CE-3C59-41B4-A7B5-8C37A76192B1}"/>
              </a:ext>
            </a:extLst>
          </p:cNvPr>
          <p:cNvSpPr>
            <a:spLocks xmlns:a="http://schemas.openxmlformats.org/drawingml/2006/main" noGrp="1"/>
          </p:cNvSpPr>
          <p:nvPr/>
        </p:nvSpPr>
        <p:spPr>
          <a:xfrm xmlns:a="http://schemas.openxmlformats.org/drawingml/2006/main">
            <a:off x="2862072" y="5468112"/>
            <a:ext cx="17190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a:solidFill>
                  <a:srgbClr val="6B7280"/>
                </a:solidFill>
                <a:latin typeface="Segoe UI"/>
                <a:ea typeface="Segoe UI"/>
                <a:cs typeface="Segoe UI"/>
              </a:rPr>
              <a:t>Time to verified answer</a:t>
            </a:r>
            <a:endParaRPr sz="820"/>
          </a:p>
        </p:txBody>
      </p:sp>
      <p:sp>
        <p:nvSpPr>
          <p:cNvPr id="32" name="Shape 30">
            <a:extLst xmlns:a="http://schemas.openxmlformats.org/drawingml/2006/main">
              <a:ext uri="{FF2B5EF4-FFF2-40B4-BE49-F238E27FC236}">
                <a16:creationId xmlns:a16="http://schemas.microsoft.com/office/drawing/2014/main" id="{02C57952-FBEB-4FD9-8C41-4A57F06BC532}"/>
              </a:ext>
            </a:extLst>
          </p:cNvPr>
          <p:cNvSpPr>
            <a:spLocks xmlns:a="http://schemas.openxmlformats.org/drawingml/2006/main" noGrp="1"/>
          </p:cNvSpPr>
          <p:nvPr/>
        </p:nvSpPr>
        <p:spPr>
          <a:xfrm xmlns:a="http://schemas.openxmlformats.org/drawingml/2006/main">
            <a:off x="4965192" y="5074920"/>
            <a:ext cx="196596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33" name="Text 31">
            <a:extLst xmlns:a="http://schemas.openxmlformats.org/drawingml/2006/main">
              <a:ext uri="{FF2B5EF4-FFF2-40B4-BE49-F238E27FC236}">
                <a16:creationId xmlns:a16="http://schemas.microsoft.com/office/drawing/2014/main" id="{4E126A21-2F4B-4E5D-872F-624E35C7480D}"/>
              </a:ext>
            </a:extLst>
          </p:cNvPr>
          <p:cNvSpPr>
            <a:spLocks xmlns:a="http://schemas.openxmlformats.org/drawingml/2006/main" noGrp="1"/>
          </p:cNvSpPr>
          <p:nvPr/>
        </p:nvSpPr>
        <p:spPr>
          <a:xfrm xmlns:a="http://schemas.openxmlformats.org/drawingml/2006/main">
            <a:off x="5129784" y="5230368"/>
            <a:ext cx="1645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b="1">
                <a:solidFill>
                  <a:srgbClr val="F59E0B"/>
                </a:solidFill>
                <a:latin typeface="Segoe UI"/>
                <a:ea typeface="Segoe UI"/>
                <a:cs typeface="Segoe UI"/>
              </a:rPr>
              <a:t>Adoption</a:t>
            </a:r>
            <a:endParaRPr sz="1020"/>
          </a:p>
        </p:txBody>
      </p:sp>
      <p:sp>
        <p:nvSpPr>
          <p:cNvPr id="34" name="Text 32">
            <a:extLst xmlns:a="http://schemas.openxmlformats.org/drawingml/2006/main">
              <a:ext uri="{FF2B5EF4-FFF2-40B4-BE49-F238E27FC236}">
                <a16:creationId xmlns:a16="http://schemas.microsoft.com/office/drawing/2014/main" id="{07BF5F65-C42A-41AA-B46E-372DBA966022}"/>
              </a:ext>
            </a:extLst>
          </p:cNvPr>
          <p:cNvSpPr>
            <a:spLocks xmlns:a="http://schemas.openxmlformats.org/drawingml/2006/main" noGrp="1"/>
          </p:cNvSpPr>
          <p:nvPr/>
        </p:nvSpPr>
        <p:spPr>
          <a:xfrm xmlns:a="http://schemas.openxmlformats.org/drawingml/2006/main">
            <a:off x="5093208" y="5468112"/>
            <a:ext cx="17190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a:solidFill>
                  <a:srgbClr val="6B7280"/>
                </a:solidFill>
                <a:latin typeface="Segoe UI"/>
                <a:ea typeface="Segoe UI"/>
                <a:cs typeface="Segoe UI"/>
              </a:rPr>
              <a:t>Supervisors and workers active</a:t>
            </a:r>
            <a:endParaRPr sz="820"/>
          </a:p>
        </p:txBody>
      </p:sp>
      <p:sp>
        <p:nvSpPr>
          <p:cNvPr id="35" name="Shape 33">
            <a:extLst xmlns:a="http://schemas.openxmlformats.org/drawingml/2006/main">
              <a:ext uri="{FF2B5EF4-FFF2-40B4-BE49-F238E27FC236}">
                <a16:creationId xmlns:a16="http://schemas.microsoft.com/office/drawing/2014/main" id="{29F23FFC-A5FC-452D-A1CF-A4C8C17603A1}"/>
              </a:ext>
            </a:extLst>
          </p:cNvPr>
          <p:cNvSpPr>
            <a:spLocks xmlns:a="http://schemas.openxmlformats.org/drawingml/2006/main" noGrp="1"/>
          </p:cNvSpPr>
          <p:nvPr/>
        </p:nvSpPr>
        <p:spPr>
          <a:xfrm xmlns:a="http://schemas.openxmlformats.org/drawingml/2006/main">
            <a:off x="7196328" y="5074920"/>
            <a:ext cx="196596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36" name="Text 34">
            <a:extLst xmlns:a="http://schemas.openxmlformats.org/drawingml/2006/main">
              <a:ext uri="{FF2B5EF4-FFF2-40B4-BE49-F238E27FC236}">
                <a16:creationId xmlns:a16="http://schemas.microsoft.com/office/drawing/2014/main" id="{08DC35B4-538C-44D9-B43C-4EDA59956D86}"/>
              </a:ext>
            </a:extLst>
          </p:cNvPr>
          <p:cNvSpPr>
            <a:spLocks xmlns:a="http://schemas.openxmlformats.org/drawingml/2006/main" noGrp="1"/>
          </p:cNvSpPr>
          <p:nvPr/>
        </p:nvSpPr>
        <p:spPr>
          <a:xfrm xmlns:a="http://schemas.openxmlformats.org/drawingml/2006/main">
            <a:off x="7360920" y="5230368"/>
            <a:ext cx="1645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b="1">
                <a:solidFill>
                  <a:srgbClr val="3B82F6"/>
                </a:solidFill>
                <a:latin typeface="Segoe UI"/>
                <a:ea typeface="Segoe UI"/>
                <a:cs typeface="Segoe UI"/>
              </a:rPr>
              <a:t>Efficiency</a:t>
            </a:r>
            <a:endParaRPr sz="1020"/>
          </a:p>
        </p:txBody>
      </p:sp>
      <p:sp>
        <p:nvSpPr>
          <p:cNvPr id="37" name="Text 35">
            <a:extLst xmlns:a="http://schemas.openxmlformats.org/drawingml/2006/main">
              <a:ext uri="{FF2B5EF4-FFF2-40B4-BE49-F238E27FC236}">
                <a16:creationId xmlns:a16="http://schemas.microsoft.com/office/drawing/2014/main" id="{740A1905-9F73-4843-BC15-1DF4D7A36E18}"/>
              </a:ext>
            </a:extLst>
          </p:cNvPr>
          <p:cNvSpPr>
            <a:spLocks xmlns:a="http://schemas.openxmlformats.org/drawingml/2006/main" noGrp="1"/>
          </p:cNvSpPr>
          <p:nvPr/>
        </p:nvSpPr>
        <p:spPr>
          <a:xfrm xmlns:a="http://schemas.openxmlformats.org/drawingml/2006/main">
            <a:off x="7324344" y="5468112"/>
            <a:ext cx="17190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a:solidFill>
                  <a:srgbClr val="6B7280"/>
                </a:solidFill>
                <a:latin typeface="Segoe UI"/>
                <a:ea typeface="Segoe UI"/>
                <a:cs typeface="Segoe UI"/>
              </a:rPr>
              <a:t>Minutes saved per query</a:t>
            </a:r>
            <a:endParaRPr sz="820"/>
          </a:p>
        </p:txBody>
      </p:sp>
      <p:sp>
        <p:nvSpPr>
          <p:cNvPr id="38" name="Shape 36">
            <a:extLst xmlns:a="http://schemas.openxmlformats.org/drawingml/2006/main">
              <a:ext uri="{FF2B5EF4-FFF2-40B4-BE49-F238E27FC236}">
                <a16:creationId xmlns:a16="http://schemas.microsoft.com/office/drawing/2014/main" id="{95A26B75-222B-4406-A309-76D68F73F2E0}"/>
              </a:ext>
            </a:extLst>
          </p:cNvPr>
          <p:cNvSpPr>
            <a:spLocks xmlns:a="http://schemas.openxmlformats.org/drawingml/2006/main" noGrp="1"/>
          </p:cNvSpPr>
          <p:nvPr/>
        </p:nvSpPr>
        <p:spPr>
          <a:xfrm xmlns:a="http://schemas.openxmlformats.org/drawingml/2006/main">
            <a:off x="9427464" y="5074920"/>
            <a:ext cx="1965960" cy="658368"/>
          </a:xfrm>
          <a:prstGeom xmlns:a="http://schemas.openxmlformats.org/drawingml/2006/main" prst="roundRect">
            <a:avLst>
              <a:gd name="adj" fmla="val 16667"/>
            </a:avLst>
          </a:prstGeom>
          <a:solidFill xmlns:a="http://schemas.openxmlformats.org/drawingml/2006/main">
            <a:srgbClr val="F4F4F5"/>
          </a:solidFill>
          <a:ln xmlns:a="http://schemas.openxmlformats.org/drawingml/2006/main" w="10160">
            <a:solidFill>
              <a:srgbClr val="E1E4EA"/>
            </a:solidFill>
            <a:prstDash val="solid"/>
          </a:ln>
        </p:spPr>
      </p:sp>
      <p:sp>
        <p:nvSpPr>
          <p:cNvPr id="39" name="Text 37">
            <a:extLst xmlns:a="http://schemas.openxmlformats.org/drawingml/2006/main">
              <a:ext uri="{FF2B5EF4-FFF2-40B4-BE49-F238E27FC236}">
                <a16:creationId xmlns:a16="http://schemas.microsoft.com/office/drawing/2014/main" id="{F701E806-A2F7-4504-8FEC-618737E76932}"/>
              </a:ext>
            </a:extLst>
          </p:cNvPr>
          <p:cNvSpPr>
            <a:spLocks xmlns:a="http://schemas.openxmlformats.org/drawingml/2006/main" noGrp="1"/>
          </p:cNvSpPr>
          <p:nvPr/>
        </p:nvSpPr>
        <p:spPr>
          <a:xfrm xmlns:a="http://schemas.openxmlformats.org/drawingml/2006/main">
            <a:off x="9592056" y="5230368"/>
            <a:ext cx="1645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20" b="1">
                <a:solidFill>
                  <a:srgbClr val="F59E0B"/>
                </a:solidFill>
                <a:latin typeface="Segoe UI"/>
                <a:ea typeface="Segoe UI"/>
                <a:cs typeface="Segoe UI"/>
              </a:rPr>
              <a:t>Safety</a:t>
            </a:r>
            <a:endParaRPr sz="1020"/>
          </a:p>
        </p:txBody>
      </p:sp>
      <p:sp>
        <p:nvSpPr>
          <p:cNvPr id="40" name="Text 38">
            <a:extLst xmlns:a="http://schemas.openxmlformats.org/drawingml/2006/main">
              <a:ext uri="{FF2B5EF4-FFF2-40B4-BE49-F238E27FC236}">
                <a16:creationId xmlns:a16="http://schemas.microsoft.com/office/drawing/2014/main" id="{0B5D63A5-11BA-4D24-87F6-2BBF55B8150A}"/>
              </a:ext>
            </a:extLst>
          </p:cNvPr>
          <p:cNvSpPr>
            <a:spLocks xmlns:a="http://schemas.openxmlformats.org/drawingml/2006/main" noGrp="1"/>
          </p:cNvSpPr>
          <p:nvPr/>
        </p:nvSpPr>
        <p:spPr>
          <a:xfrm xmlns:a="http://schemas.openxmlformats.org/drawingml/2006/main">
            <a:off x="9555480" y="5468112"/>
            <a:ext cx="171907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a:solidFill>
                  <a:srgbClr val="6B7280"/>
                </a:solidFill>
                <a:latin typeface="Segoe UI"/>
                <a:ea typeface="Segoe UI"/>
                <a:cs typeface="Segoe UI"/>
              </a:rPr>
              <a:t>Escalations and policy adherence</a:t>
            </a:r>
            <a:endParaRPr sz="820"/>
          </a:p>
        </p:txBody>
      </p:sp>
      <p:sp>
        <p:nvSpPr>
          <p:cNvPr id="41" name="Shape 39">
            <a:extLst xmlns:a="http://schemas.openxmlformats.org/drawingml/2006/main">
              <a:ext uri="{FF2B5EF4-FFF2-40B4-BE49-F238E27FC236}">
                <a16:creationId xmlns:a16="http://schemas.microsoft.com/office/drawing/2014/main" id="{A336085C-5C8A-419D-BE08-9F42F0861616}"/>
              </a:ext>
            </a:extLst>
          </p:cNvPr>
          <p:cNvSpPr>
            <a:spLocks xmlns:a="http://schemas.openxmlformats.org/drawingml/2006/main" noGrp="1"/>
          </p:cNvSpPr>
          <p:nvPr/>
        </p:nvSpPr>
        <p:spPr>
          <a:xfrm xmlns:a="http://schemas.openxmlformats.org/drawingml/2006/main">
            <a:off x="502920" y="5998464"/>
            <a:ext cx="11173968" cy="384048"/>
          </a:xfrm>
          <a:prstGeom xmlns:a="http://schemas.openxmlformats.org/drawingml/2006/main" prst="roundRect">
            <a:avLst/>
          </a:prstGeom>
          <a:solidFill xmlns:a="http://schemas.openxmlformats.org/drawingml/2006/main">
            <a:srgbClr val="3B82F6"/>
          </a:solidFill>
          <a:ln xmlns:a="http://schemas.openxmlformats.org/drawingml/2006/main" w="12700">
            <a:solidFill>
              <a:srgbClr val="3B82F6"/>
            </a:solidFill>
            <a:prstDash val="solid"/>
          </a:ln>
        </p:spPr>
      </p:sp>
      <p:sp>
        <p:nvSpPr>
          <p:cNvPr id="42" name="Text 40">
            <a:extLst xmlns:a="http://schemas.openxmlformats.org/drawingml/2006/main">
              <a:ext uri="{FF2B5EF4-FFF2-40B4-BE49-F238E27FC236}">
                <a16:creationId xmlns:a16="http://schemas.microsoft.com/office/drawing/2014/main" id="{9E1CEA19-B5AA-4D94-A2B7-972A17962BB3}"/>
              </a:ext>
            </a:extLst>
          </p:cNvPr>
          <p:cNvSpPr>
            <a:spLocks xmlns:a="http://schemas.openxmlformats.org/drawingml/2006/main" noGrp="1"/>
          </p:cNvSpPr>
          <p:nvPr/>
        </p:nvSpPr>
        <p:spPr>
          <a:xfrm xmlns:a="http://schemas.openxmlformats.org/drawingml/2006/main">
            <a:off x="731520" y="6099048"/>
            <a:ext cx="10698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0" b="1">
                <a:solidFill>
                  <a:srgbClr val="1C1C1C"/>
                </a:solidFill>
                <a:latin typeface="Segoe UI"/>
                <a:ea typeface="Segoe UI"/>
                <a:cs typeface="Segoe UI"/>
              </a:rPr>
              <a:t>Weather apps tell you it is 42°C. HeatSafe tells you what 42°C means for this team, this task, this location and this moment.</a:t>
            </a:r>
            <a:endParaRPr sz="1160"/>
          </a:p>
        </p:txBody>
      </p:sp>
      <p:sp>
        <p:nvSpPr>
          <p:cNvPr id="43" name="Text 41">
            <a:extLst xmlns:a="http://schemas.openxmlformats.org/drawingml/2006/main">
              <a:ext uri="{FF2B5EF4-FFF2-40B4-BE49-F238E27FC236}">
                <a16:creationId xmlns:a16="http://schemas.microsoft.com/office/drawing/2014/main" id="{0AD9E4E3-0932-4893-81EC-B375E1A02BF4}"/>
              </a:ext>
            </a:extLst>
          </p:cNvPr>
          <p:cNvSpPr>
            <a:spLocks xmlns:a="http://schemas.openxmlformats.org/drawingml/2006/main" noGrp="1"/>
          </p:cNvSpPr>
          <p:nvPr/>
        </p:nvSpPr>
        <p:spPr>
          <a:xfrm xmlns:a="http://schemas.openxmlformats.org/drawingml/2006/main">
            <a:off x="438912" y="6574536"/>
            <a:ext cx="4297680" cy="12801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80">
                <a:solidFill>
                  <a:srgbClr val="9CA3AF"/>
                </a:solidFill>
                <a:latin typeface="Segoe UI"/>
                <a:ea typeface="Segoe UI"/>
                <a:cs typeface="Segoe UI"/>
              </a:rPr>
              <a:t>HeatSafe Technologies  |  Business model &amp; demo</a:t>
            </a:r>
            <a:endParaRPr sz="780"/>
          </a:p>
        </p:txBody>
      </p:sp>
      <p:sp>
        <p:nvSpPr>
          <p:cNvPr id="44" name="Text 42">
            <a:extLst xmlns:a="http://schemas.openxmlformats.org/drawingml/2006/main">
              <a:ext uri="{FF2B5EF4-FFF2-40B4-BE49-F238E27FC236}">
                <a16:creationId xmlns:a16="http://schemas.microsoft.com/office/drawing/2014/main" id="{2999AC4C-B8AA-4AC5-8CFF-F216D24D2A2B}"/>
              </a:ext>
            </a:extLst>
          </p:cNvPr>
          <p:cNvSpPr>
            <a:spLocks xmlns:a="http://schemas.openxmlformats.org/drawingml/2006/main" noGrp="1"/>
          </p:cNvSpPr>
          <p:nvPr/>
        </p:nvSpPr>
        <p:spPr>
          <a:xfrm xmlns:a="http://schemas.openxmlformats.org/drawingml/2006/main">
            <a:off x="4663440" y="6556248"/>
            <a:ext cx="65379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70">
                <a:solidFill>
                  <a:srgbClr val="9CA3AF"/>
                </a:solidFill>
                <a:latin typeface="Segoe UI"/>
                <a:ea typeface="Segoe UI"/>
                <a:cs typeface="Segoe UI"/>
              </a:rPr>
              <a:t>Next step: secure one pilot partner, one site and one accountable HSE sponsor.</a:t>
            </a:r>
            <a:endParaRPr sz="670"/>
          </a:p>
        </p:txBody>
      </p:sp>
      <p:sp>
        <p:nvSpPr>
          <p:cNvPr id="45" name="Slide Number Placeholder 0">
            <a:extLst xmlns:a="http://schemas.openxmlformats.org/drawingml/2006/main">
              <a:ext uri="{FF2B5EF4-FFF2-40B4-BE49-F238E27FC236}">
                <a16:creationId xmlns:a16="http://schemas.microsoft.com/office/drawing/2014/main" id="{FF23D054-5033-4675-B883-128870EB5987}"/>
              </a:ext>
            </a:extLst>
          </p:cNvPr>
          <p:cNvSpPr>
            <a:spLocks xmlns:a="http://schemas.openxmlformats.org/drawingml/2006/main" noGrp="1"/>
          </p:cNvSpPr>
          <p:nvPr>
            <p:ph type="sldNum" idx="4294967295"/>
          </p:nvPr>
        </p:nvSpPr>
        <p:spPr>
          <a:xfrm xmlns:a="http://schemas.openxmlformats.org/drawingml/2006/main">
            <a:off x="11506032" y="6574536"/>
            <a:ext cx="436032"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CA3AF"/>
                </a:solidFill>
                <a:latin typeface="Segoe UI"/>
                <a:ea typeface="Segoe UI"/>
                <a:cs typeface="Segoe UI"/>
              </a:defRPr>
            </a:lvl1pPr>
          </a:lstStyle>
          <a:p xmlns:a="http://schemas.openxmlformats.org/drawingml/2006/main">
            <a:pPr algn="r">
              <a:buNone/>
            </a:pPr>
            <a:fld id="{F7021451-1387-4CA6-816F-3879F97B5CBC}" type="slidenum">
              <a:rPr b="0"/>
              <a:t>10</a:t>
            </a:fld>
            <a:endParaRP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49d180984c234359"/>
          <a:stretch xmlns:a="http://schemas.openxmlformats.org/drawingml/2006/main"/>
        </p:blipFill>
        <p:spPr>
          <a:xfrm xmlns:a="http://schemas.openxmlformats.org/drawingml/2006/main">
            <a:off x="409575" y="296434"/>
            <a:ext cx="2095500" cy="321532"/>
          </a:xfrm>
          <a:prstGeom xmlns:a="http://schemas.openxmlformats.org/drawingml/2006/main" prst="rect">
            <a:avLst/>
          </a:prstGeom>
        </p:spPr>
      </p:pic>
    </p:spTree>
    <p:extLst>
      <p:ext uri="{BB962C8B-B14F-4D97-AF65-F5344CB8AC3E}">
        <p14:creationId xmlns:p14="http://schemas.microsoft.com/office/powerpoint/2010/main" val="27929192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B7280"/>
      </a:dk2>
      <a:lt2>
        <a:srgbClr val="E1E4EA"/>
      </a:lt2>
      <a:accent1>
        <a:srgbClr val="3B82F6"/>
      </a:accent1>
      <a:accent2>
        <a:srgbClr val="F59E0B"/>
      </a:accent2>
      <a:accent3>
        <a:srgbClr val="9CA3AF"/>
      </a:accent3>
      <a:accent4>
        <a:srgbClr val="F59E0B"/>
      </a:accent4>
      <a:accent5>
        <a:srgbClr val="0EA5E9"/>
      </a:accent5>
      <a:accent6>
        <a:srgbClr val="10B981"/>
      </a:accent6>
      <a:hlink>
        <a:srgbClr val="2570EB"/>
      </a:hlink>
      <a:folHlink>
        <a:srgbClr val="6366F1"/>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Segoe UI"/>
        <a:font script="Hebr" typeface="Segoe U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egoe UI"/>
        <a:font script="Uigh" typeface="Microsoft Uighur"/>
        <a:font script="Geor" typeface="Sylfaen"/>
        <a:font script="Armn" typeface="Segoe UI"/>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2026-08-08T10:46:53.8780000Z</dcterms:created>
  <dcterms:modified xsi:type="dcterms:W3CDTF">2026-08-08T10:46:53.8790000Z</dcterms:modified>
</coreProperties>
</file>